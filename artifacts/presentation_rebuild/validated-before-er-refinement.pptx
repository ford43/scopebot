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3d6c90c634f74" /><Relationship Type="http://schemas.openxmlformats.org/officeDocument/2006/relationships/extended-properties" Target="/docProps/app.xml" Id="R2daf397852cf4e4d" /><Relationship Type="http://schemas.openxmlformats.org/officeDocument/2006/relationships/officeDocument" Target="/ppt/presentation.xml" Id="Rf855c82a73d740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d6099a6f164338"/>
  </p:sldMasterIdLst>
  <p:notesMasterIdLst>
    <p:notesMasterId xmlns:r="http://schemas.openxmlformats.org/officeDocument/2006/relationships" r:id="Rb9c6871195c94847"/>
  </p:notesMasterIdLst>
  <p:sldIdLst>
    <p:sldId xmlns:r="http://schemas.openxmlformats.org/officeDocument/2006/relationships" id="256" r:id="R7501786bd7044f05"/>
    <p:sldId xmlns:r="http://schemas.openxmlformats.org/officeDocument/2006/relationships" id="257" r:id="R347284b349f44b65"/>
    <p:sldId xmlns:r="http://schemas.openxmlformats.org/officeDocument/2006/relationships" id="258" r:id="Raf015069eb2a4361"/>
    <p:sldId xmlns:r="http://schemas.openxmlformats.org/officeDocument/2006/relationships" id="259" r:id="Rbe4fbe313b764a42"/>
    <p:sldId xmlns:r="http://schemas.openxmlformats.org/officeDocument/2006/relationships" id="260" r:id="R08e5753e8ed84268"/>
    <p:sldId xmlns:r="http://schemas.openxmlformats.org/officeDocument/2006/relationships" id="261" r:id="Rc094b58a38194067"/>
    <p:sldId xmlns:r="http://schemas.openxmlformats.org/officeDocument/2006/relationships" id="262" r:id="Rdf232352b46a4b2a"/>
    <p:sldId xmlns:r="http://schemas.openxmlformats.org/officeDocument/2006/relationships" id="263" r:id="R4ea9ef0ddb0345c7"/>
    <p:sldId xmlns:r="http://schemas.openxmlformats.org/officeDocument/2006/relationships" id="264" r:id="Rdad92b9b796044b9"/>
    <p:sldId xmlns:r="http://schemas.openxmlformats.org/officeDocument/2006/relationships" id="265" r:id="R3eeb32a5b7034b68"/>
    <p:sldId xmlns:r="http://schemas.openxmlformats.org/officeDocument/2006/relationships" id="266" r:id="R68e4ef2e056e4be5"/>
    <p:sldId xmlns:r="http://schemas.openxmlformats.org/officeDocument/2006/relationships" id="267" r:id="R551543ce62884b16"/>
    <p:sldId xmlns:r="http://schemas.openxmlformats.org/officeDocument/2006/relationships" id="268" r:id="R054fa820276e4180"/>
    <p:sldId xmlns:r="http://schemas.openxmlformats.org/officeDocument/2006/relationships" id="269" r:id="Radd90ce34168476e"/>
    <p:sldId xmlns:r="http://schemas.openxmlformats.org/officeDocument/2006/relationships" id="270" r:id="R3900f6584637405e"/>
    <p:sldId xmlns:r="http://schemas.openxmlformats.org/officeDocument/2006/relationships" id="271" r:id="R048ee7355c1d47f7"/>
    <p:sldId xmlns:r="http://schemas.openxmlformats.org/officeDocument/2006/relationships" id="272" r:id="R3b9a1365bf454dc7"/>
    <p:sldId xmlns:r="http://schemas.openxmlformats.org/officeDocument/2006/relationships" id="273" r:id="R0b8269bffa7446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bd794a3e924989" /><Relationship Type="http://schemas.openxmlformats.org/officeDocument/2006/relationships/slideMaster" Target="/ppt/slideMasters/slideMaster1.xml" Id="R82d6099a6f164338" /><Relationship Type="http://schemas.openxmlformats.org/officeDocument/2006/relationships/notesMaster" Target="/ppt/notesMasters/notesMaster1.xml" Id="Rb9c6871195c94847" /><Relationship Type="http://schemas.openxmlformats.org/officeDocument/2006/relationships/presProps" Target="/ppt/presProps.xml" Id="R18c5ca74b653442e" /><Relationship Type="http://schemas.openxmlformats.org/officeDocument/2006/relationships/tableStyles" Target="/ppt/tableStyles.xml" Id="Rf9d089fb231d4195" /><Relationship Type="http://schemas.openxmlformats.org/officeDocument/2006/relationships/slide" Target="/ppt/slides/slide1.xml" Id="R7501786bd7044f05" /><Relationship Type="http://schemas.openxmlformats.org/officeDocument/2006/relationships/slide" Target="/ppt/slides/slide2.xml" Id="R347284b349f44b65" /><Relationship Type="http://schemas.openxmlformats.org/officeDocument/2006/relationships/slide" Target="/ppt/slides/slide3.xml" Id="Raf015069eb2a4361" /><Relationship Type="http://schemas.openxmlformats.org/officeDocument/2006/relationships/slide" Target="/ppt/slides/slide4.xml" Id="Rbe4fbe313b764a42" /><Relationship Type="http://schemas.openxmlformats.org/officeDocument/2006/relationships/slide" Target="/ppt/slides/slide5.xml" Id="R08e5753e8ed84268" /><Relationship Type="http://schemas.openxmlformats.org/officeDocument/2006/relationships/slide" Target="/ppt/slides/slide6.xml" Id="Rc094b58a38194067" /><Relationship Type="http://schemas.openxmlformats.org/officeDocument/2006/relationships/slide" Target="/ppt/slides/slide7.xml" Id="Rdf232352b46a4b2a" /><Relationship Type="http://schemas.openxmlformats.org/officeDocument/2006/relationships/slide" Target="/ppt/slides/slide8.xml" Id="R4ea9ef0ddb0345c7" /><Relationship Type="http://schemas.openxmlformats.org/officeDocument/2006/relationships/slide" Target="/ppt/slides/slide9.xml" Id="Rdad92b9b796044b9" /><Relationship Type="http://schemas.openxmlformats.org/officeDocument/2006/relationships/slide" Target="/ppt/slides/slide10.xml" Id="R3eeb32a5b7034b68" /><Relationship Type="http://schemas.openxmlformats.org/officeDocument/2006/relationships/slide" Target="/ppt/slides/slide11.xml" Id="R68e4ef2e056e4be5" /><Relationship Type="http://schemas.openxmlformats.org/officeDocument/2006/relationships/slide" Target="/ppt/slides/slide12.xml" Id="R551543ce62884b16" /><Relationship Type="http://schemas.openxmlformats.org/officeDocument/2006/relationships/slide" Target="/ppt/slides/slide13.xml" Id="R054fa820276e4180" /><Relationship Type="http://schemas.openxmlformats.org/officeDocument/2006/relationships/slide" Target="/ppt/slides/slide14.xml" Id="Radd90ce34168476e" /><Relationship Type="http://schemas.openxmlformats.org/officeDocument/2006/relationships/slide" Target="/ppt/slides/slide15.xml" Id="R3900f6584637405e" /><Relationship Type="http://schemas.openxmlformats.org/officeDocument/2006/relationships/slide" Target="/ppt/slides/slide16.xml" Id="R048ee7355c1d47f7" /><Relationship Type="http://schemas.openxmlformats.org/officeDocument/2006/relationships/slide" Target="/ppt/slides/slide17.xml" Id="R3b9a1365bf454dc7" /><Relationship Type="http://schemas.openxmlformats.org/officeDocument/2006/relationships/slide" Target="/ppt/slides/slide18.xml" Id="R0b8269bffa74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04ca596c2440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7ef6f8a70a454b" /><Relationship Type="http://schemas.openxmlformats.org/officeDocument/2006/relationships/notesMaster" Target="/ppt/notesMasters/notesMaster1.xml" Id="R8d4cde6f53a54f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ae6048c9334370" /><Relationship Type="http://schemas.openxmlformats.org/officeDocument/2006/relationships/notesMaster" Target="/ppt/notesMasters/notesMaster1.xml" Id="Rca95f36380024c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f582c4b8f54bdb" /><Relationship Type="http://schemas.openxmlformats.org/officeDocument/2006/relationships/notesMaster" Target="/ppt/notesMasters/notesMaster1.xml" Id="R8e4feb394be549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1a57e947474c7a" /><Relationship Type="http://schemas.openxmlformats.org/officeDocument/2006/relationships/notesMaster" Target="/ppt/notesMasters/notesMaster1.xml" Id="Rbf1b78ef5fb441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ded697476a4a85" /><Relationship Type="http://schemas.openxmlformats.org/officeDocument/2006/relationships/notesMaster" Target="/ppt/notesMasters/notesMaster1.xml" Id="Rdf5a3324082846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87bdcc1e214930" /><Relationship Type="http://schemas.openxmlformats.org/officeDocument/2006/relationships/notesMaster" Target="/ppt/notesMasters/notesMaster1.xml" Id="R4ef2d5f67f0847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ee45f303ee45e6" /><Relationship Type="http://schemas.openxmlformats.org/officeDocument/2006/relationships/notesMaster" Target="/ppt/notesMasters/notesMaster1.xml" Id="R0d2efed4093e47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6b62336e664c34" /><Relationship Type="http://schemas.openxmlformats.org/officeDocument/2006/relationships/notesMaster" Target="/ppt/notesMasters/notesMaster1.xml" Id="R409e5073167841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78db3e2c374e30" /><Relationship Type="http://schemas.openxmlformats.org/officeDocument/2006/relationships/notesMaster" Target="/ppt/notesMasters/notesMaster1.xml" Id="Rf6d5a2ded97540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224f7d2add4b70" /><Relationship Type="http://schemas.openxmlformats.org/officeDocument/2006/relationships/notesMaster" Target="/ppt/notesMasters/notesMaster1.xml" Id="R36f86fa73a334b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4be620b5054bde" /><Relationship Type="http://schemas.openxmlformats.org/officeDocument/2006/relationships/notesMaster" Target="/ppt/notesMasters/notesMaster1.xml" Id="R80a73f6e994e47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259ea2a9e84157" /><Relationship Type="http://schemas.openxmlformats.org/officeDocument/2006/relationships/notesMaster" Target="/ppt/notesMasters/notesMaster1.xml" Id="R0157aed140364b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1dec7ef9ca469a" /><Relationship Type="http://schemas.openxmlformats.org/officeDocument/2006/relationships/notesMaster" Target="/ppt/notesMasters/notesMaster1.xml" Id="Ra24352a7ad964a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8024a6a8f04869" /><Relationship Type="http://schemas.openxmlformats.org/officeDocument/2006/relationships/notesMaster" Target="/ppt/notesMasters/notesMaster1.xml" Id="R7957907d6bb545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71fe62472143db" /><Relationship Type="http://schemas.openxmlformats.org/officeDocument/2006/relationships/notesMaster" Target="/ppt/notesMasters/notesMaster1.xml" Id="R3419c5bbbb0340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358257969a4b87" /><Relationship Type="http://schemas.openxmlformats.org/officeDocument/2006/relationships/notesMaster" Target="/ppt/notesMasters/notesMaster1.xml" Id="Rf4d5e948addc41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01875bb1504c3d" /><Relationship Type="http://schemas.openxmlformats.org/officeDocument/2006/relationships/notesMaster" Target="/ppt/notesMasters/notesMaster1.xml" Id="Rb54dd62577eb49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f8353738224aaf" /><Relationship Type="http://schemas.openxmlformats.org/officeDocument/2006/relationships/notesMaster" Target="/ppt/notesMasters/notesMaster1.xml" Id="R0f372039d9b945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30 วินาที</a:t>
            </a:r>
          </a:p>
          <a:p xmlns:a="http://schemas.openxmlformats.org/drawingml/2006/main">
            <a:r>
              <a:t>เปิดด้วยชื่อเล่นของผู้พูด แล้วกล่าวว่า วันนี้จะพาดูว่า ScopeBot รับเอกสารและนำมาตอบคำถามได้อย่างไร ตั้งแต่หน้าจอไปจนถึง AI และฐานข้อมูล จากนั้นจะสาธิตระบบจริง</a:t>
            </a:r>
          </a:p>
          <a:p xmlns:a="http://schemas.openxmlformats.org/drawingml/2006/main">
            <a:r>
              <a:t>ส่งต่อ: เริ่มจากทีมและลำดับการนำเสนอของเรา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ScopeBot.pdf.pdf หน้า 1 และ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40 วินาที</a:t>
            </a:r>
          </a:p>
          <a:p xmlns:a="http://schemas.openxmlformats.org/drawingml/2006/main">
            <a:r>
              <a:t>แนะนำชื่อเล่นจากซ้ายไปขวา ก้อง ป๊อกกี้ ฟลุ๊ค ฟอร์ด และมอส ก่อนขึ้นแต่ละช่วงให้ผู้พูดบอกชื่อเล่นอีกครั้ง</a:t>
            </a:r>
          </a:p>
          <a:p xmlns:a="http://schemas.openxmlformats.org/drawingml/2006/main">
            <a:r>
              <a:t>การแบ่งช่วงที่เสนอสำหรับซ้อม: ก้อง ภาพรวมและ Timeline; ป๊อกกี้ Frontend; ฟลุ๊ค Backend และ Database; ฟอร์ด AI/RAG และการส่งต่อ; มอส Deployment และ Demo ทีมปรับสลับกันได้โดยไม่เปลี่ยนเนื้อหา</a:t>
            </a:r>
          </a:p>
          <a:p xmlns:a="http://schemas.openxmlformats.org/drawingml/2006/main">
            <a:r>
              <a:t>ส่งต่อ: ลำดับเนื้อหาจะเริ่มจากผู้ใช้งาน แล้วค่อยเปิดดูภายในระบบ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ScopeBot.pdf.pdf หน้า 14–18 ชื่อและรูปสมาชิก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30 วินาที</a:t>
            </a:r>
          </a:p>
          <a:p xmlns:a="http://schemas.openxmlformats.org/drawingml/2006/main">
            <a:r>
              <a:t>ชี้ตามเลข 1 ถึง 5 ไม่ต้องอ่านชื่อเทคโนโลยีทั้งหมดในตอนนี้ เราจะเริ่มจากภาพใหญ่ ดูส่วนที่คนใช้งาน ดูส่วนที่ประมวลผล อธิบาย AI แล้วจบด้วย Timeline และ Demo</a:t>
            </a:r>
          </a:p>
          <a:p xmlns:a="http://schemas.openxmlformats.org/drawingml/2006/main">
            <a:r>
              <a:t>ส่งต่อ: ภาพรวมระบบมีเส้นทางหลักดังนี้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หัวข้อการรายงานจากภาพโจทย์และ ScopeBot.pdf.pdf หน้า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 1 ช่องทาง Web หรือ LINE เป็นจุดรับคำถาม</a:t>
            </a:r>
          </a:p>
          <a:p xmlns:a="http://schemas.openxmlformats.org/drawingml/2006/main">
            <a:r>
              <a:t>ชี้ 2 FastAPI ตรวจสิทธิ์และควบคุมการทำงาน</a:t>
            </a:r>
          </a:p>
          <a:p xmlns:a="http://schemas.openxmlformats.org/drawingml/2006/main">
            <a:r>
              <a:t>ชี้ 3 PostgreSQL เก็บบัญชี บอท และประวัติ</a:t>
            </a:r>
          </a:p>
          <a:p xmlns:a="http://schemas.openxmlformats.org/drawingml/2006/main">
            <a:r>
              <a:t>ชี้ 4 RAG ค้นเอกสารจาก ChromaDB ก่อนเรียก Ollama สร้างคำตอบ จากนั้น FastAPI ส่งกลับช่องทางเดิม</a:t>
            </a:r>
          </a:p>
          <a:p xmlns:a="http://schemas.openxmlformats.org/drawingml/2006/main">
            <a:r>
              <a:t>ยังไม่อธิบาย Cloudflare หรือ embeddings ในหน้านี้</a:t>
            </a:r>
          </a:p>
          <a:p xmlns:a="http://schemas.openxmlformats.org/drawingml/2006/main">
            <a:r>
              <a:t>ส่งต่อ: เริ่มจากส่วนที่ผู้ใช้งานมองเห็น คือ 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api/main.py; api/routers/chat.py; api/routers/line_webhook.py;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ชี้จากซ้ายไปขวา 1 Login ให้ได้ตัวตนผู้ใช้ 2 เข้าหน้าหลัก ChatInterface ที่รวม Sidebar และ Top Bar 3 เลือกบอทเพื่อทดลองถามหรือใช้เมนูจัดการ</a:t>
            </a:r>
          </a:p>
          <a:p xmlns:a="http://schemas.openxmlformats.org/drawingml/2006/main">
            <a:r>
              <a:t>AuthContext เก็บสถานะผู้ใช้ ส่วน useChatSession จัดการข้อความและการสนทนา แล้วส่งคำขอพร้อม token ไป API</a:t>
            </a:r>
          </a:p>
          <a:p xmlns:a="http://schemas.openxmlformats.org/drawingml/2006/main">
            <a:r>
              <a:t>เอกสารรองรับ PDF DOCX TXT CSV ไม่เกิน 10 MB</a:t>
            </a:r>
          </a:p>
          <a:p xmlns:a="http://schemas.openxmlformats.org/drawingml/2006/main">
            <a:r>
              <a:t>ส่งต่อ: เมนูที่เห็นขึ้นอยู่กับบทบาทในระบบ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src/app/routes.tsx; src/app/App.tsx; src/app/components/chat/ChatInterface.tsx; api/routers/documents.py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อ่านทีละแถว Admin จัดการผู้ใช้ ภาพรวม และ Log ส่วนงานบอทยังตรวจเจ้าของ</a:t>
            </a:r>
          </a:p>
          <a:p xmlns:a="http://schemas.openxmlformats.org/drawingml/2006/main">
            <a:r>
              <a:t>Support ในระบบนี้หมายถึงคนดูแลบัญชี เข้าหน้าจัดการผู้ใช้งาน ไม่ใช่ role สำหรับตอบแชท</a:t>
            </a:r>
          </a:p>
          <a:p xmlns:a="http://schemas.openxmlformats.org/drawingml/2006/main">
            <a:r>
              <a:t>User เป็นเจ้าของบอท ใช้เมนูสินค้าและแชทรวมของตัวเอง</a:t>
            </a:r>
          </a:p>
          <a:p xmlns:a="http://schemas.openxmlformats.org/drawingml/2006/main">
            <a:r>
              <a:t>ดังนั้น Demo ต้องให้เจ้าของบอทหรือ Admin เจ้าของบอทตอบแชท ไม่ใช้บัญชี Support</a:t>
            </a:r>
          </a:p>
          <a:p xmlns:a="http://schemas.openxmlformats.org/drawingml/2006/main">
            <a:r>
              <a:t>ส่งต่อ: Backend บังคับสิทธิ์นี้ซ้ำทุกคำขอที่เกี่ยวข้อง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src/app/constants/chat.ts; api/auth.py require_shop_operator, assert_bot_access, visible_bots_query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ชี้เลข 1 Backend รับคำขอจาก Web หรือ webhook ของ LINE</a:t>
            </a:r>
          </a:p>
          <a:p xmlns:a="http://schemas.openxmlformats.org/drawingml/2006/main">
            <a:r>
              <a:t>เลข 2 คำขอ Web ตรวจ JWT บัญชีและสิทธิ์ ส่วน LINE ตรวจ signature</a:t>
            </a:r>
          </a:p>
          <a:p xmlns:a="http://schemas.openxmlformats.org/drawingml/2006/main">
            <a:r>
              <a:t>เลข 3 Router เรียกงาน เช่น จัดการบอท เอกสาร หรือแชท</a:t>
            </a:r>
          </a:p>
          <a:p xmlns:a="http://schemas.openxmlformats.org/drawingml/2006/main">
            <a:r>
              <a:t>เลข 4 อ่านเขียนข้อมูล เรียก RAG แล้วส่งผลกลับ</a:t>
            </a:r>
          </a:p>
          <a:p xmlns:a="http://schemas.openxmlformats.org/drawingml/2006/main">
            <a:r>
              <a:t>ไม่ต้องอ่านทุก endpoint ในช่วงนี้ รายชื่ออยู่ภาคผนวก</a:t>
            </a:r>
          </a:p>
          <a:p xmlns:a="http://schemas.openxmlformats.org/drawingml/2006/main">
            <a:r>
              <a:t>ส่งต่อ: ระบบเก็บข้อมูลสามชนิดในคนละส่วน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api/main.py; api/auth.py; api/routers/*.py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อธิบายจากซ้ายไปขวา PostgreSQL เก็บผู้ใช้ บอท metadata เอกสารและประวัติ ผ่าน SQLAlchemy</a:t>
            </a:r>
          </a:p>
          <a:p xmlns:a="http://schemas.openxmlformats.org/drawingml/2006/main">
            <a:r>
              <a:t>ChromaDB เก็บข้อความย่อยกับ embeddings โดยแยก directory ตาม bot_id ไม่ใช่ PostgreSQL คนละฐานต่อบอท</a:t>
            </a:r>
          </a:p>
          <a:p xmlns:a="http://schemas.openxmlformats.org/drawingml/2006/main">
            <a:r>
              <a:t>Document Storage เก็บไฟล์ต้นฉบับและไฟล์สำหรับนำเข้า</a:t>
            </a:r>
          </a:p>
          <a:p xmlns:a="http://schemas.openxmlformats.org/drawingml/2006/main">
            <a:r>
              <a:t>ส่งต่อ: ดูเฉพาะความสัมพันธ์ฐานข้อมูลที่เกี่ยวกับบอทก่อน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api/database.py; api/models.py; rag/ingest.py;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70 วินาที</a:t>
            </a:r>
          </a:p>
          <a:p xmlns:a="http://schemas.openxmlformats.org/drawingml/2006/main">
            <a:r>
              <a:t>ชี้ users เป็นเจ้าของ bots และ documents ได้หลายรายการ</a:t>
            </a:r>
          </a:p>
          <a:p xmlns:a="http://schemas.openxmlformats.org/drawingml/2006/main">
            <a:r>
              <a:t>บอทกับเอกสารเชื่อมผ่าน bot_documents จึงให้เอกสารเดียวใช้กับหลายบอทได้</a:t>
            </a:r>
          </a:p>
          <a:p xmlns:a="http://schemas.openxmlformats.org/drawingml/2006/main">
            <a:r>
              <a:t>บอทหนึ่งมี conversations หลายรายการ และ live_sessions หลายครั้ง แต่ละ live_session มี live_messages หลายข้อความ</a:t>
            </a:r>
          </a:p>
          <a:p xmlns:a="http://schemas.openxmlformats.org/drawingml/2006/main">
            <a:r>
              <a:t>นี่เป็น ER ย่อ ตาราง notifications password_reset_tokens audit_logs อยู่ในฐานเดียวกันแต่ไม่ใส่ในภาพหลักเพื่อให้อ่านง่าย</a:t>
            </a:r>
          </a:p>
          <a:p xmlns:a="http://schemas.openxmlformats.org/drawingml/2006/main">
            <a:r>
              <a:t>ส่งต่อ: เมื่อบอทมีเอกสารแล้ว ระบบจะสร้างฐานความรู้ให้บอท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 1 ถึง 4 ผู้ใช้ส่งเอกสาร ระบบอ่านและแบ่งข้อความ BGE-M3 แปลงข้อความย่อยเป็น embeddings แล้ว ChromaDB เก็บไว้แยกตามบอท</a:t>
            </a:r>
          </a:p>
          <a:p xmlns:a="http://schemas.openxmlformats.org/drawingml/2006/main">
            <a:r>
              <a:t>ขั้นนี้เป็นการเตรียมดัชนีความรู้ ไม่ใช่ฝึกโมเดลภาษาใหม่ และยังไม่ใช่ขั้นตอบคำถาม</a:t>
            </a:r>
          </a:p>
          <a:p xmlns:a="http://schemas.openxmlformats.org/drawingml/2006/main">
            <a:r>
              <a:t>ส่งต่อ: เมื่อผู้ใช้ถาม ระบบใช้ดัชนีนี้อย่างไร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rag/ingest.py; rag/document_loader.py; rag/chunker.py; api/routers/documents.py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75 วินาที</a:t>
            </a:r>
          </a:p>
          <a:p xmlns:a="http://schemas.openxmlformats.org/drawingml/2006/main">
            <a:r>
              <a:t>ชี้ 1 คำถามใหม่และบริบทคำถามล่าสุดช่วยให้เข้าใจคำถามต่อเนื่อง</a:t>
            </a:r>
          </a:p>
          <a:p xmlns:a="http://schemas.openxmlformats.org/drawingml/2006/main">
            <a:r>
              <a:t>ชี้ 2 ตัว embedding แปลงคำค้นเพื่อหา chunks ที่ใกล้เคียงใน ChromaDB และกรองตาม distance</a:t>
            </a:r>
          </a:p>
          <a:p xmlns:a="http://schemas.openxmlformats.org/drawingml/2006/main">
            <a:r>
              <a:t>ชี้ 3 เอาข้อความที่ค้นได้เป็น context ส่งให้ Ollama พร้อมคำสั่งและประวัติ</a:t>
            </a:r>
          </a:p>
          <a:p xmlns:a="http://schemas.openxmlformats.org/drawingml/2006/main">
            <a:r>
              <a:t>ชี้ 4 คืนคำตอบพร้อมชื่อไฟล์และ snippet ให้ Web ส่วน LINE ส่งเป็นข้อความตาม router</a:t>
            </a:r>
          </a:p>
          <a:p xmlns:a="http://schemas.openxmlformats.org/drawingml/2006/main">
            <a:r>
              <a:t>ChromaDB เชื่อมที่การค้นหา ไม่ได้เป็นเส้นลัดเข้าโมเดล</a:t>
            </a:r>
          </a:p>
          <a:p xmlns:a="http://schemas.openxmlformats.org/drawingml/2006/main">
            <a:r>
              <a:t>ส่งต่อ: ดูคำถามเดียวกันในลำดับเวลาตั้งแต่ส่งจนตอบ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rag/rag_pipeline.py; rag/retriever.py; src/app/hooks/useChatSession.ts; api/routers/line_webhook.py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ชี้หัวคอลัมน์ Web FastAPI และ RAG ก่อน แล้วอ่านจากบนลงล่าง</a:t>
            </a:r>
          </a:p>
          <a:p xmlns:a="http://schemas.openxmlformats.org/drawingml/2006/main">
            <a:r>
              <a:t>1 Web ส่งคำถามและ session 2 FastAPI เรียก RAG หลังตรวจสิทธิ์ 3 RAG คืนคำตอบจากเอกสาร 4 Backend บันทึก conversation 5 ส่งคำตอบกลับ Web</a:t>
            </a:r>
          </a:p>
          <a:p xmlns:a="http://schemas.openxmlformats.org/drawingml/2006/main">
            <a:r>
              <a:t>หน้านี้เป็น sequence แบบย่อ รายละเอียดค้นหาและ LLM อยู่หน้าก่อน</a:t>
            </a:r>
          </a:p>
          <a:p xmlns:a="http://schemas.openxmlformats.org/drawingml/2006/main">
            <a:r>
              <a:t>ส่งต่อ: อีกเส้นทางหนึ่งเกิดเมื่อบอทตอบไม่ได้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api/routers/chat.py;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อ่านตามเลข 1 ถึง 4 bot ตอบจากเอกสาร เมื่อเข้า handoff จะรอใน waiting พอคนตอบครั้งแรกจึงเปลี่ยนเป็น human หลังจบงานกลับ bot และปิด active session</a:t>
            </a:r>
          </a:p>
          <a:p xmlns:a="http://schemas.openxmlformats.org/drawingml/2006/main">
            <a:r>
              <a:t>Web ที่ไม่พบคำตอบแสดงปุ่มให้เลือกติดต่อเจ้าหน้าที่ ส่วน LINE สามารถเข้าสู่คิวอัตโนมัติ</a:t>
            </a:r>
          </a:p>
          <a:p xmlns:a="http://schemas.openxmlformats.org/drawingml/2006/main">
            <a:r>
              <a:t>คนตอบคือเจ้าของบอทหรือ Admin ที่เป็นเจ้าของ ไม่ใช่ role Support ของแพลตฟอร์ม</a:t>
            </a:r>
          </a:p>
          <a:p xmlns:a="http://schemas.openxmlformats.org/drawingml/2006/main">
            <a:r>
              <a:t>ส่งต่อ: ทั้งสองช่องทางเชื่อมผ่าน deployment เดียวกัน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api/routers/chat.py; api/routers/live_chat.py; api/routers/line_webhook.py; api/auth.py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อ่านซ้ายไปขวา Browser และ LINE ส่ง HTTPS เข้า Tunnel จากนั้นไป Nginx</a:t>
            </a:r>
          </a:p>
          <a:p xmlns:a="http://schemas.openxmlformats.org/drawingml/2006/main">
            <a:r>
              <a:t>Nginx ให้ไฟล์ React กับ browser ส่วนเส้นทาง /api/ ส่งไป FastAPI รวม webhook</a:t>
            </a:r>
          </a:p>
          <a:p xmlns:a="http://schemas.openxmlformats.org/drawingml/2006/main">
            <a:r>
              <a:t>FastAPI ติดต่อ PostgreSQL และ volume เอกสารกับ ChromaDB ภายใน deployment ส่วน Ollama รันบน host ตาม compose</a:t>
            </a:r>
          </a:p>
          <a:p xmlns:a="http://schemas.openxmlformats.org/drawingml/2006/main">
            <a:r>
              <a:t>ส่งต่อ: ต่อไปคือแผนดำเนินงานและส่วนที่ใช้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docker-compose.yml; docker-compose.tunnel.yml; deploy/nginx.conf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เล่าจากบนลงล่าง มีนาคมออกแบบ เมษายนถึงพฤษภาคมพัฒนาแกนหลัก มิถุนายนถึงสิงหาคมปรับ RAG และ handoff กันยายนเตรียม demo และทดสอบ ตุลาคมเตรียมส่งมอบ</a:t>
            </a:r>
          </a:p>
          <a:p xmlns:a="http://schemas.openxmlformats.org/drawingml/2006/main">
            <a:r>
              <a:t>สถานะในสองช่วงท้ายแสดงเป็นแผนตามไฟล์ต้นฉบับ ไม่กล่าวว่า UAT ผ่านแล้วหากยังไม่มีผลทดสอบ</a:t>
            </a:r>
          </a:p>
          <a:p xmlns:a="http://schemas.openxmlformats.org/drawingml/2006/main">
            <a:r>
              <a:t>ส่งต่อ: สำหรับการสาธิตรอบนี้จะเดินตามเส้นทางที่เตรียมไว้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ScopeBot.pdf.pdf หน้า 12 แผนงานเดิม; git log ยืนยันงานที่ปรากฏใน repository ถึง 4 ก.ย.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 นาที</a:t>
            </a:r>
          </a:p>
          <a:p xmlns:a="http://schemas.openxmlformats.org/drawingml/2006/main">
            <a:r>
              <a:t>ก่อนเริ่ม เปิดบัญชีเจ้าของบอทที่ได้รับอนุมัติและบอท active เตรียมเอกสารสาธิตที่ไม่มีข้อมูลส่วนบุคคล เปิด LINE OA อีกหน้าจอ</a:t>
            </a:r>
          </a:p>
          <a:p xmlns:a="http://schemas.openxmlformats.org/drawingml/2006/main">
            <a:r>
              <a:t>1 แสดงบอทและเอกสารที่ใช้ 2 ถามเรื่องที่มีคำตอบในเอกสาร 3 เปิดชื่อไฟล์และ snippet บน Web 4 จาก LINE ขอคุยเจ้าหน้าที่ แล้วใช้บัญชีเจ้าของบอทเปิดแชทรวม ตอบและจบ session</a:t>
            </a:r>
          </a:p>
          <a:p xmlns:a="http://schemas.openxmlformats.org/drawingml/2006/main">
            <a:r>
              <a:t>ถ้า LINE ยังไม่พร้อมใช้ Web handoff กับบัญชีเจ้าของเดิมคนละหน้าต่างได้ ถ้าระบบช้าให้พูดอธิบายจาก flow ที่เตรียมไว้ ไม่กล่าวว่าทำงานสำเร็จจนเห็นผลจริง</a:t>
            </a:r>
          </a:p>
          <a:p xmlns:a="http://schemas.openxmlformats.org/drawingml/2006/main">
            <a:r>
              <a:t>ส่งต่อ: สรุปสิ่งที่ได้เห็นจาก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src/app/components/chat/BotsPage.tsx; src/app/components/admin/UnifiedChat.tsx; api/routers/live_chat.py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40 วินาที</a:t>
            </a:r>
          </a:p>
          <a:p xmlns:a="http://schemas.openxmlformats.org/drawingml/2006/main">
            <a:r>
              <a:t>สรุปทีละบรรทัด Frontend เป็นจุดใช้งาน FastAPI ควบคุมงานและสิทธิ์ RAG ค้นเอกสารก่อนเรียกโมเดล ส่วนคนรับช่วงเมื่อระบบไม่มีคำตอบ</a:t>
            </a:r>
          </a:p>
          <a:p xmlns:a="http://schemas.openxmlformats.org/drawingml/2006/main">
            <a:r>
              <a:t>ปิดด้วย ขอบคุณครับหรือค่ะ ยินดีตอบคำถามเรื่องโครงสร้าง การเก็บข้อมูล หรือการทำงานที่สาธิตไป</a:t>
            </a:r>
          </a:p>
          <a:p xmlns:a="http://schemas.openxmlformats.org/drawingml/2006/main">
            <a:r>
              <a:t>ภาคผนวกถัดไปเปิดเมื่อมีคำถามเรื่อง API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README.md; api/main.py;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ไม่จำเป็นต้องอ่านหน้านี้ในช่วงหลัก</a:t>
            </a:r>
          </a:p>
          <a:p xmlns:a="http://schemas.openxmlformats.org/drawingml/2006/main">
            <a:r>
              <a:t>อธิบายเฉพาะกลุ่มที่ผู้ฟังถาม เช่น /api/auth สำหรับบัญชี /api/bots และ /api/documents สำหรับความรู้ /api/chat สำหรับคำถามและประวัติ /api/live สำหรับรับช่วงแชท</a:t>
            </a:r>
          </a:p>
          <a:p xmlns:a="http://schemas.openxmlformats.org/drawingml/2006/main">
            <a:r>
              <a:t>LINE webhook จริงมี bot_id ต่อท้าย และตรวจ signature ส่วน /api/health เป็นจุดตรวจสถานะ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api/main.py; api/routers/*.py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25833cb644f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43e6e412114608" /><Relationship Type="http://schemas.openxmlformats.org/officeDocument/2006/relationships/slideLayout" Target="/ppt/slideLayouts/slideLayout1.xml" Id="Rbaaa22987c7146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a22987c7146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5b21f677f4ef5" /><Relationship Type="http://schemas.openxmlformats.org/officeDocument/2006/relationships/image" Target="/ppt/media/image.png" Id="R72f1c7c0d5f64e8d" /><Relationship Type="http://schemas.openxmlformats.org/officeDocument/2006/relationships/notesSlide" Target="/ppt/notesSlides/notesSlide1.xml" Id="R0a9e2379c14d48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b77c5579f4675" /><Relationship Type="http://schemas.openxmlformats.org/officeDocument/2006/relationships/image" Target="/ppt/media/image.jpeg" Id="R38b9eace83ae4a16" /><Relationship Type="http://schemas.openxmlformats.org/officeDocument/2006/relationships/image" Target="/ppt/media/image2.jpeg" Id="Rb7e1f78ad04d4afa" /><Relationship Type="http://schemas.openxmlformats.org/officeDocument/2006/relationships/image" Target="/ppt/media/image3.jpeg" Id="R6f65b9eac9d947c8" /><Relationship Type="http://schemas.openxmlformats.org/officeDocument/2006/relationships/image" Target="/ppt/media/image4.jpeg" Id="R314ef359ec0b4846" /><Relationship Type="http://schemas.openxmlformats.org/officeDocument/2006/relationships/image" Target="/ppt/media/image5.jpeg" Id="R793d3a55dac749a3" /><Relationship Type="http://schemas.openxmlformats.org/officeDocument/2006/relationships/notesSlide" Target="/ppt/notesSlides/notesSlide2.xml" Id="Ra1ddada5a96e49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1d6b1d3fd40f9" /><Relationship Type="http://schemas.openxmlformats.org/officeDocument/2006/relationships/notesSlide" Target="/ppt/notesSlides/notesSlide3.xml" Id="Ra58be097790241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53eb468524688" /><Relationship Type="http://schemas.openxmlformats.org/officeDocument/2006/relationships/notesSlide" Target="/ppt/notesSlides/notesSlide4.xml" Id="R4e852350583d41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adf6a057349e2" /><Relationship Type="http://schemas.openxmlformats.org/officeDocument/2006/relationships/notesSlide" Target="/ppt/notesSlides/notesSlide5.xml" Id="R02a30a03d0f0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73ce3575c4a3d" /><Relationship Type="http://schemas.openxmlformats.org/officeDocument/2006/relationships/notesSlide" Target="/ppt/notesSlides/notesSlide6.xml" Id="R045d73ac4c804f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942aaf7fc4064" /><Relationship Type="http://schemas.openxmlformats.org/officeDocument/2006/relationships/notesSlide" Target="/ppt/notesSlides/notesSlide7.xml" Id="R5c215d82fe674f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4b29c57444a4d" /><Relationship Type="http://schemas.openxmlformats.org/officeDocument/2006/relationships/notesSlide" Target="/ppt/notesSlides/notesSlide8.xml" Id="Rabe7d42316be4a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26c01cf0b49df" /><Relationship Type="http://schemas.openxmlformats.org/officeDocument/2006/relationships/notesSlide" Target="/ppt/notesSlides/notesSlide9.xml" Id="R4bb951d138794c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12ac8991b41eb" /><Relationship Type="http://schemas.openxmlformats.org/officeDocument/2006/relationships/notesSlide" Target="/ppt/notesSlides/notesSlide10.xml" Id="R0e8f5afc3cb64e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1e6590b59480d" /><Relationship Type="http://schemas.openxmlformats.org/officeDocument/2006/relationships/notesSlide" Target="/ppt/notesSlides/notesSlide11.xml" Id="R0cab0e57795f40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a9daeb53c4e13" /><Relationship Type="http://schemas.openxmlformats.org/officeDocument/2006/relationships/notesSlide" Target="/ppt/notesSlides/notesSlide12.xml" Id="R6dcd8ca3911d4a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43a399954457c" /><Relationship Type="http://schemas.openxmlformats.org/officeDocument/2006/relationships/notesSlide" Target="/ppt/notesSlides/notesSlide13.xml" Id="R591aabd3906a42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857640606448b" /><Relationship Type="http://schemas.openxmlformats.org/officeDocument/2006/relationships/notesSlide" Target="/ppt/notesSlides/notesSlide14.xml" Id="Rfd9ef5b8056640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4528885dc45c2" /><Relationship Type="http://schemas.openxmlformats.org/officeDocument/2006/relationships/notesSlide" Target="/ppt/notesSlides/notesSlide15.xml" Id="Rc3e22003b0c645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99d1bdb7e4284" /><Relationship Type="http://schemas.openxmlformats.org/officeDocument/2006/relationships/notesSlide" Target="/ppt/notesSlides/notesSlide16.xml" Id="Rba19393bcd2549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a9b3266564312" /><Relationship Type="http://schemas.openxmlformats.org/officeDocument/2006/relationships/notesSlide" Target="/ppt/notesSlides/notesSlide17.xml" Id="Rd8076b1790af46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34c47faa64928" /><Relationship Type="http://schemas.openxmlformats.org/officeDocument/2006/relationships/notesSlide" Target="/ppt/notesSlides/notesSlide18.xml" Id="Rcc298305f17b49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2BD54-DD33-4025-991C-02C8ACC1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43A62-6BF1-4AB2-9535-BC5219EF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ระบบตอบคำถามจากเอกสารผ่าน Web และ 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FCAE3-B065-4590-967F-A26B4726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53CE1-E81E-4265-B1F6-74CA07CD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5744E-7EC9-447E-9A94-060B17BF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เอกสารองค์กร</a:t>
            </a:r>
          </a:p>
          <a:p xmlns:a="http://schemas.openxmlformats.org/drawingml/2006/main">
            <a:pPr algn="l">
              <a:defRPr sz="37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สู่คำตอบที่ตรวจสอบได้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D02BD-8491-4884-AF58-6FA5CFC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ภาพรวมระบบ  /  การพัฒนา  /  Demo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1c7c0d5f64e8d"/>
          <a:stretch xmlns:a="http://schemas.openxmlformats.org/drawingml/2006/main"/>
        </p:blipFill>
        <p:spPr>
          <a:xfrm xmlns:a="http://schemas.openxmlformats.org/drawingml/2006/main">
            <a:off x="8858250" y="2074793"/>
            <a:ext cx="2667000" cy="28989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67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B87BE-6641-461F-94CC-70656A89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ทีมผู้นำเสนอ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E16F9-AB15-4E9E-BE2C-2389F8C8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ทุกคนบอกชื่อเล่นก่อนเริ่มช่วงของตน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86266-BAFE-48BB-91C0-DD599A98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8246B-B81A-405C-98F8-86732CCE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9eace83ae4a16"/>
          <a:stretch xmlns:a="http://schemas.openxmlformats.org/drawingml/2006/main"/>
        </p:blipFill>
        <p:spPr>
          <a:xfrm xmlns:a="http://schemas.openxmlformats.org/drawingml/2006/main">
            <a:off x="808137" y="1952625"/>
            <a:ext cx="1526977" cy="2714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84698-29E5-41C9-A473-614DE064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ก้อง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9F299-D9AE-437A-90A0-D4123379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ภควัต สุขสมโสตร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1f78ad04d4afa"/>
          <a:stretch xmlns:a="http://schemas.openxmlformats.org/drawingml/2006/main"/>
        </p:blipFill>
        <p:spPr>
          <a:xfrm xmlns:a="http://schemas.openxmlformats.org/drawingml/2006/main">
            <a:off x="2809875" y="1975746"/>
            <a:ext cx="2000250" cy="266838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F0897-19E3-4213-B618-B0704F3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ป๊อกกี้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11EC5-B536-4C69-9C9A-0EC02C17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ชัชชญา จอมพงษ์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5b9eac9d947c8"/>
          <a:stretch xmlns:a="http://schemas.openxmlformats.org/drawingml/2006/main"/>
        </p:blipFill>
        <p:spPr>
          <a:xfrm xmlns:a="http://schemas.openxmlformats.org/drawingml/2006/main">
            <a:off x="5048250" y="1975836"/>
            <a:ext cx="2000250" cy="266820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1C39E-BC1A-451D-A09F-FBAEF09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ฟลุ๊ค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DCDCC-FA28-4795-B1CB-6F82B301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พสิษฐ์ ลี้ไพบูลย์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ef359ec0b4846"/>
          <a:stretch xmlns:a="http://schemas.openxmlformats.org/drawingml/2006/main"/>
        </p:blipFill>
        <p:spPr>
          <a:xfrm xmlns:a="http://schemas.openxmlformats.org/drawingml/2006/main">
            <a:off x="7522841" y="1952625"/>
            <a:ext cx="1527818" cy="27146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97240-05EF-4084-AB73-242DC1DC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ฟอร์ด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83D3B-D639-4080-BCF9-E0921521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นรากร นิลรวม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d3a55dac749a3"/>
          <a:stretch xmlns:a="http://schemas.openxmlformats.org/drawingml/2006/main"/>
        </p:blipFill>
        <p:spPr>
          <a:xfrm xmlns:a="http://schemas.openxmlformats.org/drawingml/2006/main">
            <a:off x="9525000" y="2453492"/>
            <a:ext cx="2000250" cy="171289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F8671-994E-4912-9B51-4531E41E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มอส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1F5E2-BBB6-4FE6-866C-55941919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ดุษฎี จันทรสุวรรณ</a:t>
            </a:r>
          </a:p>
        </p:txBody>
      </p:sp>
    </p:spTree>
    <p:extLst>
      <p:ext uri="{BB962C8B-B14F-4D97-AF65-F5344CB8AC3E}">
        <p14:creationId xmlns:p14="http://schemas.microsoft.com/office/powerpoint/2010/main" val="1109050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871A7-D2CA-4F49-97ED-1EC46A5C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ลำดับการนำเสนอ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BF4F7-CDD6-4E72-AF50-A7F4B3C1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ภาพรวมก่อน แล้วจึงอธิบายแต่ละส่วนและสาธิต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7D940-99E1-4E65-AD70-8C1A322A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BBD46-035A-4451-BAE3-F99F18A8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5FB03-4AB6-4B39-8CD3-ABF0AD10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01  ภาพรวมระบบ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9DC2E-CBCA-4B99-926E-61FB2427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AC57E8"/>
                </a:solidFill>
                <a:latin typeface="Tahoma"/>
                <a:ea typeface="Tahoma"/>
                <a:cs typeface="Tahoma"/>
              </a:rPr>
              <a:t>02  Frontend และบทบาท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57C23-3F73-4E4A-9BC8-B43D2DBF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03  Backend และ 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9C4BD-1A02-45D8-984F-BC12F6DB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AC57E8"/>
                </a:solidFill>
                <a:latin typeface="Tahoma"/>
                <a:ea typeface="Tahoma"/>
                <a:cs typeface="Tahoma"/>
              </a:rPr>
              <a:t>04  AI และการส่งต่อคน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8016F-8A07-4630-9D19-6AC5CDD8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05  Timeline และ Demo</a:t>
            </a:r>
          </a:p>
        </p:txBody>
      </p:sp>
    </p:spTree>
    <p:extLst>
      <p:ext uri="{BB962C8B-B14F-4D97-AF65-F5344CB8AC3E}">
        <p14:creationId xmlns:p14="http://schemas.microsoft.com/office/powerpoint/2010/main" val="109409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BC84E-CAFA-4B0D-ADBB-78408734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ภาพรวมระบบ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0FE51-9213-40F3-9948-E472F96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อ่านจากช่องทางด้านซ้าย ไปยัง FastAPI แล้วแยกไปข้อมูลและ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036D5-19B1-4308-A713-B1A8E659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E3064-EAA2-4D1C-9436-9203D128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71E1E-6169-4410-9EF7-91E85453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6193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Web / React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2573F-A095-4B5F-8BDD-6D37123A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26193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66D5AE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LINE OA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78413-5F9E-4452-A7BA-9158E1D4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051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FastAPI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จัดการคำขอ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060AE-438D-4399-8120-B1E4D87C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76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PostgreSQL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ข้อมูลระบบ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A735C-8C9C-4547-99FF-E3342BF2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76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RAG + Ollama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ค้นเอกสารและตอบ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2667000"/>
            <a:ext cx="14287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90875" y="3524250"/>
            <a:ext cx="1428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D5AE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096125" y="2667000"/>
            <a:ext cx="17621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headEnd type="triangle" w="med" len="me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96125" y="3524250"/>
            <a:ext cx="17621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headEnd type="triangle" w="med" len="me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AA0FF-CC28-4D6F-89A9-7997472E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คำตอบย้อนกลับผ่าน FastAPI ไปยัง Web หรือ LINE ที่ส่งคำถามมา</a:t>
            </a:r>
          </a:p>
        </p:txBody>
      </p:sp>
    </p:spTree>
    <p:extLst>
      <p:ext uri="{BB962C8B-B14F-4D97-AF65-F5344CB8AC3E}">
        <p14:creationId xmlns:p14="http://schemas.microsoft.com/office/powerpoint/2010/main" val="999429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1488B-7F89-4F0B-9E29-E4A0D9C9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10AAB-5FA7-41E8-BBFB-9C6D9096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React + Vite + Tailwind CSS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076E2-0328-450C-99F4-5E351FE8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EAB99-D2DB-4C05-A230-3437328F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ECABB-6229-42CD-A728-5876649D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เข้าสู่ระบบ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656B1-0E05-43FE-9402-DB1C4E1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หน้าหลัก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ChatInterface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BF751-32C9-4C9B-8538-35B8EE20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เลือกเมนู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บอท / แชท / จัดการ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005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1CCFC-BBC0-466F-B7EB-05EA9A79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สถานะผู้ใช้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6AD43-B192-4AA3-972C-C045C7F7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AuthContext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AC6A8-07C1-4E17-B93E-B387A2AC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สถานะแชท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2FEA6-4768-4506-A4E7-157C8F6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useChatSession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55D38-4135-4CC9-B34B-901511E7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เชื่อม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921C6-129A-4A11-8499-9C4860BC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HTTP พร้อม JWT</a:t>
            </a:r>
          </a:p>
        </p:txBody>
      </p:sp>
    </p:spTree>
    <p:extLst>
      <p:ext uri="{BB962C8B-B14F-4D97-AF65-F5344CB8AC3E}">
        <p14:creationId xmlns:p14="http://schemas.microsoft.com/office/powerpoint/2010/main" val="537067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14778-5360-4AC1-8983-F756491D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บทบาทและขอบเขตข้อมูล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F85E4-3E5F-484B-ADB0-23D73894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สิทธิ์ของแพลตฟอร์มแยกจากหน้าที่ตอบแชทลูกค้า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97F7A-7093-436B-9C09-C3E12662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4C7CC-C0D4-4212-8BE6-E54B9F67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9A8F0-06D9-4F03-AA41-C579F2F8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413A9-6E8B-4AAF-94B4-C1FDB10C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478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จัดการผู้ใช้ ภาพรวม และ Audit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93EE1-3C6A-4C9A-87EF-BAE783A9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241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บอทและแชทอยู่ในขอบเขตที่ตนเป็นเจ้าของ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D982D-24EA-4E34-9A17-5E07B34D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7657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2C296-7C8C-4C2B-9269-AB9E4670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AC57E8"/>
                </a:solidFill>
                <a:latin typeface="Tahoma"/>
                <a:ea typeface="Tahoma"/>
                <a:cs typeface="Tahoma"/>
              </a:rPr>
              <a:t>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C328A-5DC0-4D82-92C2-CE3624E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908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ดูแลและอนุมัติบัญชีผู้ใช้งาน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661BE-054A-4FC7-8EBB-27A7D8AA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671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ไม่เข้าหน้าบอทและไม่ตอบ Live Chat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E688F-E596-4720-85FD-1A4A7930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A1089-E05C-4237-A1E9-25C17696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E7866-423D-4AE7-8E0B-DC473218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338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เจ้าของบอทและเอกสาร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15381-A929-42EC-BBD8-85C1D6B8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101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ใช้งานบอท ประวัติ การเชื่อมต่อ และแชทรวมของตน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63117-1A82-42A8-999A-FEEB19A6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คนตอบแชท = เจ้าของบอทหรือ Admin ที่เป็นเจ้าของบอทนั้น</a:t>
            </a:r>
          </a:p>
        </p:txBody>
      </p:sp>
    </p:spTree>
    <p:extLst>
      <p:ext uri="{BB962C8B-B14F-4D97-AF65-F5344CB8AC3E}">
        <p14:creationId xmlns:p14="http://schemas.microsoft.com/office/powerpoint/2010/main" val="1679131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D7AA8-89FA-4840-9084-A6E9A581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48964-496E-44E9-A367-BAA0897E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Python คือภาษา  FastAPI คือ framework  JWT ใช้ยืนยันตัวตน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5CF0E-B0F4-4036-A755-306806AA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B8700-3A84-4DBD-ABA6-E66EB969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811ED-6DD7-405E-831C-20827D46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รับคำขอ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AACBF-955D-4F46-AEDA-4CDF8F7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ตรวจสิทธิ์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E9341-2E14-4CA3-A0C5-99E84083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เลือกงาน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F92F3-D53C-4023-BCA5-B6BF0406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ประมวลผล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2952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2952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2952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3DBC9-A4FC-43F1-9C5B-52D25AB0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Web และ 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09B7C-58AD-4BB1-95AE-593307C8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JWT / Signature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C5FF7-8F9C-4E21-A1D2-3ABA4DFE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Bots / Chat / 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0E6C6-C48D-4122-841B-F8FB8217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Database /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D8774-6FB4-4FF6-A1D0-7B5803EB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FastAPI เป็นจุดประสานงาน และคืนผลลัพธ์หรือข้อผิดพลาดไปยังผู้เรียก</a:t>
            </a:r>
          </a:p>
        </p:txBody>
      </p:sp>
    </p:spTree>
    <p:extLst>
      <p:ext uri="{BB962C8B-B14F-4D97-AF65-F5344CB8AC3E}">
        <p14:creationId xmlns:p14="http://schemas.microsoft.com/office/powerpoint/2010/main" val="615606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B024E-4B91-4F54-AED3-24CC178E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ข้อมูลอยู่ที่ไหน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89CAC-1724-4D55-BCB5-86893D64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PostgreSQL เก็บข้อมูลระบบ  ChromaDB เก็บดัชนีความรู้  Storage เก็บไฟล์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7C54B-3392-4E66-A5FF-C99995F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98E6E-47D4-4ED5-8B6C-0A1C3E6E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DFD41-CF69-4730-BF42-A6ACE4B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286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ABBED-7398-4E8D-87C9-99C8D968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286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ChromaDB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1A628-F4C2-41F6-A21C-BA30B18F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3286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66D5AE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Document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FA4E8-BA00-435E-9121-73FE1E00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95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บัญชีและสิทธิ์</a:t>
            </a:r>
          </a:p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บอทและรายการเอกสาร</a:t>
            </a:r>
          </a:p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ประวัติแชทและ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35DC2-55C9-44C0-8FA4-5360E1D9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095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ข้อความย่อยและเวกเตอร์</a:t>
            </a:r>
          </a:p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ค้นหาเนื้อหาที่เกี่ยวข้อง</a:t>
            </a:r>
          </a:p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แยกดัชนีตาม bot_id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181BF-E329-4902-B869-C49B3E9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3095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ไฟล์ที่อัปโหลด</a:t>
            </a:r>
          </a:p>
          <a:p xmlns:a="http://schemas.openxmlformats.org/drawingml/2006/main">
            <a:pPr algn="l">
              <a:defRPr sz="195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PDF DOCX TXT CSV</a:t>
            </a:r>
          </a:p>
          <a:p xmlns:a="http://schemas.openxmlformats.org/drawingml/2006/main">
            <a:pPr algn="l">
              <a:defRPr sz="195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Docker volume: uploads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BB447-F96E-484F-A603-2BE70602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เชื่อม PostgreSQL ผ่าน SQLAlchemy และ DATABASE_URL</a:t>
            </a:r>
          </a:p>
        </p:txBody>
      </p:sp>
    </p:spTree>
    <p:extLst>
      <p:ext uri="{BB962C8B-B14F-4D97-AF65-F5344CB8AC3E}">
        <p14:creationId xmlns:p14="http://schemas.microsoft.com/office/powerpoint/2010/main" val="15063240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BEB69-002D-4BC1-A3BF-360BD854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Database Relationships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F7C47-4D03-4817-9567-10C6F672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เริ่มจาก users แล้วตามไป bots และเอกสารที่ผูกกับบอท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8EF9C-5761-4458-A017-85151300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E1391-4173-4961-90CC-392E1D43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033C8-7B93-456A-9FC4-99B632E1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00D2B-D133-454F-9D5B-00749A27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1FD3D-A4F4-46AD-ADF5-635B420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75EF8-AF7E-470F-A35C-43D7C689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2143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bot_documents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7DE6A-95E5-4AD6-9DDE-E0809626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2286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conversations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2D7B3-3CA6-4B6D-9E32-0A2EEE23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90875"/>
            <a:ext cx="2286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live_sessions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8256F-596E-4B85-A5F8-4BFA2334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24375"/>
            <a:ext cx="2286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live_messages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571750" y="2486025"/>
            <a:ext cx="10477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5" idx="2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71625" y="3448050"/>
            <a:ext cx="2047875" cy="12763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619750" y="2486025"/>
            <a:ext cx="2119313" cy="84772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619750" y="3771900"/>
            <a:ext cx="10477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19750" y="2333625"/>
            <a:ext cx="37147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619750" y="2486025"/>
            <a:ext cx="4857750" cy="704850"/>
          </a:xfrm>
          <a:prstGeom xmlns:a="http://schemas.openxmlformats.org/drawingml/2006/main" prst="bentConnector4">
            <a:avLst>
              <a:gd name="adj1" fmla="val 74118"/>
              <a:gd name="adj2" fmla="val 67568"/>
            </a:avLst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477500" y="395287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94929-B567-41C4-B72F-ABDCA820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669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4C9DD-F6E4-4D4C-B887-D82E082D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8147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80420-7F76-41D5-847C-56054D3A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91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N : M ผ่านตารางเชื่อม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D33D7-9D7C-4B61-B35D-74645302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2907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0A260-CE44-4A96-8304-906B9CD0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EFF4D-9A40-45CC-853E-38A01C93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38425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587C9-5981-4E04-826D-AF703CE6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ภาพย่อแสดงตารางหลักของบอท เอกสาร และการสนทนา</a:t>
            </a:r>
          </a:p>
        </p:txBody>
      </p:sp>
    </p:spTree>
    <p:extLst>
      <p:ext uri="{BB962C8B-B14F-4D97-AF65-F5344CB8AC3E}">
        <p14:creationId xmlns:p14="http://schemas.microsoft.com/office/powerpoint/2010/main" val="838146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0D2DF-E9D0-4B73-8376-14365D9E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RAG ขั้นที่ 1 เตรียมความรู้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AB26F-0180-499A-972C-17A01321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ทำเมื่อเพิ่ม เปลี่ยน หรือสั่งประมวลผลเอกสารของบอท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D1399-9E56-453F-8408-EBA655D9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CB8AE-8488-433E-9B8F-11085DD0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8A7A6-6D0E-45B4-BE33-C89EC9E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เอกสาร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ของบอท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CCF67-E710-46D9-BC39-89769554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อ่านและแบ่ง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ข้อความ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D4E36-918D-4CCC-B244-B2D13D2B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BGE-M3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สร้างเวกเตอร์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4C7CE-3144-4402-BC2A-00CFEAB6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ChromaDB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เก็บดัชนี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C6988-06C5-4391-82E7-D4F93F1C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PDF / DOCX / TXT / 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EAB53-F66B-4796-A16C-957D3821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แยกที่ vector_db/{bot_id}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692BE-2FB3-4D7F-95F6-E80FA995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การอัปเดตเอกสารทำให้บอทที่ใช้เอกสารนั้นต้องประมวลผลความรู้ใหม่</a:t>
            </a:r>
          </a:p>
        </p:txBody>
      </p:sp>
    </p:spTree>
    <p:extLst>
      <p:ext uri="{BB962C8B-B14F-4D97-AF65-F5344CB8AC3E}">
        <p14:creationId xmlns:p14="http://schemas.microsoft.com/office/powerpoint/2010/main" val="1499146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E9A12-3B76-4C24-A11F-B1B06868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RAG ขั้นที่ 2 ตอบคำถาม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9018F-75D8-4590-AE65-A0A631BA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ค้นเนื้อหาที่เกี่ยวข้องก่อนให้โมเดลเรียบเรียงคำตอบ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8C0A1-0AC0-44A7-8DA4-54F6E345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EE597-91DF-4098-82BB-DAB575E1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787DE-3CED-4C66-88C3-1413BB0A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คำถาม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และบริบท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376B7-3B69-4EED-900D-8B2677FA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ค้นข้อความ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ที่เกี่ยวข้อง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5D2D8-0CD1-463A-B9A8-C1A8FBB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Ollama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อ่าน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2ACCC-D8E6-4630-B62B-EDF6A2B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คำตอบ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และแหล่งอ้างอิง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25BC2-E983-4251-A729-DA460A74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33875"/>
            <a:ext cx="242887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ChromaDB</a:t>
            </a:r>
          </a:p>
        </p:txBody>
      </p:sp>
      <p:cxnSp>
        <p:nvCxnSpPr>
          <p:cNvPr id="28" name=""/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4667250" y="3476625"/>
            <a:ext cx="4286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AC57E8"/>
            </a:solidFill>
            <a:headEnd type="triangle" w="med" len="me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B8A6B-47B4-46D4-9DDB-174EC78A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95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BGE-M3 ใช้ค้นหา</a:t>
            </a:r>
          </a:p>
          <a:p xmlns:a="http://schemas.openxmlformats.org/drawingml/2006/main">
            <a:pPr algn="l">
              <a:defRPr sz="21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Ollama ใช้เรียบเรียงคำตอบ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7619D-9205-41B8-AC8A-BCFBF7D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หากไม่พบข้อมูล ระบบเสนอหรือเริ่มการส่งต่อเจ้าหน้าที่ตามช่องทาง</a:t>
            </a:r>
          </a:p>
        </p:txBody>
      </p:sp>
    </p:spTree>
    <p:extLst>
      <p:ext uri="{BB962C8B-B14F-4D97-AF65-F5344CB8AC3E}">
        <p14:creationId xmlns:p14="http://schemas.microsoft.com/office/powerpoint/2010/main" val="1847249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77F8F-B4E3-43A3-92D3-8CCFE3E5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Sequence ของคำถามหนึ่งครั้ง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742B3-8D39-4393-B4EE-F44BAD13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เวลาเดินจากบนลงล่าง อ่านลูกศรตามเลข 1 ถึง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51C0A-7137-42DF-97AA-525D8A81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106DB-A8DE-41E3-9822-5D543635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55ED7-7D9D-4EE0-A0DD-555D056C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94FCF-332A-4F71-A873-EBB7E0CE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0" cy="30003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91153-37B3-4DDB-8EC4-4D745787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103CE-664E-4745-817C-596BE7DB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0" cy="30003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6A1F1-C97E-4D38-96FA-13414F89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F706A-EC29-4D78-A717-DFD43DE6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0" cy="30003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612D2-1BA6-423A-8AE6-9CCF96A1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860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840F9-410E-4861-B410-7EE08A7C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819275" y="2890838"/>
            <a:ext cx="4276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047FC-4B63-449F-BD59-F0EB242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14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ส่งคำถามและ session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A1075-F2F2-4A93-B513-0BAFA27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29F78-CCC9-4008-9375-89DD881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05525" y="3481388"/>
            <a:ext cx="418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1BC98-64C9-426B-BD7E-56739D77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เรียก RAG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1868F-7D48-4568-B53D-6BF88067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87CD5-C4F9-404C-8BF3-2F1564B9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6105525" y="4100513"/>
            <a:ext cx="418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6B7AC-6713-4863-91C6-77B7B51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คืนคำตอบและ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C69C0-6AF0-4739-B56A-32191D8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57675"/>
            <a:ext cx="433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4  บันทึก 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52DA1-979B-4BE6-9C2C-E039159F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67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0BBE6-D808-4B88-B27A-E606F1E8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67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1819275" y="5272088"/>
            <a:ext cx="4276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A0DBC-8E2C-4C25-86B3-98DB032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5  ส่งผลกลับ Web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147B5A-5C8F-47CA-90F7-93F19AAC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ลูกศรแสดงการเรียกและการคืนผล ไม่ได้แสดงเวลาในการประมวลผลจริง</a:t>
            </a:r>
          </a:p>
        </p:txBody>
      </p:sp>
    </p:spTree>
    <p:extLst>
      <p:ext uri="{BB962C8B-B14F-4D97-AF65-F5344CB8AC3E}">
        <p14:creationId xmlns:p14="http://schemas.microsoft.com/office/powerpoint/2010/main" val="13426242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094D8-B06F-4997-ADFC-7E6C1348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เมื่อบอทตอบไม่ได้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916B6-DBF3-45C7-8601-0A700F17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สถานะการสนทนามี bot waiting และ human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99DE1-3A5A-4BDE-87AB-13C0C9E4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C8703-9E0A-4AE2-873E-49F75FEC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EF198-18BC-467D-B88A-AD2DE8A1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FFBF69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bot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บอทตอบ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070D9-BA6A-458B-81D5-939FD5F2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FFBF69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waiting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รอคนรับ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10264-7AC8-4660-9894-4937D7A0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FFBF69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human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คนตอบแชท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0EF53-0262-42A2-9FAB-2D6A2060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FFBF69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bot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จบ session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3000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3000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3000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E3F9A-33C1-486A-A281-B366CBFE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E2C20-1072-4B7C-8CA8-2ABDE43D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81500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แสดงปุ่มติดต่อเจ้าหน้าที่เมื่อไม่พบคำตอบ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A53E0-E01E-4E0F-8235-70649375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D5A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66D5AE"/>
                </a:solidFill>
                <a:latin typeface="Tahoma"/>
                <a:ea typeface="Tahoma"/>
                <a:cs typeface="Tahoma"/>
              </a:rPr>
              <a:t>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A2CD2-65BA-4EE7-B13D-EC0BA16A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00625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เข้าสู่คิวเมื่อไม่พบคำตอบหรือขอคุยกับคน</a:t>
            </a:r>
          </a:p>
        </p:txBody>
      </p:sp>
    </p:spTree>
    <p:extLst>
      <p:ext uri="{BB962C8B-B14F-4D97-AF65-F5344CB8AC3E}">
        <p14:creationId xmlns:p14="http://schemas.microsoft.com/office/powerpoint/2010/main" val="6098079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0B2F8-B161-4667-AD4F-793FDB41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76D7E-61E5-4B04-928B-67A5603C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Cloudflare Tunnel รับ Web และ LINE ผ่าน Nginx จุดเดียว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4A69F-29DE-409D-B6EE-B269D0A3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7707C-BBB4-4AA6-B623-38B8EFC9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2A0CC-DF89-4F03-BCAB-EA096645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Browser / 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93534-F95C-4911-94A7-DE3D4C6E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00250"/>
            <a:ext cx="26193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Cloudflare Tunnel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E64C7-E4BA-4994-979A-20390B64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0250"/>
            <a:ext cx="2000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Nginx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F2966-7FB8-475D-AAE0-32EA959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2286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99FFF-3EDE-4C40-922D-3316BFF9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2286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React files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05125" y="2452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00750" y="24526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8620125" y="2357438"/>
            <a:ext cx="714375" cy="95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2905125"/>
            <a:ext cx="1714500" cy="1262063"/>
          </a:xfrm>
          <a:prstGeom xmlns:a="http://schemas.openxmlformats.org/drawingml/2006/main" prst="bentConnector5">
            <a:avLst>
              <a:gd name="adj1" fmla="val 0"/>
              <a:gd name="adj2" fmla="val 92830"/>
              <a:gd name="adj3" fmla="val 86667"/>
            </a:avLst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F9A78-3EDC-44BD-9862-C9C681AC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/api/*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3F7D6-8A06-4B36-9688-97A00E0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Docker 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895DA-8568-478E-A3BE-6B108349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frontend  /  api  /  db  /  cloudflared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C9580-3350-4571-9B65-5EF26CC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Volumes: pgdata  uploads  vectordb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1C6F7-69F5-4757-A9D2-832F357A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Ollama รันบน host และ API เรียกผ่าน host.docker.internal:11434</a:t>
            </a:r>
          </a:p>
        </p:txBody>
      </p:sp>
    </p:spTree>
    <p:extLst>
      <p:ext uri="{BB962C8B-B14F-4D97-AF65-F5344CB8AC3E}">
        <p14:creationId xmlns:p14="http://schemas.microsoft.com/office/powerpoint/2010/main" val="154454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6D714-0A3E-443B-8CCE-D1A278B7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Timeline การทำงาน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54430-891D-49D0-B136-859AAF6D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แผนโครงการ มีนาคม ถึง ตุลาคม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B0931-2539-4C9B-BA4F-78AF8F07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0BC5F-916E-42A2-B189-4A1D7C6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2C029-8A2C-4150-BD96-63CDF6DE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มี.ค.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62809-1967-48B4-996A-859C15E2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02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ออกแบบและต้นแบบ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0ACE3-CD50-424A-B9D9-AB5FBD66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02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UX/UI, Database และ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2BAB1-D335-4B07-B1E9-73D05C96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90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604B0-DAF6-49EA-8D08-AFD86607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เม.ย. – พ.ค.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F6106-099C-4C04-85CF-E2BEEAD7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431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พัฒนาและเชื่อมต่อ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02138-EEBB-402D-BE05-F94A5AC4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Web, API, LINE และสิทธิ์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F9558-94F7-4958-8726-03B42F98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1090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1B10F-EB8A-43FF-BA9C-7A552B9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มิ.ย. – ส.ค.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06E03-9DC0-434A-BA04-A78FCD03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ปรับระบบและทดสอบ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72C3D-B2E8-447F-8752-C2B49CAF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RAG, Handoff และการติดตั้ง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38065-AD6B-4B92-90DD-23E38B1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1090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E111A-0D95-403E-8633-0AA2A5C4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290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ก.ย.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44ED8-C07E-46B8-B16E-1E2A17A7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290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เตรียม Demo และ UAT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0146F-B630-43C8-9FC0-371EA813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290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ช่วงดำเนินงานตามแผน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6129C-EF5D-4066-930E-BD931D40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48200"/>
            <a:ext cx="1090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2EB71-7368-4517-BAEC-2D48A01B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ต.ค.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1EE83-D3EB-4B75-BAEF-B3DE1F22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720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เอกสารและส่งมอบ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438F4-A8B7-4563-A4F7-24B852A7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720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ขั้นถัดไปตามแผน</a:t>
            </a:r>
          </a:p>
        </p:txBody>
      </p:sp>
    </p:spTree>
    <p:extLst>
      <p:ext uri="{BB962C8B-B14F-4D97-AF65-F5344CB8AC3E}">
        <p14:creationId xmlns:p14="http://schemas.microsoft.com/office/powerpoint/2010/main" val="15101317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EE0FE-F75C-4D1D-8327-E400819E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Demo ScopeBot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5A9F3-596F-4385-9E42-33421647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เส้นทางสาธิตประมาณ 4 นาที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FC3F6-EAA9-44A5-AEFA-433922E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55F8B-8183-472A-81F2-7E6BFC0C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FE4EF-280B-40E4-817B-5E4007CA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F5347-B324-464A-BE60-E0E9012F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เลือกบอท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9D6F0-B144-4D85-BEC6-3E68C845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ดูเอกสารและสถานะพร้อมใช้งาน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21E88-FB48-45DB-932C-5B57CC1C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03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81D1C-2F58-42DE-9D90-C3D80DCA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ถามคำถาม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0206A-7B5B-4247-8D00-D161A64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ใช้คำถามที่มีคำตอบอยู่ในเอกสาร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0E392-2BF4-447E-9715-65BE7BD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8890A-66AA-437B-8EC3-25940C32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480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ดูแหล่งอ้างอิง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61096-A6F1-4F5F-99EE-1AE91F4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4807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เปิดชื่อไฟล์และข้อความอ้างอิงบน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285F6-6CB6-4FD3-8946-F760EA18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9D5D3-8FD5-4AB4-999F-E1B52251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ส่งต่อคน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81873-93FA-4471-801D-6BBD03B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958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ขอเจ้าหน้าที่ ตอบในแชทรวม และจบ 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EFA9D-2333-49A5-9524-F2879171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บัญชีตอบแชทต้องเป็นเจ้าของบอท ไม่ใช่ role Support</a:t>
            </a:r>
          </a:p>
        </p:txBody>
      </p:sp>
    </p:spTree>
    <p:extLst>
      <p:ext uri="{BB962C8B-B14F-4D97-AF65-F5344CB8AC3E}">
        <p14:creationId xmlns:p14="http://schemas.microsoft.com/office/powerpoint/2010/main" val="1412381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00F68-F45B-4EBC-A942-A8D05F41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 ทำงานร่วมกันอย่างไร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9C7C5-1E03-4536-B168-4C060DD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เอกสารเป็นแหล่งความรู้และเจ้าของบอทรับช่วงเมื่อจำเป็น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FC7B3-406D-4222-AA25-6B83264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70698-B720-49D7-8D8E-013F9D4B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50E1A-9216-4B94-86C4-A02FB804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Frontend เป็นจุดใช้งาน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4B614-D4E2-415A-AA86-6310D706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FastAPI ควบคุมคำขอและข้อมูล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450C0-7584-4984-A346-CF650737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RAG ค้นเอกสารก่อนสร้างคำตอบ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0F6C8-5EDB-4C04-A3FA-01B48800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คนรับช่วงเมื่อบอทไม่มีคำตอบ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5CD88-267F-4AE7-A6DB-BBE9954C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คำถามและข้อเสนอแนะ</a:t>
            </a:r>
          </a:p>
        </p:txBody>
      </p:sp>
    </p:spTree>
    <p:extLst>
      <p:ext uri="{BB962C8B-B14F-4D97-AF65-F5344CB8AC3E}">
        <p14:creationId xmlns:p14="http://schemas.microsoft.com/office/powerpoint/2010/main" val="17722358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4F4A0-F7C9-4E51-B950-FB0AE6D6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ภาคผนวก API 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DBCEC-EA26-418D-A247-FB72C9FA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ใช้เปิดประกอบคำถามด้านเทคนิคหลังจบการนำเสนอ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72465-76A0-4E03-B9A3-549DCB0D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E265A-3D38-4548-8B7A-C6630F78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4AE34-7BCB-4FC9-B364-BFF8FF4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บัญชีและสิทธิ์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0FFB3-75FC-4F11-95EC-864393FE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74D49-2880-4743-9D76-73CE4505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บอทและเอกสาร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18F9C-5498-4708-B414-7F4ABAB4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/api/bots    /api/documents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0EB7A-9ACD-42EA-B150-650A8859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แชทและเจ้าหน้าที่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E500B-B65E-46BF-9AF3-734880EA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48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/api/chat    /api/live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9FE0B-30D1-4D90-A989-7D0AA819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สถิติและการติดตาม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C71D5-196D-4540-9772-D7C2855F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671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/api/dashboard    /api/notifications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F7930-9A40-4DB9-B53B-4C192093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Audit และสถานะ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A19C0-BA93-43A4-A8E0-FD386AA8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/api/audit-logs    /api/health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FE486-85A6-41EF-9438-9E55BF79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LINE Webhook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BF2AF-6A76-4E7F-B102-DAA73786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053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/api/line/webhook/{bot_id}</a:t>
            </a:r>
          </a:p>
        </p:txBody>
      </p:sp>
    </p:spTree>
    <p:extLst>
      <p:ext uri="{BB962C8B-B14F-4D97-AF65-F5344CB8AC3E}">
        <p14:creationId xmlns:p14="http://schemas.microsoft.com/office/powerpoint/2010/main" val="864770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2026-09-17T12:09:32.3910000Z</dcterms:created>
  <dcterms:modified xsi:type="dcterms:W3CDTF">2026-09-17T12:09:32.3910000Z</dcterms:modified>
</coreProperties>
</file>