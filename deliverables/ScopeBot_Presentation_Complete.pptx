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9982c10e8a4e6a" /><Relationship Type="http://schemas.openxmlformats.org/officeDocument/2006/relationships/extended-properties" Target="/docProps/app.xml" Id="R164508a8249a4ccd" /><Relationship Type="http://schemas.openxmlformats.org/officeDocument/2006/relationships/officeDocument" Target="/ppt/presentation.xml" Id="Re8ac30b757124e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eda0ed30ec4329"/>
  </p:sldMasterIdLst>
  <p:notesMasterIdLst>
    <p:notesMasterId xmlns:r="http://schemas.openxmlformats.org/officeDocument/2006/relationships" r:id="R62b6d15452824d5e"/>
  </p:notesMasterIdLst>
  <p:sldIdLst>
    <p:sldId xmlns:r="http://schemas.openxmlformats.org/officeDocument/2006/relationships" id="256" r:id="Re1e5cafd06ef4300"/>
    <p:sldId xmlns:r="http://schemas.openxmlformats.org/officeDocument/2006/relationships" id="257" r:id="Rae21d7cbe77b420c"/>
    <p:sldId xmlns:r="http://schemas.openxmlformats.org/officeDocument/2006/relationships" id="258" r:id="R128fdd3492c449b9"/>
    <p:sldId xmlns:r="http://schemas.openxmlformats.org/officeDocument/2006/relationships" id="259" r:id="R2e9fae68e2dc4a83"/>
    <p:sldId xmlns:r="http://schemas.openxmlformats.org/officeDocument/2006/relationships" id="260" r:id="Re96909e6471b4188"/>
    <p:sldId xmlns:r="http://schemas.openxmlformats.org/officeDocument/2006/relationships" id="261" r:id="Ra6278d4bb3f046ec"/>
    <p:sldId xmlns:r="http://schemas.openxmlformats.org/officeDocument/2006/relationships" id="262" r:id="Rfcfabc74653646b4"/>
    <p:sldId xmlns:r="http://schemas.openxmlformats.org/officeDocument/2006/relationships" id="263" r:id="R776c777bb0a64c12"/>
    <p:sldId xmlns:r="http://schemas.openxmlformats.org/officeDocument/2006/relationships" id="264" r:id="R5ea015894a384a43"/>
    <p:sldId xmlns:r="http://schemas.openxmlformats.org/officeDocument/2006/relationships" id="265" r:id="R143f5212ca7447d2"/>
    <p:sldId xmlns:r="http://schemas.openxmlformats.org/officeDocument/2006/relationships" id="266" r:id="Re652db01ef914eaf"/>
    <p:sldId xmlns:r="http://schemas.openxmlformats.org/officeDocument/2006/relationships" id="267" r:id="Rd14549ad2f234df3"/>
    <p:sldId xmlns:r="http://schemas.openxmlformats.org/officeDocument/2006/relationships" id="268" r:id="R769c2c14786c4522"/>
    <p:sldId xmlns:r="http://schemas.openxmlformats.org/officeDocument/2006/relationships" id="269" r:id="R9a616585f7b14064"/>
    <p:sldId xmlns:r="http://schemas.openxmlformats.org/officeDocument/2006/relationships" id="270" r:id="R0961da5387914c8e"/>
    <p:sldId xmlns:r="http://schemas.openxmlformats.org/officeDocument/2006/relationships" id="271" r:id="R1587d087a6e040b4"/>
    <p:sldId xmlns:r="http://schemas.openxmlformats.org/officeDocument/2006/relationships" id="272" r:id="R0f3d0267a11746ba"/>
    <p:sldId xmlns:r="http://schemas.openxmlformats.org/officeDocument/2006/relationships" id="273" r:id="R45c2198c4e3d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94d47c7a794d9c" /><Relationship Type="http://schemas.openxmlformats.org/officeDocument/2006/relationships/slideMaster" Target="/ppt/slideMasters/slideMaster1.xml" Id="R23eda0ed30ec4329" /><Relationship Type="http://schemas.openxmlformats.org/officeDocument/2006/relationships/notesMaster" Target="/ppt/notesMasters/notesMaster1.xml" Id="R62b6d15452824d5e" /><Relationship Type="http://schemas.openxmlformats.org/officeDocument/2006/relationships/presProps" Target="/ppt/presProps.xml" Id="Rfe28203b0997429e" /><Relationship Type="http://schemas.openxmlformats.org/officeDocument/2006/relationships/tableStyles" Target="/ppt/tableStyles.xml" Id="R9f7e78766d7b4b29" /><Relationship Type="http://schemas.openxmlformats.org/officeDocument/2006/relationships/slide" Target="/ppt/slides/slide1.xml" Id="Re1e5cafd06ef4300" /><Relationship Type="http://schemas.openxmlformats.org/officeDocument/2006/relationships/slide" Target="/ppt/slides/slide2.xml" Id="Rae21d7cbe77b420c" /><Relationship Type="http://schemas.openxmlformats.org/officeDocument/2006/relationships/slide" Target="/ppt/slides/slide3.xml" Id="R128fdd3492c449b9" /><Relationship Type="http://schemas.openxmlformats.org/officeDocument/2006/relationships/slide" Target="/ppt/slides/slide4.xml" Id="R2e9fae68e2dc4a83" /><Relationship Type="http://schemas.openxmlformats.org/officeDocument/2006/relationships/slide" Target="/ppt/slides/slide5.xml" Id="Re96909e6471b4188" /><Relationship Type="http://schemas.openxmlformats.org/officeDocument/2006/relationships/slide" Target="/ppt/slides/slide6.xml" Id="Ra6278d4bb3f046ec" /><Relationship Type="http://schemas.openxmlformats.org/officeDocument/2006/relationships/slide" Target="/ppt/slides/slide7.xml" Id="Rfcfabc74653646b4" /><Relationship Type="http://schemas.openxmlformats.org/officeDocument/2006/relationships/slide" Target="/ppt/slides/slide8.xml" Id="R776c777bb0a64c12" /><Relationship Type="http://schemas.openxmlformats.org/officeDocument/2006/relationships/slide" Target="/ppt/slides/slide9.xml" Id="R5ea015894a384a43" /><Relationship Type="http://schemas.openxmlformats.org/officeDocument/2006/relationships/slide" Target="/ppt/slides/slide10.xml" Id="R143f5212ca7447d2" /><Relationship Type="http://schemas.openxmlformats.org/officeDocument/2006/relationships/slide" Target="/ppt/slides/slide11.xml" Id="Re652db01ef914eaf" /><Relationship Type="http://schemas.openxmlformats.org/officeDocument/2006/relationships/slide" Target="/ppt/slides/slide12.xml" Id="Rd14549ad2f234df3" /><Relationship Type="http://schemas.openxmlformats.org/officeDocument/2006/relationships/slide" Target="/ppt/slides/slide13.xml" Id="R769c2c14786c4522" /><Relationship Type="http://schemas.openxmlformats.org/officeDocument/2006/relationships/slide" Target="/ppt/slides/slide14.xml" Id="R9a616585f7b14064" /><Relationship Type="http://schemas.openxmlformats.org/officeDocument/2006/relationships/slide" Target="/ppt/slides/slide15.xml" Id="R0961da5387914c8e" /><Relationship Type="http://schemas.openxmlformats.org/officeDocument/2006/relationships/slide" Target="/ppt/slides/slide16.xml" Id="R1587d087a6e040b4" /><Relationship Type="http://schemas.openxmlformats.org/officeDocument/2006/relationships/slide" Target="/ppt/slides/slide17.xml" Id="R0f3d0267a11746ba" /><Relationship Type="http://schemas.openxmlformats.org/officeDocument/2006/relationships/slide" Target="/ppt/slides/slide18.xml" Id="R45c2198c4e3d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bd1ea3360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752782056e425a" /><Relationship Type="http://schemas.openxmlformats.org/officeDocument/2006/relationships/notesMaster" Target="/ppt/notesMasters/notesMaster1.xml" Id="Re88ae121146746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4048898d784515" /><Relationship Type="http://schemas.openxmlformats.org/officeDocument/2006/relationships/notesMaster" Target="/ppt/notesMasters/notesMaster1.xml" Id="R41b669c8fc15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1357af3c3649c1" /><Relationship Type="http://schemas.openxmlformats.org/officeDocument/2006/relationships/notesMaster" Target="/ppt/notesMasters/notesMaster1.xml" Id="R5fe08d992329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acebf54eac4f0c" /><Relationship Type="http://schemas.openxmlformats.org/officeDocument/2006/relationships/notesMaster" Target="/ppt/notesMasters/notesMaster1.xml" Id="R26b554459c46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36854dafdc43b0" /><Relationship Type="http://schemas.openxmlformats.org/officeDocument/2006/relationships/notesMaster" Target="/ppt/notesMasters/notesMaster1.xml" Id="R6c67d7ddd8de4e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a19ea166474304" /><Relationship Type="http://schemas.openxmlformats.org/officeDocument/2006/relationships/notesMaster" Target="/ppt/notesMasters/notesMaster1.xml" Id="Rc8ba07739974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77a174bf9c4936" /><Relationship Type="http://schemas.openxmlformats.org/officeDocument/2006/relationships/notesMaster" Target="/ppt/notesMasters/notesMaster1.xml" Id="Rfe9177490ad84a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374631b6ed41a1" /><Relationship Type="http://schemas.openxmlformats.org/officeDocument/2006/relationships/notesMaster" Target="/ppt/notesMasters/notesMaster1.xml" Id="R86d8fbadb5f641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24b640ff444d47" /><Relationship Type="http://schemas.openxmlformats.org/officeDocument/2006/relationships/notesMaster" Target="/ppt/notesMasters/notesMaster1.xml" Id="Rdaf804d240de4f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8f0f32d1414ce6" /><Relationship Type="http://schemas.openxmlformats.org/officeDocument/2006/relationships/notesMaster" Target="/ppt/notesMasters/notesMaster1.xml" Id="R7775cb10704a4c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3c5d429df84af6" /><Relationship Type="http://schemas.openxmlformats.org/officeDocument/2006/relationships/notesMaster" Target="/ppt/notesMasters/notesMaster1.xml" Id="R4c01da0e589040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c9d36bd0d94dc9" /><Relationship Type="http://schemas.openxmlformats.org/officeDocument/2006/relationships/notesMaster" Target="/ppt/notesMasters/notesMaster1.xml" Id="R27973d2be04943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768fc79b08499f" /><Relationship Type="http://schemas.openxmlformats.org/officeDocument/2006/relationships/notesMaster" Target="/ppt/notesMasters/notesMaster1.xml" Id="R1791ec5b6d4645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5fcbacfdba49f5" /><Relationship Type="http://schemas.openxmlformats.org/officeDocument/2006/relationships/notesMaster" Target="/ppt/notesMasters/notesMaster1.xml" Id="R3ccb583b7e504c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006596756e40ba" /><Relationship Type="http://schemas.openxmlformats.org/officeDocument/2006/relationships/notesMaster" Target="/ppt/notesMasters/notesMaster1.xml" Id="Rad5648f05a8d4f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2872ac604b4573" /><Relationship Type="http://schemas.openxmlformats.org/officeDocument/2006/relationships/notesMaster" Target="/ppt/notesMasters/notesMaster1.xml" Id="Raeb8f63eaa2c41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66a62b95d94fe0" /><Relationship Type="http://schemas.openxmlformats.org/officeDocument/2006/relationships/notesMaster" Target="/ppt/notesMasters/notesMaster1.xml" Id="R4e443eea774c47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8403fe70eb4803" /><Relationship Type="http://schemas.openxmlformats.org/officeDocument/2006/relationships/notesMaster" Target="/ppt/notesMasters/notesMaster1.xml" Id="R002ad219dc44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30 วินาที</a:t>
            </a:r>
          </a:p>
          <a:p xmlns:a="http://schemas.openxmlformats.org/drawingml/2006/main">
            <a:r>
              <a:t>เปิดด้วยชื่อเล่นของผู้พูด แล้วกล่าวว่า วันนี้จะพาดูว่า ScopeBot รับเอกสารและนำมาตอบคำถามได้อย่างไร ตั้งแต่หน้าจอไปจนถึง AI และฐานข้อมูล จากนั้นจะสาธิตระบบจริง</a:t>
            </a:r>
          </a:p>
          <a:p xmlns:a="http://schemas.openxmlformats.org/drawingml/2006/main">
            <a:r>
              <a:t>ส่งต่อ: เริ่มจากทีมและลำดับการนำเสนอของเรา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 และ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40 วินาที</a:t>
            </a:r>
          </a:p>
          <a:p xmlns:a="http://schemas.openxmlformats.org/drawingml/2006/main">
            <a:r>
              <a:t>แนะนำชื่อเล่นจากซ้ายไปขวา ก้อง ป๊อกกี้ ฟลุ๊ค ฟอร์ด และมอส ก่อนขึ้นแต่ละช่วงให้ผู้พูดบอกชื่อเล่นอีกครั้ง</a:t>
            </a:r>
          </a:p>
          <a:p xmlns:a="http://schemas.openxmlformats.org/drawingml/2006/main">
            <a:r>
              <a:t>การแบ่งช่วงที่เสนอสำหรับซ้อม: ก้อง ภาพรวมและ Timeline; ป๊อกกี้ Frontend; ฟลุ๊ค Backend และ Database; ฟอร์ด AI/RAG และการส่งต่อ; มอส Deployment และ Demo ทีมปรับสลับกันได้โดยไม่เปลี่ยนเนื้อหา</a:t>
            </a:r>
          </a:p>
          <a:p xmlns:a="http://schemas.openxmlformats.org/drawingml/2006/main">
            <a:r>
              <a:t>ส่งต่อ: ลำดับเนื้อหาจะเริ่มจากผู้ใช้งาน แล้วค่อยเปิดดูภายในระบบ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14–18 ชื่อและรูปสมาชิก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30 วินาที</a:t>
            </a:r>
          </a:p>
          <a:p xmlns:a="http://schemas.openxmlformats.org/drawingml/2006/main">
            <a:r>
              <a:t>ชี้ตามเลข 1 ถึง 5 ไม่ต้องอ่านชื่อเทคโนโลยีทั้งหมดในตอนนี้ เราจะเริ่มจากภาพใหญ่ ดูส่วนที่คนใช้งาน ดูส่วนที่ประมวลผล อธิบาย AI แล้วจบด้วย Timeline และ Demo</a:t>
            </a:r>
          </a:p>
          <a:p xmlns:a="http://schemas.openxmlformats.org/drawingml/2006/main">
            <a:r>
              <a:t>ส่งต่อ: ภาพรวมระบบมีเส้นทางหลักดังนี้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หัวข้อการรายงานจากภาพโจทย์และ ScopeBot.pdf.pdf หน้า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 1 ช่องทาง Web หรือ LINE เป็นจุดรับคำถาม</a:t>
            </a:r>
          </a:p>
          <a:p xmlns:a="http://schemas.openxmlformats.org/drawingml/2006/main">
            <a:r>
              <a:t>ชี้ 2 FastAPI ตรวจสิทธิ์และควบคุมการทำงาน</a:t>
            </a:r>
          </a:p>
          <a:p xmlns:a="http://schemas.openxmlformats.org/drawingml/2006/main">
            <a:r>
              <a:t>ชี้ 3 PostgreSQL เก็บบัญชี บอท และประวัติ</a:t>
            </a:r>
          </a:p>
          <a:p xmlns:a="http://schemas.openxmlformats.org/drawingml/2006/main">
            <a:r>
              <a:t>ชี้ 4 RAG ค้นเอกสารจาก ChromaDB ก่อนเรียก Ollama สร้างคำตอบ จากนั้น FastAPI ส่งกลับช่องทางเดิม</a:t>
            </a:r>
          </a:p>
          <a:p xmlns:a="http://schemas.openxmlformats.org/drawingml/2006/main">
            <a:r>
              <a:t>ยังไม่อธิบาย Cloudflare หรือ embeddings ในหน้านี้</a:t>
            </a:r>
          </a:p>
          <a:p xmlns:a="http://schemas.openxmlformats.org/drawingml/2006/main">
            <a:r>
              <a:t>ส่งต่อ: เริ่มจากส่วนที่ผู้ใช้งานมองเห็น คือ 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api/routers/chat.py; api/routers/line_webhook.py;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ชี้จากซ้ายไปขวา 1 Login ให้ได้ตัวตนผู้ใช้ 2 เข้าหน้าหลัก ChatInterface ที่รวม Sidebar และ Top Bar 3 เลือกบอทเพื่อทดลองถามหรือใช้เมนูจัดการ</a:t>
            </a:r>
          </a:p>
          <a:p xmlns:a="http://schemas.openxmlformats.org/drawingml/2006/main">
            <a:r>
              <a:t>AuthContext เก็บสถานะผู้ใช้ ส่วน useChatSession จัดการข้อความและการสนทนา แล้วส่งคำขอพร้อม token ไป API</a:t>
            </a:r>
          </a:p>
          <a:p xmlns:a="http://schemas.openxmlformats.org/drawingml/2006/main">
            <a:r>
              <a:t>เอกสารรองรับ PDF DOCX TXT CSV ไม่เกิน 10 MB</a:t>
            </a:r>
          </a:p>
          <a:p xmlns:a="http://schemas.openxmlformats.org/drawingml/2006/main">
            <a:r>
              <a:t>ส่งต่อ: เมนูที่เห็นขึ้นอยู่กับบทบาทในระบบ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src/app/routes.tsx; src/app/App.tsx; src/app/components/chat/ChatInterface.tsx; api/routers/documents.py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อ่านทีละแถว Admin จัดการผู้ใช้ ภาพรวม และ Log ส่วนงานบอทยังตรวจเจ้าของ</a:t>
            </a:r>
          </a:p>
          <a:p xmlns:a="http://schemas.openxmlformats.org/drawingml/2006/main">
            <a:r>
              <a:t>Support ในระบบนี้หมายถึงคนดูแลบัญชี เข้าหน้าจัดการผู้ใช้งาน ไม่ใช่ role สำหรับตอบแชท</a:t>
            </a:r>
          </a:p>
          <a:p xmlns:a="http://schemas.openxmlformats.org/drawingml/2006/main">
            <a:r>
              <a:t>User เป็นเจ้าของบอท ใช้เมนูสินค้าและแชทรวมของตัวเอง</a:t>
            </a:r>
          </a:p>
          <a:p xmlns:a="http://schemas.openxmlformats.org/drawingml/2006/main">
            <a:r>
              <a:t>ดังนั้น Demo ต้องให้เจ้าของบอทหรือ Admin เจ้าของบอทตอบแชท ไม่ใช้บัญชี Support</a:t>
            </a:r>
          </a:p>
          <a:p xmlns:a="http://schemas.openxmlformats.org/drawingml/2006/main">
            <a:r>
              <a:t>ส่งต่อ: Backend บังคับสิทธิ์นี้ซ้ำทุกคำขอที่เกี่ยวข้อง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src/app/constants/chat.ts; api/auth.py require_shop_operator, assert_bot_access, visible_bots_query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ชี้เลข 1 Backend รับคำขอจาก Web หรือ webhook ของ LINE</a:t>
            </a:r>
          </a:p>
          <a:p xmlns:a="http://schemas.openxmlformats.org/drawingml/2006/main">
            <a:r>
              <a:t>เลข 2 คำขอ Web ตรวจ JWT บัญชีและสิทธิ์ ส่วน LINE ตรวจ signature</a:t>
            </a:r>
          </a:p>
          <a:p xmlns:a="http://schemas.openxmlformats.org/drawingml/2006/main">
            <a:r>
              <a:t>เลข 3 Router เรียกงาน เช่น จัดการบอท เอกสาร หรือแชท</a:t>
            </a:r>
          </a:p>
          <a:p xmlns:a="http://schemas.openxmlformats.org/drawingml/2006/main">
            <a:r>
              <a:t>เลข 4 อ่านเขียนข้อมูล เรียก RAG แล้วส่งผลกลับ</a:t>
            </a:r>
          </a:p>
          <a:p xmlns:a="http://schemas.openxmlformats.org/drawingml/2006/main">
            <a:r>
              <a:t>ไม่ต้องอ่านทุก endpoint ในช่วงนี้ รายชื่ออยู่ภาคผนวก</a:t>
            </a:r>
          </a:p>
          <a:p xmlns:a="http://schemas.openxmlformats.org/drawingml/2006/main">
            <a:r>
              <a:t>ส่งต่อ: ระบบเก็บข้อมูลสามชนิดในคนละส่วน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api/auth.py; api/routers/*.py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อธิบายจากซ้ายไปขวา PostgreSQL เก็บผู้ใช้ บอท metadata เอกสารและประวัติ ผ่าน SQLAlchemy</a:t>
            </a:r>
          </a:p>
          <a:p xmlns:a="http://schemas.openxmlformats.org/drawingml/2006/main">
            <a:r>
              <a:t>ChromaDB เก็บข้อความย่อยกับ embeddings โดยแยก directory ตาม bot_id ไม่ใช่ PostgreSQL คนละฐานต่อบอท</a:t>
            </a:r>
          </a:p>
          <a:p xmlns:a="http://schemas.openxmlformats.org/drawingml/2006/main">
            <a:r>
              <a:t>Document Storage เก็บไฟล์ต้นฉบับและไฟล์สำหรับนำเข้า</a:t>
            </a:r>
          </a:p>
          <a:p xmlns:a="http://schemas.openxmlformats.org/drawingml/2006/main">
            <a:r>
              <a:t>ส่งต่อ: ดูเฉพาะความสัมพันธ์ฐานข้อมูลที่เกี่ยวกับบอทก่อน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api/database.py; api/models.py; rag/ingest.py;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70 วินาที</a:t>
            </a:r>
          </a:p>
          <a:p xmlns:a="http://schemas.openxmlformats.org/drawingml/2006/main">
            <a:r>
              <a:t>ชี้ users เป็นเจ้าของ bots และ documents ได้หลายรายการ</a:t>
            </a:r>
          </a:p>
          <a:p xmlns:a="http://schemas.openxmlformats.org/drawingml/2006/main">
            <a:r>
              <a:t>บอทกับเอกสารเชื่อมผ่าน bot_documents จึงให้เอกสารเดียวใช้กับหลายบอทได้</a:t>
            </a:r>
          </a:p>
          <a:p xmlns:a="http://schemas.openxmlformats.org/drawingml/2006/main">
            <a:r>
              <a:t>บอทหนึ่งมี conversations หลายรายการ และ live_sessions หลายครั้ง แต่ละ live_session มี live_messages หลายข้อความ</a:t>
            </a:r>
          </a:p>
          <a:p xmlns:a="http://schemas.openxmlformats.org/drawingml/2006/main">
            <a:r>
              <a:t>นี่เป็น ER ย่อ ตาราง notifications password_reset_tokens audit_logs อยู่ในฐานเดียวกันแต่ไม่ใส่ในภาพหลักเพื่อให้อ่านง่าย</a:t>
            </a:r>
          </a:p>
          <a:p xmlns:a="http://schemas.openxmlformats.org/drawingml/2006/main">
            <a:r>
              <a:t>ส่งต่อ: เมื่อบอทมีเอกสารแล้ว ระบบจะสร้างฐานความรู้ให้บอท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 1 ถึง 4 ผู้ใช้ส่งเอกสาร ระบบอ่านและแบ่งข้อความ BGE-M3 แปลงข้อความย่อยเป็น embeddings แล้ว ChromaDB เก็บไว้แยกตามบอท</a:t>
            </a:r>
          </a:p>
          <a:p xmlns:a="http://schemas.openxmlformats.org/drawingml/2006/main">
            <a:r>
              <a:t>ขั้นนี้เป็นการเตรียมดัชนีความรู้ ไม่ใช่ฝึกโมเดลภาษาใหม่ และยังไม่ใช่ขั้นตอบคำถาม</a:t>
            </a:r>
          </a:p>
          <a:p xmlns:a="http://schemas.openxmlformats.org/drawingml/2006/main">
            <a:r>
              <a:t>ส่งต่อ: เมื่อผู้ใช้ถาม ระบบใช้ดัชนีนี้อย่างไร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rag/ingest.py; rag/document_loader.py; rag/chunker.py; api/routers/documents.py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75 วินาที</a:t>
            </a:r>
          </a:p>
          <a:p xmlns:a="http://schemas.openxmlformats.org/drawingml/2006/main">
            <a:r>
              <a:t>ชี้ 1 คำถามใหม่และบริบทคำถามล่าสุดช่วยให้เข้าใจคำถามต่อเนื่อง</a:t>
            </a:r>
          </a:p>
          <a:p xmlns:a="http://schemas.openxmlformats.org/drawingml/2006/main">
            <a:r>
              <a:t>ชี้ 2 ตัว embedding แปลงคำค้นเพื่อหา chunks ที่ใกล้เคียงใน ChromaDB และกรองตาม distance</a:t>
            </a:r>
          </a:p>
          <a:p xmlns:a="http://schemas.openxmlformats.org/drawingml/2006/main">
            <a:r>
              <a:t>ชี้ 3 เอาข้อความที่ค้นได้เป็น context ส่งให้ Ollama พร้อมคำสั่งและประวัติ</a:t>
            </a:r>
          </a:p>
          <a:p xmlns:a="http://schemas.openxmlformats.org/drawingml/2006/main">
            <a:r>
              <a:t>ชี้ 4 คืนคำตอบพร้อมชื่อไฟล์และ snippet ให้ Web ส่วน LINE ส่งเป็นข้อความตาม router</a:t>
            </a:r>
          </a:p>
          <a:p xmlns:a="http://schemas.openxmlformats.org/drawingml/2006/main">
            <a:r>
              <a:t>ChromaDB เชื่อมที่การค้นหา ไม่ได้เป็นเส้นลัดเข้าโมเดล</a:t>
            </a:r>
          </a:p>
          <a:p xmlns:a="http://schemas.openxmlformats.org/drawingml/2006/main">
            <a:r>
              <a:t>ส่งต่อ: ดูคำถามเดียวกันในลำดับเวลาตั้งแต่ส่งจนตอบ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rag/rag_pipeline.py; rag/retriever.py; src/app/hooks/useChatSession.ts; api/routers/line_webhook.py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ชี้หัวคอลัมน์ Web FastAPI และ RAG ก่อน แล้วอ่านจากบนลงล่าง</a:t>
            </a:r>
          </a:p>
          <a:p xmlns:a="http://schemas.openxmlformats.org/drawingml/2006/main">
            <a:r>
              <a:t>1 Web ส่งคำถามและ session 2 FastAPI เรียก RAG หลังตรวจสิทธิ์ 3 RAG คืนคำตอบจากเอกสาร 4 Backend บันทึก conversation 5 ส่งคำตอบกลับ Web</a:t>
            </a:r>
          </a:p>
          <a:p xmlns:a="http://schemas.openxmlformats.org/drawingml/2006/main">
            <a:r>
              <a:t>หน้านี้เป็น sequence แบบย่อ รายละเอียดค้นหาและ LLM อยู่หน้าก่อน</a:t>
            </a:r>
          </a:p>
          <a:p xmlns:a="http://schemas.openxmlformats.org/drawingml/2006/main">
            <a:r>
              <a:t>ส่งต่อ: อีกเส้นทางหนึ่งเกิดเมื่อบอทตอบไม่ได้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api/routers/chat.py;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อ่านตามเลข 1 ถึง 4 bot ตอบจากเอกสาร เมื่อเข้า handoff จะรอใน waiting พอคนตอบครั้งแรกจึงเปลี่ยนเป็น human หลังจบงานกลับ bot และปิด active session</a:t>
            </a:r>
          </a:p>
          <a:p xmlns:a="http://schemas.openxmlformats.org/drawingml/2006/main">
            <a:r>
              <a:t>Web ที่ไม่พบคำตอบแสดงปุ่มให้เลือกติดต่อเจ้าหน้าที่ ส่วน LINE สามารถเข้าสู่คิวอัตโนมัติ</a:t>
            </a:r>
          </a:p>
          <a:p xmlns:a="http://schemas.openxmlformats.org/drawingml/2006/main">
            <a:r>
              <a:t>คนตอบคือเจ้าของบอทหรือ Admin ที่เป็นเจ้าของ ไม่ใช่ role Support ของแพลตฟอร์ม</a:t>
            </a:r>
          </a:p>
          <a:p xmlns:a="http://schemas.openxmlformats.org/drawingml/2006/main">
            <a:r>
              <a:t>ส่งต่อ: ทั้งสองช่องทางเชื่อมผ่าน deployment เดียวกัน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api/routers/chat.py; api/routers/live_chat.py; api/routers/line_webhook.py; api/auth.py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อ่านซ้ายไปขวา Browser และ LINE ส่ง HTTPS เข้า Tunnel จากนั้นไป Nginx</a:t>
            </a:r>
          </a:p>
          <a:p xmlns:a="http://schemas.openxmlformats.org/drawingml/2006/main">
            <a:r>
              <a:t>Nginx ให้ไฟล์ React กับ browser ส่วนเส้นทาง /api/ ส่งไป FastAPI รวม webhook</a:t>
            </a:r>
          </a:p>
          <a:p xmlns:a="http://schemas.openxmlformats.org/drawingml/2006/main">
            <a:r>
              <a:t>FastAPI ติดต่อ PostgreSQL และ volume เอกสารกับ ChromaDB ภายใน deployment ส่วน Ollama รันบน host ตาม compose</a:t>
            </a:r>
          </a:p>
          <a:p xmlns:a="http://schemas.openxmlformats.org/drawingml/2006/main">
            <a:r>
              <a:t>ส่งต่อ: ต่อไปคือแผนดำเนินงานและส่วนที่ใช้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docker-compose.yml; docker-compose.tunnel.yml; deploy/nginx.conf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60 วินาที</a:t>
            </a:r>
          </a:p>
          <a:p xmlns:a="http://schemas.openxmlformats.org/drawingml/2006/main">
            <a:r>
              <a:t>เล่าจากบนลงล่าง มีนาคมออกแบบ เมษายนถึงพฤษภาคมพัฒนาแกนหลัก มิถุนายนถึงสิงหาคมปรับ RAG และ handoff กันยายนเตรียม demo และทดสอบ ตุลาคมเตรียมส่งมอบ</a:t>
            </a:r>
          </a:p>
          <a:p xmlns:a="http://schemas.openxmlformats.org/drawingml/2006/main">
            <a:r>
              <a:t>สถานะในสองช่วงท้ายแสดงเป็นแผนตามไฟล์ต้นฉบับ ไม่กล่าวว่า UAT ผ่านแล้วหากยังไม่มีผลทดสอบ</a:t>
            </a:r>
          </a:p>
          <a:p xmlns:a="http://schemas.openxmlformats.org/drawingml/2006/main">
            <a:r>
              <a:t>ส่งต่อ: สำหรับการสาธิตรอบนี้จะเดินตามเส้นทางที่เตรียมไว้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ScopeBot.pdf.pdf หน้า 12 แผนงานเดิม; git log ยืนยันงานที่ปรากฏใน repository ถึง 4 ก.ย.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 นาที</a:t>
            </a:r>
          </a:p>
          <a:p xmlns:a="http://schemas.openxmlformats.org/drawingml/2006/main">
            <a:r>
              <a:t>ก่อนเริ่ม เปิดบัญชีเจ้าของบอทที่ได้รับอนุมัติและบอท active เตรียมเอกสารสาธิตที่ไม่มีข้อมูลส่วนบุคคล เปิด LINE OA อีกหน้าจอ</a:t>
            </a:r>
          </a:p>
          <a:p xmlns:a="http://schemas.openxmlformats.org/drawingml/2006/main">
            <a:r>
              <a:t>1 แสดงบอทและเอกสารที่ใช้ 2 ถามเรื่องที่มีคำตอบในเอกสาร 3 เปิดชื่อไฟล์และ snippet บน Web 4 จาก LINE ขอคุยเจ้าหน้าที่ แล้วใช้บัญชีเจ้าของบอทเปิดแชทรวม ตอบและจบ session</a:t>
            </a:r>
          </a:p>
          <a:p xmlns:a="http://schemas.openxmlformats.org/drawingml/2006/main">
            <a:r>
              <a:t>ถ้า LINE ยังไม่พร้อมใช้ Web handoff กับบัญชีเจ้าของเดิมคนละหน้าต่างได้ ถ้าระบบช้าให้พูดอธิบายจาก flow ที่เตรียมไว้ ไม่กล่าวว่าทำงานสำเร็จจนเห็นผลจริง</a:t>
            </a:r>
          </a:p>
          <a:p xmlns:a="http://schemas.openxmlformats.org/drawingml/2006/main">
            <a:r>
              <a:t>ส่งต่อ: สรุปสิ่งที่ได้เห็นจาก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src/app/components/chat/BotsPage.tsx; src/app/components/admin/UnifiedChat.tsx; api/routers/live_chat.py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40 วินาที</a:t>
            </a:r>
          </a:p>
          <a:p xmlns:a="http://schemas.openxmlformats.org/drawingml/2006/main">
            <a:r>
              <a:t>สรุปทีละบรรทัด Frontend เป็นจุดใช้งาน FastAPI ควบคุมงานและสิทธิ์ RAG ค้นเอกสารก่อนเรียกโมเดล ส่วนคนรับช่วงเมื่อระบบไม่มีคำตอบ</a:t>
            </a:r>
          </a:p>
          <a:p xmlns:a="http://schemas.openxmlformats.org/drawingml/2006/main">
            <a:r>
              <a:t>ปิดด้วย ขอบคุณครับหรือค่ะ ยินดีตอบคำถามเรื่องโครงสร้าง การเก็บข้อมูล หรือการทำงานที่สาธิตไป</a:t>
            </a:r>
          </a:p>
          <a:p xmlns:a="http://schemas.openxmlformats.org/drawingml/2006/main">
            <a:r>
              <a:t>ภาคผนวกถัดไปเปิดเมื่อมีคำถามเรื่อง API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README.md; api/main.py;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ไม่จำเป็นต้องอ่านหน้านี้ในช่วงหลัก</a:t>
            </a:r>
          </a:p>
          <a:p xmlns:a="http://schemas.openxmlformats.org/drawingml/2006/main">
            <a:r>
              <a:t>อธิบายเฉพาะกลุ่มที่ผู้ฟังถาม เช่น /api/auth สำหรับบัญชี /api/bots และ /api/documents สำหรับความรู้ /api/chat สำหรับคำถามและประวัติ /api/live สำหรับรับช่วงแชท</a:t>
            </a:r>
          </a:p>
          <a:p xmlns:a="http://schemas.openxmlformats.org/drawingml/2006/main">
            <a:r>
              <a:t>LINE webhook จริงมี bot_id ต่อท้าย และตรวจ signature ส่วน /api/health เป็นจุดตรวจสถานะ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แหล่งอ้างอิง: api/main.py; api/routers/*.py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6f8d0dc00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70ca960ef4282" /><Relationship Type="http://schemas.openxmlformats.org/officeDocument/2006/relationships/slideLayout" Target="/ppt/slideLayouts/slideLayout1.xml" Id="R365661a02a0548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5661a02a0548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63a2703c740a4" /><Relationship Type="http://schemas.openxmlformats.org/officeDocument/2006/relationships/image" Target="/ppt/media/image.png" Id="Rc8b92fcd00f44986" /><Relationship Type="http://schemas.openxmlformats.org/officeDocument/2006/relationships/notesSlide" Target="/ppt/notesSlides/notesSlide1.xml" Id="R3f30c609663247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d11f8468b4381" /><Relationship Type="http://schemas.openxmlformats.org/officeDocument/2006/relationships/image" Target="/ppt/media/image.jpeg" Id="Rd77434a58a3246ce" /><Relationship Type="http://schemas.openxmlformats.org/officeDocument/2006/relationships/image" Target="/ppt/media/image2.jpeg" Id="Raf325b5286d44e90" /><Relationship Type="http://schemas.openxmlformats.org/officeDocument/2006/relationships/image" Target="/ppt/media/image3.jpeg" Id="Ra84ffa3f45454ae9" /><Relationship Type="http://schemas.openxmlformats.org/officeDocument/2006/relationships/image" Target="/ppt/media/image4.jpeg" Id="R73ed0ccc768340f4" /><Relationship Type="http://schemas.openxmlformats.org/officeDocument/2006/relationships/image" Target="/ppt/media/image5.jpeg" Id="R7940a518e2bd4e09" /><Relationship Type="http://schemas.openxmlformats.org/officeDocument/2006/relationships/notesSlide" Target="/ppt/notesSlides/notesSlide2.xml" Id="Rff851e136c1148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0e33af0214b2e" /><Relationship Type="http://schemas.openxmlformats.org/officeDocument/2006/relationships/notesSlide" Target="/ppt/notesSlides/notesSlide3.xml" Id="Rca3575df405a4b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0a6dafff54495" /><Relationship Type="http://schemas.openxmlformats.org/officeDocument/2006/relationships/notesSlide" Target="/ppt/notesSlides/notesSlide4.xml" Id="R5d68493a87a74b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bb5209a5546c9" /><Relationship Type="http://schemas.openxmlformats.org/officeDocument/2006/relationships/notesSlide" Target="/ppt/notesSlides/notesSlide5.xml" Id="R455880f1f0434c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b885f8b51415c" /><Relationship Type="http://schemas.openxmlformats.org/officeDocument/2006/relationships/notesSlide" Target="/ppt/notesSlides/notesSlide6.xml" Id="R088386ab63364c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7b3f03ff44d6c" /><Relationship Type="http://schemas.openxmlformats.org/officeDocument/2006/relationships/notesSlide" Target="/ppt/notesSlides/notesSlide7.xml" Id="Recb18d6bc98346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338b663144c27" /><Relationship Type="http://schemas.openxmlformats.org/officeDocument/2006/relationships/notesSlide" Target="/ppt/notesSlides/notesSlide8.xml" Id="R09de8e8eb13d4c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33a1cd9404b5e" /><Relationship Type="http://schemas.openxmlformats.org/officeDocument/2006/relationships/notesSlide" Target="/ppt/notesSlides/notesSlide9.xml" Id="R337bd25c02984a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c9d9d9e394c84" /><Relationship Type="http://schemas.openxmlformats.org/officeDocument/2006/relationships/notesSlide" Target="/ppt/notesSlides/notesSlide10.xml" Id="Rf6570c814d6242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9f594519240cd" /><Relationship Type="http://schemas.openxmlformats.org/officeDocument/2006/relationships/notesSlide" Target="/ppt/notesSlides/notesSlide11.xml" Id="R2292ddd1e70540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1bf65106d4575" /><Relationship Type="http://schemas.openxmlformats.org/officeDocument/2006/relationships/notesSlide" Target="/ppt/notesSlides/notesSlide12.xml" Id="Rf37473dd21fe43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e1852313d4e0c" /><Relationship Type="http://schemas.openxmlformats.org/officeDocument/2006/relationships/notesSlide" Target="/ppt/notesSlides/notesSlide13.xml" Id="R8b9dd937d8c54f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e5b033fe467f" /><Relationship Type="http://schemas.openxmlformats.org/officeDocument/2006/relationships/notesSlide" Target="/ppt/notesSlides/notesSlide14.xml" Id="R791e4bdf26994f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699322ade4896" /><Relationship Type="http://schemas.openxmlformats.org/officeDocument/2006/relationships/notesSlide" Target="/ppt/notesSlides/notesSlide15.xml" Id="Rf4fa10e56e4447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1de8b34ba42e7" /><Relationship Type="http://schemas.openxmlformats.org/officeDocument/2006/relationships/notesSlide" Target="/ppt/notesSlides/notesSlide16.xml" Id="R5944e0ba959041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8f3be79f04fb6" /><Relationship Type="http://schemas.openxmlformats.org/officeDocument/2006/relationships/notesSlide" Target="/ppt/notesSlides/notesSlide17.xml" Id="Ra8654839712241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7f146da354209" /><Relationship Type="http://schemas.openxmlformats.org/officeDocument/2006/relationships/notesSlide" Target="/ppt/notesSlides/notesSlide18.xml" Id="R406f05dca68941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04E15-EF0A-4634-98F5-B1B9C3F7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95B39-85C2-4E07-9A15-521576B4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ระบบตอบคำถามจากเอกสารผ่าน Web และ 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281A3-0E65-41E4-A895-E171A9F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7C8EE-A5F3-46F4-A561-F18E853A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2E7F-375E-4029-808F-BE185035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เอกสารองค์กร</a:t>
            </a:r>
          </a:p>
          <a:p xmlns:a="http://schemas.openxmlformats.org/drawingml/2006/main">
            <a:pPr algn="l">
              <a:defRPr sz="37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สู่คำตอบที่ตรวจสอบได้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3115A-06A3-4821-987A-C13CBAEE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ภาพรวมระบบ  /  การพัฒนา  /  Demo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92fcd00f44986"/>
          <a:stretch xmlns:a="http://schemas.openxmlformats.org/drawingml/2006/main"/>
        </p:blipFill>
        <p:spPr>
          <a:xfrm xmlns:a="http://schemas.openxmlformats.org/drawingml/2006/main">
            <a:off x="8858250" y="2074793"/>
            <a:ext cx="2667000" cy="28989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10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9FC7B-8D0A-4130-A0AD-9527D0BD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ทีมผู้นำเสนอ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24BF4-7A95-49EB-8794-36FDD0F5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ทุกคนบอกชื่อเล่นก่อนเริ่มช่วงของตน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4D70D-73E5-4C35-99B0-EF8E5ED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FC701-F191-463D-952C-08A32867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434a58a3246ce"/>
          <a:stretch xmlns:a="http://schemas.openxmlformats.org/drawingml/2006/main"/>
        </p:blipFill>
        <p:spPr>
          <a:xfrm xmlns:a="http://schemas.openxmlformats.org/drawingml/2006/main">
            <a:off x="808137" y="1952625"/>
            <a:ext cx="1526977" cy="2714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0A26C-4DDE-4321-BD45-CAFD400F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ก้อง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687BE-AFD1-4FFB-9602-53B2871B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ภควัต สุขสมโสตร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25b5286d44e90"/>
          <a:stretch xmlns:a="http://schemas.openxmlformats.org/drawingml/2006/main"/>
        </p:blipFill>
        <p:spPr>
          <a:xfrm xmlns:a="http://schemas.openxmlformats.org/drawingml/2006/main">
            <a:off x="2809875" y="1975746"/>
            <a:ext cx="2000250" cy="266838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3AA78-05F9-428E-AF9E-076115A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ป๊อกกี้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3AC61-409E-4FF8-9978-AA4F2140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ชัชชญา จอมพงษ์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ffa3f45454ae9"/>
          <a:stretch xmlns:a="http://schemas.openxmlformats.org/drawingml/2006/main"/>
        </p:blipFill>
        <p:spPr>
          <a:xfrm xmlns:a="http://schemas.openxmlformats.org/drawingml/2006/main">
            <a:off x="5048250" y="1975836"/>
            <a:ext cx="2000250" cy="266820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A2F45-6D32-44F3-AE99-D3E62187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ฟลุ๊ค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FFF41-A272-477E-ACF6-A89423C7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พสิษฐ์ ลี้ไพบูลย์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d0ccc768340f4"/>
          <a:stretch xmlns:a="http://schemas.openxmlformats.org/drawingml/2006/main"/>
        </p:blipFill>
        <p:spPr>
          <a:xfrm xmlns:a="http://schemas.openxmlformats.org/drawingml/2006/main">
            <a:off x="7522841" y="1952625"/>
            <a:ext cx="1527818" cy="27146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FE89E-44C8-4D24-BE63-377FCCB6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ฟอร์ด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995C7-CB96-4A4A-B453-0E92EAEB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นรากร นิลรวม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0a518e2bd4e09"/>
          <a:stretch xmlns:a="http://schemas.openxmlformats.org/drawingml/2006/main"/>
        </p:blipFill>
        <p:spPr>
          <a:xfrm xmlns:a="http://schemas.openxmlformats.org/drawingml/2006/main">
            <a:off x="9525000" y="2453492"/>
            <a:ext cx="2000250" cy="171289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E24CC-56CD-4E79-BE90-13CB6120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10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มอส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538D1-A009-480A-9B63-8BA516C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673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ดุษฎี จันทรสุวรรณ</a:t>
            </a:r>
          </a:p>
        </p:txBody>
      </p:sp>
    </p:spTree>
    <p:extLst>
      <p:ext uri="{BB962C8B-B14F-4D97-AF65-F5344CB8AC3E}">
        <p14:creationId xmlns:p14="http://schemas.microsoft.com/office/powerpoint/2010/main" val="540501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1A55D-BF7C-4235-8154-4431CA96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ลำดับการนำเสนอ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0AFC4-4D8E-4FEC-AA2B-178207B8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ภาพรวมก่อน แล้วจึงอธิบายแต่ละส่วนและสาธิต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B2AC7-74D2-4D6B-A6A9-BDEEE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62F2E-601F-4E85-ADE2-1808CAD9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1C300-1180-4231-8FF9-167B1CC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01  ภาพรวมระบบ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9766-CBA3-4BDC-9AB4-9AB86993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AC57E8"/>
                </a:solidFill>
                <a:latin typeface="Tahoma"/>
                <a:ea typeface="Tahoma"/>
                <a:cs typeface="Tahoma"/>
              </a:rPr>
              <a:t>02  Frontend และบทบาท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FF42A-0FC6-4E62-AA1C-F8C88841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03  Backend และ 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BE12E-7296-4267-B9CE-F9EF7E1D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AC57E8"/>
                </a:solidFill>
                <a:latin typeface="Tahoma"/>
                <a:ea typeface="Tahoma"/>
                <a:cs typeface="Tahoma"/>
              </a:rPr>
              <a:t>04  AI และการส่งต่อคน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82107-3023-42D5-93B1-D6490E62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05  Timeline และ Demo</a:t>
            </a:r>
          </a:p>
        </p:txBody>
      </p:sp>
    </p:spTree>
    <p:extLst>
      <p:ext uri="{BB962C8B-B14F-4D97-AF65-F5344CB8AC3E}">
        <p14:creationId xmlns:p14="http://schemas.microsoft.com/office/powerpoint/2010/main" val="330578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1A82A-735C-4DFA-8F1C-79000046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ภาพรวมระบบ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05311-CAFF-4A5B-ACAC-BC8A25A7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อ่านจากช่องทางด้านซ้าย ไปยัง FastAPI แล้วแยกไปข้อมูลและ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998A3-63D2-4D20-B36A-A6A5D9C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FEB41-56E6-466F-B566-11662B77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1807D-300E-415E-9FF6-B5A06FF3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6193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Web / React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34F2E-60C3-457D-A7C8-AFC48AD4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26193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66D5AE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LINE OA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7C020-09BD-4644-BA5E-905F11E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FastAPI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จัดการคำขอ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209A5-225E-4BDA-A173-15FC34C0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PostgreSQL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ข้อมูลระบบ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02483-7539-4362-A31C-495E5CF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RAG + Ollama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ค้นเอกสารและตอบ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2667000"/>
            <a:ext cx="14287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90875" y="3524250"/>
            <a:ext cx="1428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D5AE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096125" y="2667000"/>
            <a:ext cx="17621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headEnd type="triangle" w="med" len="me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96125" y="3524250"/>
            <a:ext cx="17621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headEnd type="triangle" w="med" len="me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B9FD0-F781-4AB3-9BE3-CB9AAE9C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คำตอบย้อนกลับผ่าน FastAPI ไปยัง Web หรือ LINE ที่ส่งคำถามมา</a:t>
            </a:r>
          </a:p>
        </p:txBody>
      </p:sp>
    </p:spTree>
    <p:extLst>
      <p:ext uri="{BB962C8B-B14F-4D97-AF65-F5344CB8AC3E}">
        <p14:creationId xmlns:p14="http://schemas.microsoft.com/office/powerpoint/2010/main" val="1754029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CB11E-3FC2-4D7D-B542-D365EA03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FD3B5-C13A-4F30-BDA3-0BB6AAF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React + Vite + Tailwind CSS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279EC-47F9-445F-914F-9A1E5AD4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6E830-1844-4DE5-A9A4-6F436A03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3B8FE-82E9-4EA7-80CB-213AA2CB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เข้าสู่ระบบ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931BA-9562-4D29-967B-A094A477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หน้าหลัก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ChatInterface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32B26-6692-4A2D-8EE2-E93E22AC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เลือกเมนู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 / แชท / จัดการ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10EF8-0580-4592-9DD9-5F13146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สถานะผู้ใช้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BBE21-D661-4FD8-AE8E-999C08B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AuthContext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E4D49-9B1F-4A27-A3E5-4A9C1FF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สถานะแชท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DBB7C-5B95-4D2E-9BC2-7C3DCA3E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useChatSession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53C72-0BE1-44F7-9D83-E653DEFE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เชื่อม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F6FFD-D91E-4586-AC8B-C677D59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HTTP พร้อม JWT</a:t>
            </a:r>
          </a:p>
        </p:txBody>
      </p:sp>
    </p:spTree>
    <p:extLst>
      <p:ext uri="{BB962C8B-B14F-4D97-AF65-F5344CB8AC3E}">
        <p14:creationId xmlns:p14="http://schemas.microsoft.com/office/powerpoint/2010/main" val="478031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F6702-73AB-452F-BB38-BE1F7A10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บทบาทและขอบเขตข้อมูล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C0CE5-863C-483F-B242-CF1D8334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สิทธิ์ของแพลตฟอร์มแยกจากหน้าที่ตอบแชทลูกค้า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929C7-1257-4319-91D6-29C7758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606A5-F6E9-491E-8DB4-D19AD9DF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DD30D-CB26-40CD-996E-869B5EF4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73B18-FB3C-478F-BCA4-22264EDB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478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จัดการผู้ใช้ ภาพรวม และ Audit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913EE-1D69-4A1F-8A7F-A0787293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24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บอทและแชทอยู่ในขอบเขตที่ตนเป็นเจ้าของ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7BAC2-3C30-4BB5-81B5-9F3B792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7657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05D84-954B-4402-B6B5-6FBB6EF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AC57E8"/>
                </a:solidFill>
                <a:latin typeface="Tahoma"/>
                <a:ea typeface="Tahoma"/>
                <a:cs typeface="Tahoma"/>
              </a:rPr>
              <a:t>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6B5DD-A203-4133-8408-377794E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908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ดูแลและอนุมัติบัญชีผู้ใช้งาน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C43F6-E495-496F-8FEA-96A03DD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67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ไม่เข้าหน้าบอทและไม่ตอบ Live Chat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FFF9C-170F-471E-8609-CEE115A3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4D4C2-528D-4B62-BD8D-46BE73E4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7E306-AB06-4D27-8337-1AE6A31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38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เจ้าของบอทและเอกสาร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DE457-3612-4CE2-A8B3-ABDA293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0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ใช้งานบอท ประวัติ การเชื่อมต่อ และแชทรวมของตน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08B96-2FE8-4CB0-86B8-94953A97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คนตอบแชท = เจ้าของบอทหรือ Admin ที่เป็นเจ้าของบอทนั้น</a:t>
            </a:r>
          </a:p>
        </p:txBody>
      </p:sp>
    </p:spTree>
    <p:extLst>
      <p:ext uri="{BB962C8B-B14F-4D97-AF65-F5344CB8AC3E}">
        <p14:creationId xmlns:p14="http://schemas.microsoft.com/office/powerpoint/2010/main" val="788857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09839-5A52-4DDD-A262-5021EBBB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089A5-615E-440D-8005-F83DAE8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Python คือภาษา  FastAPI คือ framework  JWT ใช้ยืนยันตัวตน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92908-1882-40B2-942E-CE3F4796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DFDEA-719D-4D41-B292-CA36B07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BC217-6C99-4798-8D93-FEDE8ED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รับคำขอ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F5FD-972A-4653-A74F-5ECD66E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ตรวจสิทธิ์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787C8-9843-40F6-A769-EFF81F2E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เลือกงาน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E16D0-086D-4765-B310-8D9098D1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ประมวลผล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952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2952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2952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3DC78-0663-4793-B7B4-5712CD15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Web และ 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5AB02-CB84-4384-A7D6-54044588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JWT / Signature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8A1D7-5E1F-45B4-B188-769F151C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Bots / Chat / 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CCC30-49C2-4703-A2A8-21FA23A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Database /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45BE3-09D8-4DD7-A809-5940698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FastAPI เป็นจุดประสานงาน และคืนผลลัพธ์หรือข้อผิดพลาดไปยังผู้เรียก</a:t>
            </a:r>
          </a:p>
        </p:txBody>
      </p:sp>
    </p:spTree>
    <p:extLst>
      <p:ext uri="{BB962C8B-B14F-4D97-AF65-F5344CB8AC3E}">
        <p14:creationId xmlns:p14="http://schemas.microsoft.com/office/powerpoint/2010/main" val="1215002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0DBEA-920B-4FF8-9382-6EA7D142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ข้อมูลอยู่ที่ไหน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11B88-E78D-4E45-8778-F9F6A93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PostgreSQL เก็บข้อมูลระบบ  ChromaDB เก็บดัชนีความรู้  Storage เก็บไฟล์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B83F-4472-4AF0-A651-72B20B33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58DD8-1360-431F-A484-D4DECC6D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A8F59-43EB-44EC-8C62-316034B3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286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9D0FE-4622-4813-AA4D-C4F84BF2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286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ChromaDB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7DCCD-08DA-47D1-9430-E3F5D1E9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286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66D5AE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Document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073DF-830A-4B99-9751-DA4495D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95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บัญชีและสิทธิ์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บอทและรายการเอกสาร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ประวัติแชทและ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4FF42-0364-4B45-962D-E5A6B716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095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ข้อความย่อยและเวกเตอร์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ค้นหาเนื้อหาที่เกี่ยวข้อง</a:t>
            </a:r>
          </a:p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แยกดัชนีตาม bot_id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81238-332E-45F3-A4F4-73AA4CAB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3095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ไฟล์ที่อัปโหลด</a:t>
            </a:r>
          </a:p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PDF DOCX TXT CSV</a:t>
            </a:r>
          </a:p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Docker volume: uploads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CEC2-15CA-499A-BEE3-72CD5AD9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เชื่อม PostgreSQL ผ่าน SQLAlchemy และ DATABASE_URL</a:t>
            </a:r>
          </a:p>
        </p:txBody>
      </p:sp>
    </p:spTree>
    <p:extLst>
      <p:ext uri="{BB962C8B-B14F-4D97-AF65-F5344CB8AC3E}">
        <p14:creationId xmlns:p14="http://schemas.microsoft.com/office/powerpoint/2010/main" val="1081047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993D0-4AAB-45EE-9F12-06872190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Database Relationships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FD604-8071-4197-A196-7132FCC3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เริ่มจาก users แล้วตามไป bots และเอกสารที่ผูกกับบอท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26CB-43B3-4D96-995E-894AEDF6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0D0C9-7EB3-4661-932A-F0E319E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FFD15-3A89-4A4C-89DD-8986EDD0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809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D4DE7-038E-4CF3-8B4A-5747BAB7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1809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D8552-5366-4468-AEE2-CE9D477A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333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bot_documents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9CC19-D23E-401F-9706-048FBD5E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21431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B340D-4058-46F8-A45A-2A9ABF35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2190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conversations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7DD26-A4D4-40AC-BF1A-9394F32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2190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live_sessions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5376A-9668-47E2-B116-C67E773C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2190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live_messages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81250" y="27384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7384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524875" y="27384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238625" y="31432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238625" y="3143250"/>
            <a:ext cx="3143250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77250" y="4786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18B0D-3530-4F58-A099-4EA8BBCA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5737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1FD0D-B9E8-4774-AC41-E23356FD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5737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2EFB2-33EA-487A-8D70-1DF90B37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5737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N :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AD7C8-4184-4F9D-A56E-9A31039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00B72-AB4F-4EEB-B662-70A56ADF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957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61C45-FD55-4A6E-9039-6A6DD88B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338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 : 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3BF98-83CA-450F-A81C-1F360989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users เป็นเจ้าของ documents ด้วย  •  bots ↔ documents เป็น N : M ผ่านตารางเชื่อม</a:t>
            </a:r>
          </a:p>
        </p:txBody>
      </p:sp>
    </p:spTree>
    <p:extLst>
      <p:ext uri="{BB962C8B-B14F-4D97-AF65-F5344CB8AC3E}">
        <p14:creationId xmlns:p14="http://schemas.microsoft.com/office/powerpoint/2010/main" val="2000838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D83FC-F1EC-4F42-87F9-676AC737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RAG ขั้นที่ 1 เตรียมความรู้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D44F6-4D1B-4A7F-A1AF-533CF635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ทำเมื่อเพิ่ม เปลี่ยน หรือสั่งประมวลผลเอกสารของบอท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2D1FE-7756-47F9-9992-C7A602B7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A9A7F-8D57-4DAC-8786-86C76AE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FCF5A-858E-47FA-808A-B9DFD5A9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เอกสาร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ของบอท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637B9-ED99-4203-844A-C1C2E038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อ่านและแบ่ง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ข้อความ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E60EA-964F-4387-8794-5861FB21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BGE-M3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สร้างเวกเตอร์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83C84-2435-4F98-8FED-DAFEBA7C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ChromaDB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เก็บดัชนี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5C83E-F752-40C0-8E2F-FEDC3C5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PDF / DOCX / TXT / 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99889-275E-46B6-A141-7A307D00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แยกที่ vector_db/{bot_id}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6C98A-2188-48EB-BFB0-B09717F3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การอัปเดตเอกสารทำให้บอทที่ใช้เอกสารนั้นต้องประมวลผลความรู้ใหม่</a:t>
            </a:r>
          </a:p>
        </p:txBody>
      </p:sp>
    </p:spTree>
    <p:extLst>
      <p:ext uri="{BB962C8B-B14F-4D97-AF65-F5344CB8AC3E}">
        <p14:creationId xmlns:p14="http://schemas.microsoft.com/office/powerpoint/2010/main" val="1913451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82A7D-F413-47EB-A70F-F1D09033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RAG ขั้นที่ 2 ตอบคำถาม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45CC8-C112-4DFD-B577-86010C40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ค้นเนื้อหาที่เกี่ยวข้องก่อนให้โมเดลเรียบเรียงคำตอบ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A3319-8077-4AF8-8F5C-F709F6B9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6AF07-0076-4CF0-A9FB-0184503A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EC309-C53B-452D-947A-9A4DD0C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คำถาม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และบริบท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27738-4BF2-4116-849D-373E2912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ค้นข้อความ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ที่เกี่ยวข้อง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495A2-E21B-43BF-B6C5-0742F018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Ollama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อ่าน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172A7-0F10-47C2-8FA8-5573D43C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คำตอบ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และแหล่งอ้างอิง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F4ACD-C15C-4989-A952-3C812D7B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33875"/>
            <a:ext cx="242887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ChromaDB</a:t>
            </a:r>
          </a:p>
        </p:txBody>
      </p:sp>
      <p:cxnSp>
        <p:nvCxnSpPr>
          <p:cNvPr id="28" name=""/>
          <p:cNvCxnSpPr>
            <a:stCxn xmlns:a="http://schemas.openxmlformats.org/drawingml/2006/main" id="12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4667250" y="3476625"/>
            <a:ext cx="428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AC57E8"/>
            </a:solidFill>
            <a:headEnd type="triangle" w="med" len="me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86724-3093-43AF-B7AE-4708E2D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95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BGE-M3 ใช้ค้นหา</a:t>
            </a:r>
          </a:p>
          <a:p xmlns:a="http://schemas.openxmlformats.org/drawingml/2006/main">
            <a:pPr algn="l">
              <a:defRPr sz="210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Ollama ใช้เรียบเรียงคำตอบ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4EF82-7A6C-44C8-A470-3246F9C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หากไม่พบข้อมูล ระบบเสนอหรือเริ่มการส่งต่อเจ้าหน้าที่ตามช่องทาง</a:t>
            </a:r>
          </a:p>
        </p:txBody>
      </p:sp>
    </p:spTree>
    <p:extLst>
      <p:ext uri="{BB962C8B-B14F-4D97-AF65-F5344CB8AC3E}">
        <p14:creationId xmlns:p14="http://schemas.microsoft.com/office/powerpoint/2010/main" val="15374391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70187-9608-4F11-9EE4-B4D78A61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Sequence ของคำถามหนึ่งครั้ง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B5075-A659-4DB6-AA44-FDCD691A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เวลาเดินจากบนลงล่าง อ่านลูกศรตามเลข 1 ถึง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65AF5-6A29-4A32-AF22-1EFF56EC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1A0DF-E631-414F-80F1-AE2A2C85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98CE5-769E-4747-8470-9E399C9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9C17F-229C-497D-83DA-2F051CA5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65DCB-7D61-4D76-AFC0-BA293521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D59B8-7CC3-4976-A952-795A99D1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F0C4B-E84C-49A1-80DF-FF211F69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AC57E8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39966-5163-4AE5-8354-C312A5E2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A5241-0EEC-449C-A51E-125B3A2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86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5639F-B888-4546-866D-4B1FCB58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819275" y="2890838"/>
            <a:ext cx="427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69769-0D92-47AC-BF84-002EB804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ส่งคำถามและ 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29454-872C-4A7E-AE37-0A30AFA2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32635-D983-4BD8-8DDC-70423CEC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105525" y="3481388"/>
            <a:ext cx="418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31D1A-3507-4B06-9962-C4D66F1D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เรียก 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1FD9B-8F49-4989-8B2B-71B22258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58D3D-2855-4026-8D0E-ADC0BB92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6105525" y="4100513"/>
            <a:ext cx="418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496C8-DCA1-4A56-A6EF-1B8B7223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คืนคำตอบและ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CC10E-A84F-4CCD-9A76-F57D7E0B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57675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4  บันทึก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B2F81-1AA5-4C0E-9728-A1E5040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67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86A792-AB1F-41DB-B21E-8759242E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67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1819275" y="5272088"/>
            <a:ext cx="4276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6D454-8791-48EF-AC8C-AB437BA1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5  ส่งผลกลับ Web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3BF13-53B6-4268-8AB3-876DEF3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ลูกศรแสดงการเรียกและการคืนผล ไม่ได้แสดงเวลาในการประมวลผลจริง</a:t>
            </a:r>
          </a:p>
        </p:txBody>
      </p:sp>
    </p:spTree>
    <p:extLst>
      <p:ext uri="{BB962C8B-B14F-4D97-AF65-F5344CB8AC3E}">
        <p14:creationId xmlns:p14="http://schemas.microsoft.com/office/powerpoint/2010/main" val="1068406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58AF6-690A-47BB-8531-272E0A8D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เมื่อบอทตอบไม่ได้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4322C-FC3A-4DC3-8040-6DCD7692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สถานะการสนทนามี bot waiting และ human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3977A-6446-4F89-8E09-2842B7B0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6D563-2872-43B5-BD28-C61FB27C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128D4-BAE8-45F4-921D-D7F0430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1  bot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บอทตอบ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E531-51E6-4983-AB93-6187F77F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2  waiting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รอคนรับ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F5A8C-3BD2-4ABF-99FA-33810194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3  human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คนตอบแชท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12377-0950-4BDA-BBFC-871C889C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FFBF69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4  bot</a:t>
            </a:r>
          </a:p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จบ session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000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3000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000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BF69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BA27C-60B7-4196-B897-B16C093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5854D-73FC-439C-9ED5-7DE7FAE8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8150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แสดงปุ่มติดต่อเจ้าหน้าที่เมื่อไม่พบคำตอบ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3C02F-0684-4B13-B1F2-4CEF78B9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D5A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66D5AE"/>
                </a:solidFill>
                <a:latin typeface="Tahoma"/>
                <a:ea typeface="Tahoma"/>
                <a:cs typeface="Tahoma"/>
              </a:rPr>
              <a:t>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4E02E-B83F-47C4-9632-6A0500B2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0062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เข้าสู่คิวเมื่อไม่พบคำตอบหรือขอคุยกับคน</a:t>
            </a:r>
          </a:p>
        </p:txBody>
      </p:sp>
    </p:spTree>
    <p:extLst>
      <p:ext uri="{BB962C8B-B14F-4D97-AF65-F5344CB8AC3E}">
        <p14:creationId xmlns:p14="http://schemas.microsoft.com/office/powerpoint/2010/main" val="969914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E1D0C-5903-4A02-8E54-62697CE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A9FB7-A510-4112-A522-89740ADA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Cloudflare Tunnel รับ Web และ LINE ผ่าน Nginx จุดเดียว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920E7-824C-491A-B675-4B027F6F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EDEF7-D24C-4B0E-8472-7C6D59D0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DA703-0CF1-466C-91AB-491183AE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Browser / 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78EE9-1E45-427D-972A-7034702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6193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Cloudflare Tunnel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461B9-E1A5-4187-A6C1-2929FC3E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0250"/>
            <a:ext cx="2000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4DF92-9553-4848-8D28-A298231A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2286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5FE5C-C702-43BB-A794-BEE8FC20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2286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1B26"/>
          </a:solidFill>
          <a:ln xmlns:a="http://schemas.openxmlformats.org/drawingml/2006/main" w="19050">
            <a:solidFill>
              <a:srgbClr val="30B9EF"/>
            </a:solidFill>
          </a:ln>
        </p:spPr>
        <p:txBody>
          <a:bodyPr xmlns:a="http://schemas.openxmlformats.org/drawingml/2006/main" lIns="114300" tIns="85725" rIns="11430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React files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05125" y="24526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00750" y="24526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620125" y="2357438"/>
            <a:ext cx="714375" cy="95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0B9EF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2905125"/>
            <a:ext cx="1714500" cy="1262063"/>
          </a:xfrm>
          <a:prstGeom xmlns:a="http://schemas.openxmlformats.org/drawingml/2006/main" prst="bentConnector5">
            <a:avLst>
              <a:gd name="adj1" fmla="val 0"/>
              <a:gd name="adj2" fmla="val 92830"/>
              <a:gd name="adj3" fmla="val 86667"/>
            </a:avLst>
          </a:prstGeom>
          <a:ln xmlns:a="http://schemas.openxmlformats.org/drawingml/2006/main" w="28575">
            <a:solidFill>
              <a:srgbClr val="AC57E8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FBFB5-2E8B-432D-A5BB-70524AF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/api/*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A0563-74BB-400D-9EAF-7A444AD6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33B61-992F-4760-98D5-3B703FFF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frontend  /  api  /  db  /  cloudflared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112DE-E499-4000-BA9A-2E1AD203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Volumes: pgdata  uploads  vectordb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561C8-4729-48F8-9B7E-182D94D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Ollama รันบน host และ API เรียกผ่าน host.docker.internal:11434</a:t>
            </a:r>
          </a:p>
        </p:txBody>
      </p:sp>
    </p:spTree>
    <p:extLst>
      <p:ext uri="{BB962C8B-B14F-4D97-AF65-F5344CB8AC3E}">
        <p14:creationId xmlns:p14="http://schemas.microsoft.com/office/powerpoint/2010/main" val="13471966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1EED0-2CB4-4A20-9FED-8538C2A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Timeline 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A395C-DD4A-43C7-AA00-0095E47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แผนโครงการ มีนาคม ถึง ตุลาคม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C53D6-185C-4BB5-9E16-B72D77BC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A654B-CA49-4DB1-A12A-B9587081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84B98-F0ED-446C-AAE6-D7C32A85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02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มี.ค.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6CE81-498B-4D15-B91E-618FC257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02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ออกแบบและต้นแบบ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7C13D-380C-444B-B48A-CC8F5785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02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UX/UI, Database และ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10919-7ACE-4FE5-9D6C-9C208E22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3B4A6-EC19-4C2C-8B79-62B39A89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เม.ย. – พ.ค.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B90BD-DFC6-4636-9320-DA6DBA99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431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พัฒนาและเชื่อมต่อ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001F7-81D9-41E6-B460-8CB2A2D1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Web, API, LINE และสิทธิ์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0DCCC-3E85-40B7-9770-245B0E9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C3C69-404E-4CA9-80E8-4FB061A1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มิ.ย. – ส.ค.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86F9B-ED59-46FF-9BB2-6B71E2C3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ปรับระบบและทดสอบ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8A0D6-DB75-4F7C-8284-3EDFC850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RAG, Handoff และการติดตั้ง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2CEC9-B319-4D67-BA7D-0276DB6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DBA35-0ECB-41F1-B38E-DFDA3B7D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ก.ย.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74158-8451-44B7-97B5-3108F3EA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290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เตรียม Demo และ UAT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6AB78-7A10-4D2C-A643-E380FE5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290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ช่วงดำเนินงานตามแผน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EFFC2-F64A-48DE-942B-9A5EACB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1090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33425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B5789-7B6C-47EA-B29A-C2DDBB9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F6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BF69"/>
                </a:solidFill>
                <a:latin typeface="Tahoma"/>
                <a:ea typeface="Tahoma"/>
                <a:cs typeface="Tahoma"/>
              </a:rPr>
              <a:t>ต.ค.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5E2F3-2FF1-48B0-80F2-32E26B52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720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เอกสารและส่งมอบ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F7B2-CB6B-47FD-AA8D-1BDCDEE5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720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ขั้นถัดไปตามแผน</a:t>
            </a:r>
          </a:p>
        </p:txBody>
      </p:sp>
    </p:spTree>
    <p:extLst>
      <p:ext uri="{BB962C8B-B14F-4D97-AF65-F5344CB8AC3E}">
        <p14:creationId xmlns:p14="http://schemas.microsoft.com/office/powerpoint/2010/main" val="1015991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507E2-3DEB-4364-866D-FD2296EC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Demo ScopeBot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77D43-CCBF-4BEE-AD4F-2AE838BC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เส้นทางสาธิตประมาณ 4 นาที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F88F5-0FD3-40CF-BC82-1C1D7C6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93BCB-CE9B-4F20-96E4-7D12AEA5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209BC-559C-42BE-AF66-6C73B81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C4F94-0707-42EC-8859-E3680677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เลือกบอท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2054D-4321-4719-B0EF-5803EF2A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ดูเอกสารและสถานะพร้อมใช้งาน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5C681-DC76-415D-B949-9E31AFD2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EC24F-7E7D-4644-A33B-B9A2610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ถามคำถาม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4BBA8-0308-477C-9EE5-92DC94B7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ใช้คำถามที่มีคำตอบอยู่ในเอกสาร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9CE4E-F9EB-477B-92E9-617631E1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C0DB6-37B5-4417-ACCC-920022C6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480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ดูแหล่งอ้างอิง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1E60B-4D70-40DE-BB4C-6EE21315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480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เปิดชื่อไฟล์และข้อความอ้างอิงบน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B059C-5876-4BD6-8074-1B203387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B7779-7702-4DEF-9AC3-25A3E6A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ส่งต่อคน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DF1FD-7609-42CD-83E1-25C96F8C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958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ขอเจ้าหน้าที่ ตอบในแชทรวม และจบ 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54757-E922-4202-BA4F-26088F17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บัญชีตอบแชทต้องเป็นเจ้าของบอท ไม่ใช่ role Support</a:t>
            </a:r>
          </a:p>
        </p:txBody>
      </p:sp>
    </p:spTree>
    <p:extLst>
      <p:ext uri="{BB962C8B-B14F-4D97-AF65-F5344CB8AC3E}">
        <p14:creationId xmlns:p14="http://schemas.microsoft.com/office/powerpoint/2010/main" val="13718002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430D6-0B33-42AC-8C7C-111CDB31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 ทำงานร่วมกันอย่างไร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6AE75-1859-4EA2-929E-734D8331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เอกสารเป็นแหล่งความรู้และเจ้าของบอทรับช่วงเมื่อจำเป็น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A14D6-E0E4-4D82-A0A3-BD7DA856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884F0-EDE0-4671-BF6F-B4DD0C15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9CC22-9B58-4F22-B557-A68C1ED3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Frontend เป็นจุดใช้งาน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7E03C-8D1A-491D-94DB-76BCAA7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FastAPI ควบคุมคำขอและข้อมูล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600A9-79A6-4F78-9420-871C4D0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RAG ค้นเอกสารก่อนสร้างคำตอบ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2D0B4-614B-4CF3-899E-01BC7E2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2F5F8"/>
                </a:solidFill>
                <a:latin typeface="Tahoma"/>
                <a:ea typeface="Tahoma"/>
                <a:cs typeface="Tahoma"/>
              </a:rPr>
              <a:t>คนรับช่วงเมื่อบอทไม่มีคำตอบ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ED634-5821-446B-A959-3D89B6E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C57E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AC57E8"/>
                </a:solidFill>
                <a:latin typeface="Tahoma"/>
                <a:ea typeface="Tahoma"/>
                <a:cs typeface="Tahoma"/>
              </a:rPr>
              <a:t>คำถามและข้อเสนอแนะ</a:t>
            </a:r>
          </a:p>
        </p:txBody>
      </p:sp>
    </p:spTree>
    <p:extLst>
      <p:ext uri="{BB962C8B-B14F-4D97-AF65-F5344CB8AC3E}">
        <p14:creationId xmlns:p14="http://schemas.microsoft.com/office/powerpoint/2010/main" val="12193238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54099-898B-4EE4-A405-471A5CD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ภาคผนวก API 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F2AF1-B4A8-46C8-A51E-9CFEE56E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ใช้เปิดประกอบคำถามด้านเทคนิคหลังจบการนำเสนอ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32446-2602-4D11-AFF0-DA4C0BC1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4DC69-2322-494F-A943-55E3550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1D0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7C1D0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0F8DD-30DD-40E1-B069-ACA9766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บัญชีและสิทธิ์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4A64E-5FE9-498C-B688-58153E1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74B51-F00A-4E52-8060-17E5F1E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บอทและเอกสาร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94584-8057-4374-8AE1-8E927621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/api/bots    /api/documents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3DF0C-7714-4C6E-AF97-4829FA13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แชทและเจ้าหน้าที่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449DF-89C4-4B3F-94F2-BE60AAE2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/api/chat    /api/live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BD684-05DB-48DE-AF7D-9FCD4C2D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สถิติและการติดตาม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CB2A1-B750-4334-A2CA-F023175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671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/api/dashboard    /api/notifications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73D89-AB2F-4409-A046-5019252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Audit และสถานะ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D7B3D-BF09-49B8-9EA4-8DDBA4D1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86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/api/audit-logs    /api/health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5B8CF-6A01-4574-9F74-002DBAF6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0B9E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30B9EF"/>
                </a:solidFill>
                <a:latin typeface="Tahoma"/>
                <a:ea typeface="Tahoma"/>
                <a:cs typeface="Tahoma"/>
              </a:rPr>
              <a:t>LINE Webhook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B3314-C0E1-4D28-97F6-1A0A26C6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05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5F8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2F5F8"/>
                </a:solidFill>
                <a:latin typeface="Tahoma"/>
                <a:ea typeface="Tahoma"/>
                <a:cs typeface="Tahoma"/>
              </a:rPr>
              <a:t>/api/line/webhook/{bot_id}</a:t>
            </a:r>
          </a:p>
        </p:txBody>
      </p:sp>
    </p:spTree>
    <p:extLst>
      <p:ext uri="{BB962C8B-B14F-4D97-AF65-F5344CB8AC3E}">
        <p14:creationId xmlns:p14="http://schemas.microsoft.com/office/powerpoint/2010/main" val="1491888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2026-09-17T12:12:09.1230000Z</dcterms:created>
  <dcterms:modified xsi:type="dcterms:W3CDTF">2026-09-17T12:12:09.1240000Z</dcterms:modified>
</coreProperties>
</file>