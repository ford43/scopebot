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9633930f854897" /><Relationship Type="http://schemas.openxmlformats.org/officeDocument/2006/relationships/extended-properties" Target="/docProps/app.xml" Id="Rbf007d6ca9ca4a77" /><Relationship Type="http://schemas.openxmlformats.org/officeDocument/2006/relationships/officeDocument" Target="/ppt/presentation.xml" Id="R1e3ddb840f8343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72ceb9e38d46cd"/>
  </p:sldMasterIdLst>
  <p:notesMasterIdLst>
    <p:notesMasterId xmlns:r="http://schemas.openxmlformats.org/officeDocument/2006/relationships" r:id="Rbd46831467984b90"/>
  </p:notesMasterIdLst>
  <p:sldIdLst>
    <p:sldId xmlns:r="http://schemas.openxmlformats.org/officeDocument/2006/relationships" id="256" r:id="Rc312cc6ee10d4dfd"/>
    <p:sldId xmlns:r="http://schemas.openxmlformats.org/officeDocument/2006/relationships" id="257" r:id="R47c96b4bfb9d4293"/>
    <p:sldId xmlns:r="http://schemas.openxmlformats.org/officeDocument/2006/relationships" id="258" r:id="Rd3571091002d448a"/>
    <p:sldId xmlns:r="http://schemas.openxmlformats.org/officeDocument/2006/relationships" id="259" r:id="R98399693d5b240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2326fb6ec34eec" /><Relationship Type="http://schemas.openxmlformats.org/officeDocument/2006/relationships/slideMaster" Target="/ppt/slideMasters/slideMaster1.xml" Id="R6b72ceb9e38d46cd" /><Relationship Type="http://schemas.openxmlformats.org/officeDocument/2006/relationships/notesMaster" Target="/ppt/notesMasters/notesMaster1.xml" Id="Rbd46831467984b90" /><Relationship Type="http://schemas.openxmlformats.org/officeDocument/2006/relationships/presProps" Target="/ppt/presProps.xml" Id="Re858fb6b5cef4dc5" /><Relationship Type="http://schemas.openxmlformats.org/officeDocument/2006/relationships/tableStyles" Target="/ppt/tableStyles.xml" Id="R35faabe289354d82" /><Relationship Type="http://schemas.openxmlformats.org/officeDocument/2006/relationships/slide" Target="/ppt/slides/slide1.xml" Id="Rc312cc6ee10d4dfd" /><Relationship Type="http://schemas.openxmlformats.org/officeDocument/2006/relationships/slide" Target="/ppt/slides/slide2.xml" Id="R47c96b4bfb9d4293" /><Relationship Type="http://schemas.openxmlformats.org/officeDocument/2006/relationships/slide" Target="/ppt/slides/slide3.xml" Id="Rd3571091002d448a" /><Relationship Type="http://schemas.openxmlformats.org/officeDocument/2006/relationships/slide" Target="/ppt/slides/slide4.xml" Id="R98399693d5b2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b0fdc4af1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17c40838c4807" /><Relationship Type="http://schemas.openxmlformats.org/officeDocument/2006/relationships/notesMaster" Target="/ppt/notesMasters/notesMaster1.xml" Id="Rb9e49e997b5e4c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8c141ae2449f3" /><Relationship Type="http://schemas.openxmlformats.org/officeDocument/2006/relationships/notesMaster" Target="/ppt/notesMasters/notesMaster1.xml" Id="R20d968bbe4d747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79518e784413e" /><Relationship Type="http://schemas.openxmlformats.org/officeDocument/2006/relationships/notesMaster" Target="/ppt/notesMasters/notesMaster1.xml" Id="R465e1166f310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28645cbbfb4fa8" /><Relationship Type="http://schemas.openxmlformats.org/officeDocument/2006/relationships/notesMaster" Target="/ppt/notesMasters/notesMaster1.xml" Id="R7a61adc4cb5d4f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 นาที</a:t>
            </a:r>
          </a:p>
          <a:p xmlns:a="http://schemas.openxmlformats.org/drawingml/2006/main">
            <a:r>
              <a:t>ภาพนี้อธิบายรูปแบบติดตั้งตาม docker-compose.yml และ docker-compose.tunnel.yml ไม่ได้ยืนยันว่าเครื่องที่นำเสนอเปิดบริการทั้งหมดนี้อยู่แล้ว Browser และ LINE ติดต่อ public hostname ของ Cloudflare ผ่าน HTTPS ตัว cloudflared ใน Docker เปิดการเชื่อมต่อ Tunnel และส่งต่อคำขอเข้า Nginx ที่ service frontend:80 Nginx ให้ไฟล์ React และ proxy /api ไป FastAPI ที่ api:8000 ภายใน container ของ API มีโค้ด RAG และเชื่อม PostgreSQL ที่ db:5432 ส่วน Ollama ตาม compose รันบน host ที่พอร์ต 11434 โดย API ใช้ host.docker.internal เพื่อเข้าถึง มี volumes เก็บ PostgreSQL เอกสาร และ Chroma ให้คงอยู่หลังสร้าง container ใหม่ การใช้ Qdrant มี compose ทางเลือกและไม่ได้แสดงในภาพนี้</a:t>
            </a:r>
          </a:p>
          <a:p xmlns:a="http://schemas.openxmlformats.org/drawingml/2006/main">
            <a:r>
              <a:t>ตอบฝ่ายไอที: การเปิดพอร์ต การสำรองข้อมูล การจัดสรร RAM/CPU/GPU และการเก็บ log ต้องประเมินตามสภาพแวดล้อมจริง ไม่สรุปว่า production-ready จากการมี Docker เพียงอย่างเดียว</a:t>
            </a:r>
          </a:p>
          <a:p xmlns:a="http://schemas.openxmlformats.org/drawingml/2006/main">
            <a:r>
              <a:t>อ้างอิง: docker-compose.yml; docker-compose.tunnel.yml; deploy/nginx.conf; deploy/DEPLOY.md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 นาที</a:t>
            </a:r>
          </a:p>
          <a:p xmlns:a="http://schemas.openxmlformats.org/drawingml/2006/main">
            <a:r>
              <a:t>เมื่อเจ้าของบอทเปลี่ยนเอกสาร ระบบบันทึก revision และเข้าคิวงาน สร้าง snapshot จากเอกสารที่กำหนดให้บอท แล้วสร้างดัชนีใหม่แยกจากชุดที่กำลังให้บริการ ตรวจข้อความที่จัดเก็บ ก่อนเผยแพร่ path ของดัชนีใน transaction ถ้ามีเอกสารเปลี่ยนระหว่างสร้าง revision จะป้องกันงานเก่าเผยแพร่ทับงานใหม่</a:t>
            </a:r>
          </a:p>
          <a:p xmlns:a="http://schemas.openxmlformats.org/drawingml/2006/main">
            <a:r>
              <a:t>จุดสำคัญคือเพิ่มเอกสารกับถอนข้อมูลทำงานต่างกัน การเพิ่มยังใช้ published index เดิมได้ ถ้าเพิ่มล้มเหลวจะไม่แทนชุดที่ใช้งานอยู่ แต่การแทนที่หรือลบจะบล็อกการตอบจนสร้าง revision ปัจจุบันสำเร็จ เพื่อไม่ใช้ข้อมูลที่ถอนออกแล้ว บอทที่ยังไม่มีดัชนีใช้ได้จะยังตอบจากเอกสารไม่ได้ สถานะมี idle, queued, processing, ready, error และ has_usable_knowledge เป็นตัวกำหนดความพร้อมแยกต่างหาก เอกสารอ่านไม่ได้ทำให้ candidate build ล้มเหลวทั้งชุด ไม่รายงานว่าสำเร็จทั้งที่นำเข้าได้บางส่วน</a:t>
            </a:r>
          </a:p>
          <a:p xmlns:a="http://schemas.openxmlformats.org/drawingml/2006/main">
            <a:r>
              <a:t>อ้างอิง: docs/knowledge-updates.md; docs/rag-correctness.md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 นาที</a:t>
            </a:r>
          </a:p>
          <a:p xmlns:a="http://schemas.openxmlformats.org/drawingml/2006/main">
            <a:r>
              <a:t>กรณีแรก RAG ไม่มีหลักฐานที่ตอบได้ Web แสดงข้อความและ offer_handoff ส่วน LINE webhook ปัจจุบันส่งการ์ด CONTACT_FLEX ให้เลือกติดต่อ ผู้ใช้กดหรือส่งคำขอติดต่อแล้วจึงเข้า waiting ไม่ควรอธิบายว่าทุกช่องทางเข้าคิวเองทันที ต้องแยกจาก chat API ที่รับ source_channel อื่นและอาจมีเงื่อนไข auto-handoff</a:t>
            </a:r>
          </a:p>
          <a:p xmlns:a="http://schemas.openxmlformats.org/drawingml/2006/main">
            <a:r>
              <a:t>กรณีบริการสร้างคำตอบหรือค้นหาขัดข้อง RagUnavailableError จะใช้ข้อความ RAG_ERROR_MESSAGE ว่าขออภัย ระบบขัดข้อง กรุณาลองใหม่อีกครั้ง เว็บมี offer_handoff และ response_status=error ส่วน LINE ส่งข้อความ error ไม่สวมเป็นคำตอบจากเอกสาร การทำงานในแต่ละ failure point อาจมี fallback ตาม semantic pipeline จึงไม่ใช่ว่า error เล็กน้อยทุกตัวต้องทำให้ตอบไม่ได้</a:t>
            </a:r>
          </a:p>
          <a:p xmlns:a="http://schemas.openxmlformats.org/drawingml/2006/main">
            <a:r>
              <a:t>กรณีรอคน ระบบบันทึกข้อความ ผู้ใช้ได้รับข้อความแจ้งให้รอ พอเจ้าของบอทตอบจึงเป็น human ไม่มีการรับรองเวลาตอบของเจ้าหน้าที่ในสไลด์นี้</a:t>
            </a:r>
          </a:p>
          <a:p xmlns:a="http://schemas.openxmlformats.org/drawingml/2006/main">
            <a:r>
              <a:t>อ้างอิง: api/routers/chat.py; api/routers/line_webhook.py; api/routers/live_chat.py; rag/rag_pipeline.py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 นาที</a:t>
            </a:r>
          </a:p>
          <a:p xmlns:a="http://schemas.openxmlformats.org/drawingml/2006/main">
            <a:r>
              <a:t>แจ้งก่อนว่าหน้านี้เป็นตัวอย่างอธิบายเกณฑ์ที่อิงเงื่อนไขใน test/test_rag_correctness.py ไม่ใช่ผลจากการรันโมเดลจริงหรือการวัด accuracy ใหม่ เอกสารตัวอย่างมีเพียงนโยบายรับคืนสินค้าชำรุด กรณีตอบถูกต้องรักษาข้อจำกัดนี้และอ้างอิงให้ตรง กรณีตอบไม่ครบตัดคำว่าชำรุดออก แม้ประโยคส่วนที่เหลือจะอยู่ในต้นฉบับก็ทำให้ความหมายกว้างเกินหลักฐาน ต้องไม่ยอมรับ ส่วนการถามค่าจัดส่งเป็นข้อมูลที่เอกสารตัวอย่างไม่มี การปฏิเสธจึงเหมาะสม</a:t>
            </a:r>
          </a:p>
          <a:p xmlns:a="http://schemas.openxmlformats.org/drawingml/2006/main">
            <a:r>
              <a:t>สิ่งที่เรียนรู้คือไม่ควรให้คะแนนจากความลื่นไหลเพียงอย่างเดียว ต้องดูความครบถ้วน ความรองรับจากหลักฐาน และความถูกต้องของ citation เมื่อประเมินจริงให้มีคำถามมีคำตอบ ไม่มีคำตอบ เงื่อนไขซับซ้อน และคำถามต่อเนื่อง บันทึกโมเดล เอกสาร รุ่นระบบ และเวลา แยก retrieval failure จาก generation/grounding failure แล้วรายงานตามข้อมูลที่เก็บได้</a:t>
            </a:r>
          </a:p>
          <a:p xmlns:a="http://schemas.openxmlformats.org/drawingml/2006/main">
            <a:r>
              <a:t>อ้างอิง: test/test_rag_correctness.py (cropped restrictions และ invented assertions); docs/rag-correctness.md; docs/semantic-search.md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9a512231140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3da4cffed41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4ea0dac4b46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ea54e3a8c40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132f5aae64a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c55d5d7d1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77E516-6456-4911-9196-045B11322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DCB241-DB2C-4EBB-9AC0-F964CD9EFA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8D3C13-915C-4A07-8287-6B0864FD1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296C21-324C-4ECC-A4FD-E6DF3DB9D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1AF1BC-6BCC-4781-8167-C984AAC58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D1A371-EFBB-4DCB-9344-5748538CA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D049D8-670D-432F-88B7-65BDB9D9C9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8DAEA9-1072-4DDF-A923-01A0F33F29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F1C775-D5D6-48C7-A05E-7BA62EF62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08FC57-731B-4C15-B50C-F0D64C6821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c074944bc4acf" /><Relationship Type="http://schemas.openxmlformats.org/officeDocument/2006/relationships/slideLayout" Target="/ppt/slideLayouts/slideLayout1.xml" Id="R4611e8493344438e" /><Relationship Type="http://schemas.openxmlformats.org/officeDocument/2006/relationships/slideLayout" Target="/ppt/slideLayouts/slideLayout2.xml" Id="R6ec4a786c416404a" /><Relationship Type="http://schemas.openxmlformats.org/officeDocument/2006/relationships/slideLayout" Target="/ppt/slideLayouts/slideLayout3.xml" Id="R03bfd2f592254a19" /><Relationship Type="http://schemas.openxmlformats.org/officeDocument/2006/relationships/slideLayout" Target="/ppt/slideLayouts/slideLayout4.xml" Id="Rd1ba5218e67d4467" /><Relationship Type="http://schemas.openxmlformats.org/officeDocument/2006/relationships/slideLayout" Target="/ppt/slideLayouts/slideLayout5.xml" Id="R9eb3491fcdbd42ff" /><Relationship Type="http://schemas.openxmlformats.org/officeDocument/2006/relationships/slideLayout" Target="/ppt/slideLayouts/slideLayout6.xml" Id="R336f1cb2dfa7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1e8493344438e"/>
    <p:sldLayoutId xmlns:r="http://schemas.openxmlformats.org/officeDocument/2006/relationships" id="2147483650" r:id="R6ec4a786c416404a"/>
    <p:sldLayoutId xmlns:r="http://schemas.openxmlformats.org/officeDocument/2006/relationships" id="2147483651" r:id="R03bfd2f592254a19"/>
    <p:sldLayoutId xmlns:r="http://schemas.openxmlformats.org/officeDocument/2006/relationships" id="2147483652" r:id="Rd1ba5218e67d4467"/>
    <p:sldLayoutId xmlns:r="http://schemas.openxmlformats.org/officeDocument/2006/relationships" id="2147483653" r:id="R9eb3491fcdbd42ff"/>
    <p:sldLayoutId xmlns:r="http://schemas.openxmlformats.org/officeDocument/2006/relationships" id="2147483654" r:id="R336f1cb2dfa7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7ef80276d4624" /><Relationship Type="http://schemas.openxmlformats.org/officeDocument/2006/relationships/notesSlide" Target="/ppt/notesSlides/notesSlide1.xml" Id="R2e9f58e3eebb48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5765117cc4dbd" /><Relationship Type="http://schemas.openxmlformats.org/officeDocument/2006/relationships/notesSlide" Target="/ppt/notesSlides/notesSlide2.xml" Id="Re4514ee6a8e7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cf0b2cc774ae8" /><Relationship Type="http://schemas.openxmlformats.org/officeDocument/2006/relationships/notesSlide" Target="/ppt/notesSlides/notesSlide3.xml" Id="Rfd8ed6e5068340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fe41bb74e4903" /><Relationship Type="http://schemas.openxmlformats.org/officeDocument/2006/relationships/notesSlide" Target="/ppt/notesSlides/notesSlide4.xml" Id="R5a33f5d14a704b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9A3E16-322C-4C58-8C78-BC2CB8FF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SCOPEBOT  /  A1 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97010-109B-4BCF-8E8D-178BBB57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บริการรันที่ไหน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14365-8E18-4D26-968D-379EB440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04925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รูปแบบติดตั้งที่มีในโครงการ: Docker Compose + Named Tunnel + Ollama บนเครื่อง host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3A6FC-92FE-4C7E-85E4-7546B68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B"/>
          </a:solidFill>
          <a:ln xmlns:a="http://schemas.openxmlformats.org/drawingml/2006/main" w="11430">
            <a:solidFill>
              <a:srgbClr val="CCDD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F6931-0AF8-4BAF-B153-38DC4F4E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เครื่อง host / เซิร์ฟเวอร์ที่ติดตั้ง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41AFE-B16B-4048-8150-FD42C68C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7858125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C0A70-F4BE-49E5-A239-2BDDAA4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00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Docker Compose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F079E-AA9B-436D-A939-E1D8C75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49317-8BC8-498A-90CE-202FD3D1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Browser /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87353-5ADD-4FB1-9469-727F12E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ส่งคำขอผ่าน HTTPS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BE2D9-5BA6-47A8-A79F-FD84D415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9E92A-56E1-42DC-99B6-DB24E34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Cloudflare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B73F5-E1DE-4BD5-9E61-83968CFB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717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Public hostname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70D77-9878-4C25-AE50-2DA68DF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552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20E82-275D-4AC6-9445-707BAE02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EEF48-31DA-4D47-8FDF-8C99BE9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69FB6-C490-4753-B6F2-85626B4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861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6E4CB-FC0C-463D-8BEA-5F8EA535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286125"/>
            <a:ext cx="1333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5022A-8D5F-4919-8FD9-CC5669F7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1857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0DB69-9F8A-45DC-B37E-CD72327D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cloudflared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69264-FCF4-4FB1-8B0A-5283661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เชื่อมต่อ Tunnel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A5EAE-970A-4EEA-803D-E8FF5DFE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0C5D1-E074-4F38-B813-0DC038D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814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03E85-49AD-4196-8A02-0280802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76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Nginx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3E865-99B3-410B-A03B-D910032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4815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frontend:80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AB107-9324-4AFB-9CFC-25281D2C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24325"/>
            <a:ext cx="3048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EDAC5-D72C-436E-AD3D-987F971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425"/>
            <a:ext cx="276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0AF76-BDA9-4246-AEF8-28D14F6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766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FastAPI + 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69141-EB4D-4542-8E8F-E50C6BFE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481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api:8000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8A3E1-41F9-4C01-8DD7-1959F58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24325"/>
            <a:ext cx="381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9D8DE-F32B-4715-A7C3-7020557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81425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179825-9767-4085-9C1D-28A793E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76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Ollama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07DAEF-0CE0-4466-AFD4-0EB00C6E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481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host:11434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A7AD34-1C85-404A-B8E6-C1DB3045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19625"/>
            <a:ext cx="1333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ADF5BD-A19B-45EC-A778-4D08F0D2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F5FA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753473-11A2-40EC-82D6-649D880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00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PostgreSQL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4C813E-0AE6-49A6-A9BC-9BA4BD6A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721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db:5432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51F7C4-0F66-47B5-B2EC-EBF6C68E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React build + /api proxy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982D92-052A-4603-98FA-3FC744F6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Persistent volumes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539CE7-9644-4E1B-ABA3-C4421DE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6732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ฐานข้อมูล / ไฟล์เอกสาร / ดัชนี Chroma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2FB5BF-8145-4949-A5DF-D8F93A31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388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Named Tunnel ส่งต่อเข้า Nginx  •  API เรียก Ollama ผ่าน host.docker.internal</a:t>
            </a:r>
          </a:p>
        </p:txBody>
      </p:sp>
    </p:spTree>
    <p:extLst>
      <p:ext uri="{BB962C8B-B14F-4D97-AF65-F5344CB8AC3E}">
        <p14:creationId xmlns:p14="http://schemas.microsoft.com/office/powerpoint/2010/main" val="1928517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A61CA7-3934-4E1B-8902-3D21635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SCOPEBOT  /  A2  DOCUMENT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B7455-A20C-40D0-AB32-4C094DD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วงจรเอกสารและการอัปเดตความรู้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869DC-B9B8-4277-AAA6-32F471E9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04925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สร้างดัชนีชุดใหม่ ตรวจสอบความครบถ้วน แล้วจึงเผยแพร่ให้บอทใช้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A799-911C-45D1-B00A-10265E86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5FF80-62BE-42DB-992B-0EE24E4B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1  เปลี่ยนเอกสาร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66979-A846-401E-89E7-BFBF5FF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เพิ่ม / แทนที่ / ลบ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B9142-0E2C-456E-A836-8802149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5745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E2451-44C7-4A30-AFF6-C86263C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AFCD9-1EB7-42AD-9036-66C1F8F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2  เข้าคิวงาน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6589C-4759-42D1-A0C7-A10EA4F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14600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บันทึก revision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D0CC0-EB78-4F07-AC79-062C6C07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B43E0-2AAF-44C6-AA26-93386C04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BDCBE-AD63-40A5-8FDA-6BC52B3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3  สร้างดัชนีใหม่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D3AB8-5C4C-4A1A-AD6E-ECACBAE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ใช้ snapshot เอกสาร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EE7E1-6E09-465E-867E-8EE7255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57450"/>
            <a:ext cx="238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AA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88E85-33E6-44A1-899D-ACE3ABBE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3DD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2603C-B684-4EDB-BE17-DEAC22A5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4  ตรวจและเผยแพร่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30CFF-6129-47B9-B3C3-5E07008F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14600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สลับเมื่อสำเร็จ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DB538-F4EB-4D47-AAFE-E60EFAD0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ระหว่างอัปเดต: พฤติกรรมต่างกันตามชนิดการเปลี่ยนแปลง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8029C-EFD4-4BCA-BF28-F00F165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เพิ่มเอกสาร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5F966-D71C-446E-A0BA-D1AF3FA0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338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ยังใช้ดัชนีเดิมที่เผยแพร่แล้วได้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95B6E-8CFE-4848-9E9C-32F9D9E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434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ถ้าสร้างชุดใหม่ล้มเหลว จะเก็บชุดเดิมไว้ให้บริการ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D9FD0-EF76-4E7D-B448-2A3A0473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291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72C72-2087-4076-8238-69583FC0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แทนที่ / ลบ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DFD1A-5CEA-4921-8145-42797EE4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292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ระงับการตอบจากความรู้เดิมจน rebuild สำเร็จ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D10B5-9E23-4BCC-A585-50B63A2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387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ลดโอกาสใช้ข้อมูลที่ถูกถอนหรือเปลี่ยนแล้ว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902CE-A0B8-44D6-B4BC-A03FD5DA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10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เมื่องานล้มเหลว: แสดงสถานะ error พร้อมสาเหตุ และมีการลองประมวลผลใหม่</a:t>
            </a:r>
          </a:p>
        </p:txBody>
      </p:sp>
    </p:spTree>
    <p:extLst>
      <p:ext uri="{BB962C8B-B14F-4D97-AF65-F5344CB8AC3E}">
        <p14:creationId xmlns:p14="http://schemas.microsoft.com/office/powerpoint/2010/main" val="1109392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FED45-F101-423B-984E-A89A332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SCOPEBOT  /  A3  ERROR &amp;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C1F55-13ED-4F48-8585-FD345FB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เมื่อระบบตอบต่อไม่ได้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23F52-0FEE-4C09-8AB0-A78EFD2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04925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แยก “ข้อมูลไม่พอ” ออกจาก “บริการขัดข้อง” และ “กำลังรอคนรับช่วง”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4C9BC-8FE8-4929-B790-DA152496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กรณี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75E43-2873-4760-BA04-61E3777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240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สิ่งที่ผู้ใช้เห็น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43060-0FD1-4813-9550-119376C4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การดำเนินการต่อ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B876-7EED-45C6-AC4F-9AFEAB91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B89B1-BE8A-47BD-AE25-1F1AD86D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ไม่มีหลักฐาน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4714D-39D1-4659-B531-E72FEC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62225"/>
            <a:ext cx="500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แจ้งว่าไม่พบข้อมูลรองรับ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0674B-6AF2-4500-87EF-F631666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0375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Web: ปุ่มติดต่อ  /  LINE: การ์ดติดต่อ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8D993-7336-44FC-83EA-A87A781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81275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ผู้ใช้เลือกติดต่อเจ้าของบอท</a:t>
            </a:r>
          </a:p>
          <a:p xmlns:a="http://schemas.openxmlformats.org/drawingml/2006/main">
            <a: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จึงเข้าคิว waiting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26013-643D-4612-8AFF-542B02B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97BD7-7164-4D27-8784-021232B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โมเดลไม่พร้อม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7E712-9919-4B6F-84C4-C482094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38575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“ขออภัย ระบบขัดข้อง</a:t>
            </a:r>
          </a:p>
          <a:p xmlns:a="http://schemas.openxmlformats.org/drawingml/2006/main">
            <a: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กรุณาลองใหม่อีกครั้ง”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6A301-120A-482E-BD27-750902E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ลองใหม่ / ตรวจบริการ</a:t>
            </a:r>
          </a:p>
          <a:p xmlns:a="http://schemas.openxmlformats.org/drawingml/2006/main">
            <a: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ไม่แสดงเป็นคำตอบจากเอกสาร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0F102-7C80-4EF0-A27D-E915818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20D8C-CA22-4877-8B06-82582C06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ยังไม่มีคนรับช่วง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22C58-48C2-474F-884D-92C1F8C8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0065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แจ้งให้รอ และบันทึกข้อความ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F4021-8720-4F8D-A701-055BEC7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10225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สถานะยังเป็น waiting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64F71-E92C-4E80-B7EA-1BFBB707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292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เจ้าของบอทเริ่มตอบ</a:t>
            </a:r>
          </a:p>
          <a:p xmlns:a="http://schemas.openxmlformats.org/drawingml/2006/main">
            <a:pPr>
              <a:defRPr sz="1500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จึงเปลี่ยนเป็น 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8EA1D-A69E-4A22-942D-12FE35B3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พฤติกรรมตาม router ปัจจุบัน  •  เวลารอเจ้าของบอทยังขึ้นอยู่กับผู้รับผิดชอบจริง</a:t>
            </a:r>
          </a:p>
        </p:txBody>
      </p:sp>
    </p:spTree>
    <p:extLst>
      <p:ext uri="{BB962C8B-B14F-4D97-AF65-F5344CB8AC3E}">
        <p14:creationId xmlns:p14="http://schemas.microsoft.com/office/powerpoint/2010/main" val="1744791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B5787-35DD-44D0-B733-979B3DA0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SCOPEBOT  /  A4  DEEP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2F02D-B7B6-4E3A-AFC9-A7F5C3C9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การประเมินคำตอบเชิงลึก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335FA-D437-4525-9651-FD6E6488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04925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ตัวอย่างประกอบจากเงื่อนไขในชุดทดสอบ • ไม่ใช่ผลรันโมเดลจริง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29F07-2CC3-492C-8077-CCDD7B0B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หลักฐานตัวอย่าง: “เฉพาะสินค้าที่ชำรุด รับคืนสินค้าได้”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E73D9-6DBD-4E96-AED1-E391123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9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93615-56B1-49AE-95F3-9387802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ตอบตรงหลักฐาน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FCF92-C51A-465D-B122-48CB086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ถาม: คืนสินค้าได้ไหม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01141-59A7-4536-8832-C5AC8B2B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ตอบ: “เฉพาะสินค้าที่ชำรุด</a:t>
            </a:r>
          </a:p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รับคืนสินค้าได้”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C4C22-5C28-457D-BA86-F0771F8D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สิ่งที่ตรวจ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79B9B-988D-4E66-B8E3-59B2483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เงื่อนไขครบและมี citation</a:t>
            </a:r>
          </a:p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ตรงกับข้อความต้นฉบับ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A196B-F86B-4D03-8A0E-F8D4B74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507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72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C7C08-ED98-41BB-86C5-44F23B9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574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B47728"/>
                </a:solidFill>
                <a:latin typeface="Tahoma"/>
                <a:ea typeface="Tahoma"/>
                <a:cs typeface="Tahoma"/>
              </a:rPr>
              <a:t>ตอบไม่ครบ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44D48-F3D7-4D1D-B402-93A201F4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ถาม: คืนสินค้าได้ไหม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56406-3503-4AEB-8A53-27FE4F0E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ตอบ: “รับคืนสินค้าได้”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DD95F-325D-4ADF-B69D-E892926D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958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defPPr>
            <a:lvl1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1pPr>
            <a:lvl2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2pPr>
            <a:lvl3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3pPr>
            <a:lvl4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4pPr>
            <a:lvl5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5pPr>
            <a:lvl6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6pPr>
            <a:lvl7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7pPr>
            <a:lvl8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8pPr>
            <a:lvl9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47728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B47728"/>
                </a:solidFill>
                <a:latin typeface="Tahoma"/>
                <a:ea typeface="Tahoma"/>
                <a:cs typeface="Tahoma"/>
              </a:rPr>
              <a:t>สิ่งที่เรียนรู้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BD444-DF7A-41D2-A01D-E967D9E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054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ตกเงื่อนไข “ชำรุด”</a:t>
            </a:r>
          </a:p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ต้องปฏิเสธคำตอบนี้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03BFD-505A-40F7-AF78-800B16B0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0507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2A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1CAAB-9076-4560-AF84-64D2286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574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8062A4"/>
                </a:solidFill>
                <a:latin typeface="Tahoma"/>
                <a:ea typeface="Tahoma"/>
                <a:cs typeface="Tahoma"/>
              </a:rPr>
              <a:t>ปฏิเสธอย่างเหมาะสม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7CA52-89EB-4B2C-87D8-F5B4A77E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48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ถาม: ค่าจัดส่งเท่าไร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EE7B-CB0E-47DE-93EB-895DD1BC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0047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ตอบ: ไม่พบข้อมูลรองรับ</a:t>
            </a:r>
          </a:p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ให้เลือกติดต่อเจ้าของบอท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42F9E-3CD3-4C94-ADFB-BC307B15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958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defPPr>
            <a:lvl1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1pPr>
            <a:lvl2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2pPr>
            <a:lvl3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3pPr>
            <a:lvl4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4pPr>
            <a:lvl5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5pPr>
            <a:lvl6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6pPr>
            <a:lvl7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7pPr>
            <a:lvl8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8pPr>
            <a:lvl9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062A4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8062A4"/>
                </a:solidFill>
                <a:latin typeface="Tahoma"/>
                <a:ea typeface="Tahoma"/>
                <a:cs typeface="Tahoma"/>
              </a:rPr>
              <a:t>สิ่งที่เรียนรู้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7C81E-5A0F-454F-B255-55A6488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054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เอกสารไม่มีค่าจัดส่ง</a:t>
            </a:r>
          </a:p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จึงไม่ควรสร้างราคาเอง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640E1-A2BA-4490-B3BE-831DFE2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150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การทดลองจริง: เก็บคำถาม หลักฐาน คำตอบ รุ่นโมเดล และเวลา แล้วให้ผู้ประเมินตรวจทีละกรณี</a:t>
            </a:r>
          </a:p>
        </p:txBody>
      </p:sp>
    </p:spTree>
    <p:extLst>
      <p:ext uri="{BB962C8B-B14F-4D97-AF65-F5344CB8AC3E}">
        <p14:creationId xmlns:p14="http://schemas.microsoft.com/office/powerpoint/2010/main" val="1716411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2026-10-29T11:50:36.3250000Z</dcterms:created>
  <dcterms:modified xsi:type="dcterms:W3CDTF">2026-10-29T11:50:36.3250000Z</dcterms:modified>
</coreProperties>
</file>