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7e609854ed4ee9" /><Relationship Type="http://schemas.openxmlformats.org/officeDocument/2006/relationships/extended-properties" Target="/docProps/app.xml" Id="Rb94db91b840c47a5" /><Relationship Type="http://schemas.openxmlformats.org/officeDocument/2006/relationships/officeDocument" Target="/ppt/presentation.xml" Id="R288eda8adfae405a" /></Relationships>
</file>

<file path=ppt/presentation.xml><?xml version="1.0" encoding="utf-8"?>
<ns0:presentation xmlns:ns0="http://schemas.openxmlformats.org/presentationml/2006/main" xmlns:ns1="http://schemas.openxmlformats.org/officeDocument/2006/relationships">
  <ns0:sldMasterIdLst>
    <ns0:sldMasterId id="2147483648" ns1:id="R30a5af8fd4dd4680"/>
  </ns0:sldMasterIdLst>
  <ns0:notesMasterIdLst>
    <ns0:notesMasterId ns1:id="Rbf77de0b1c684670"/>
  </ns0:notesMasterIdLst>
  <ns0:sldIdLst>
    <ns0:sldId id="256" ns1:id="R244c47757598425c"/>
    <ns0:sldId id="257" ns1:id="R0c2cb6c44ba146ca"/>
    <ns0:sldId id="258" ns1:id="R659c30139be249b5"/>
    <ns0:sldId id="259" ns1:id="Rcbf1d8cd19d04610"/>
    <ns0:sldId id="260" ns1:id="R22add00820074ee7"/>
    <ns0:sldId id="261" ns1:id="R30635b60b9ff4167"/>
    <ns0:sldId id="262" ns1:id="R08548f25535d4789"/>
    <ns0:sldId id="263" ns1:id="R9644325c0a544e4e"/>
    <ns0:sldId id="264" ns1:id="R14b61648eda84be2"/>
    <ns0:sldId id="265" ns1:id="R7319a3e569c943e9"/>
    <ns0:sldId id="266" ns1:id="R172480c46230499c"/>
  </ns0:sldIdLst>
  <ns0:sldSz cx="12192000" cy="6858000"/>
  <ns0:notesSz cx="6858000" cy="9144000"/>
</ns0: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9cf342a2c142c8" /><Relationship Type="http://schemas.openxmlformats.org/officeDocument/2006/relationships/slideMaster" Target="/ppt/slideMasters/slideMaster1.xml" Id="R30a5af8fd4dd4680" /><Relationship Type="http://schemas.openxmlformats.org/officeDocument/2006/relationships/notesMaster" Target="/ppt/notesMasters/notesMaster1.xml" Id="Rbf77de0b1c684670" /><Relationship Type="http://schemas.openxmlformats.org/officeDocument/2006/relationships/presProps" Target="/ppt/presProps.xml" Id="Rfd6ab12135824461" /><Relationship Type="http://schemas.openxmlformats.org/officeDocument/2006/relationships/tableStyles" Target="/ppt/tableStyles.xml" Id="R5d5c2cf05bdd4e19" /><Relationship Type="http://schemas.openxmlformats.org/officeDocument/2006/relationships/slide" Target="/ppt/slides/slide1.xml" Id="R244c47757598425c" /><Relationship Type="http://schemas.openxmlformats.org/officeDocument/2006/relationships/slide" Target="/ppt/slides/slide2.xml" Id="R0c2cb6c44ba146ca" /><Relationship Type="http://schemas.openxmlformats.org/officeDocument/2006/relationships/slide" Target="/ppt/slides/slide3.xml" Id="R659c30139be249b5" /><Relationship Type="http://schemas.openxmlformats.org/officeDocument/2006/relationships/slide" Target="/ppt/slides/slide4.xml" Id="Rcbf1d8cd19d04610" /><Relationship Type="http://schemas.openxmlformats.org/officeDocument/2006/relationships/slide" Target="/ppt/slides/slide5.xml" Id="R22add00820074ee7" /><Relationship Type="http://schemas.openxmlformats.org/officeDocument/2006/relationships/slide" Target="/ppt/slides/slide6.xml" Id="R30635b60b9ff4167" /><Relationship Type="http://schemas.openxmlformats.org/officeDocument/2006/relationships/slide" Target="/ppt/slides/slide7.xml" Id="R08548f25535d4789" /><Relationship Type="http://schemas.openxmlformats.org/officeDocument/2006/relationships/slide" Target="/ppt/slides/slide8.xml" Id="R9644325c0a544e4e" /><Relationship Type="http://schemas.openxmlformats.org/officeDocument/2006/relationships/slide" Target="/ppt/slides/slide9.xml" Id="R14b61648eda84be2" /><Relationship Type="http://schemas.openxmlformats.org/officeDocument/2006/relationships/slide" Target="/ppt/slides/slide10.xml" Id="R7319a3e569c943e9" /><Relationship Type="http://schemas.openxmlformats.org/officeDocument/2006/relationships/slide" Target="/ppt/slides/slide11.xml" Id="R172480c46230499c" /><Relationship Type="http://schemas.openxmlformats.org/officeDocument/2006/relationships/slide" Target="/ppt/slides/slide12.xml" Id="R2ed744faa1c143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411f9350fb42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efdcb63b434cfb" /><Relationship Type="http://schemas.openxmlformats.org/officeDocument/2006/relationships/notesMaster" Target="/ppt/notesMasters/notesMaster1.xml" Id="R8a628b52e8e240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14b71888c14453" /><Relationship Type="http://schemas.openxmlformats.org/officeDocument/2006/relationships/notesMaster" Target="/ppt/notesMasters/notesMaster1.xml" Id="R5286015fd7db4e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0cfc6baeb34ccf" /><Relationship Type="http://schemas.openxmlformats.org/officeDocument/2006/relationships/notesMaster" Target="/ppt/notesMasters/notesMaster1.xml" Id="R69c62afad82742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e2ce364dbf408a" /><Relationship Type="http://schemas.openxmlformats.org/officeDocument/2006/relationships/notesMaster" Target="/ppt/notesMasters/notesMaster1.xml" Id="Rd6ca334b914347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827e30108b4172" /><Relationship Type="http://schemas.openxmlformats.org/officeDocument/2006/relationships/notesMaster" Target="/ppt/notesMasters/notesMaster1.xml" Id="Raa9c2f6c14a746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9d0fdbf3564493" /><Relationship Type="http://schemas.openxmlformats.org/officeDocument/2006/relationships/notesMaster" Target="/ppt/notesMasters/notesMaster1.xml" Id="R439ac59d810e4b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d0fe2746a04427" /><Relationship Type="http://schemas.openxmlformats.org/officeDocument/2006/relationships/notesMaster" Target="/ppt/notesMasters/notesMaster1.xml" Id="Rff1eb5340ab24e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ea6d102e6c412f" /><Relationship Type="http://schemas.openxmlformats.org/officeDocument/2006/relationships/notesMaster" Target="/ppt/notesMasters/notesMaster1.xml" Id="Rda017342b2f544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b13ee169f24451" /><Relationship Type="http://schemas.openxmlformats.org/officeDocument/2006/relationships/notesMaster" Target="/ppt/notesMasters/notesMaster1.xml" Id="Rb5b02892bcec4d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e71221fe104ec4" /><Relationship Type="http://schemas.openxmlformats.org/officeDocument/2006/relationships/notesMaster" Target="/ppt/notesMasters/notesMaster1.xml" Id="Re5e1b70211b943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b28ce49ce443a9" /><Relationship Type="http://schemas.openxmlformats.org/officeDocument/2006/relationships/notesMaster" Target="/ppt/notesMasters/notesMaster1.xml" Id="Rbf27b5fb605341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effded83dc4c42" /><Relationship Type="http://schemas.openxmlformats.org/officeDocument/2006/relationships/notesMaster" Target="/ppt/notesMasters/notesMaster1.xml" Id="R571b78b535ac4fe5" /></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เวลา 30 วินาที</ns1:t>
            </ns1:r>
          </ns1:p>
          <ns1:p>
            <ns1:r>
              <ns1:t/>
            </ns1:r>
          </ns1:p>
          <ns1:p>
            <ns1:r>
              <ns1:t>สวัสดีคณะอาจารย์และทีมไอทีทุกท่าน วันนี้ขอนำเสนอ ScopeBot ระบบแชตบอตสำหรับองค์กรที่นำเอกสารมาใช้เป็นแหล่งความรู้ในการตอบคำถาม ผู้ดูแลสามารถสร้างบอทและกำหนดเอกสารให้เหมาะกับงานได้ ระบบรองรับการสนทนาผ่านเว็บและ LINE รวมถึงการให้เจ้าหน้าที่รับช่วงต่อ การนำเสนอจะเริ่มจากปัญหา ภาพรวมทางเทคนิค และการสาธิต ก่อนสรุปผลทดสอบกับข้อจำกัดของระบบ</ns1:t>
            </ns1:r>
          </ns1:p>
          <ns1:p>
            <ns1:r>
              <ns1:t/>
            </ns1:r>
          </ns1:p>
          <ns1:p>
            <ns1:r>
              <ns1:t>ประโยคเชื่อม: เริ่มจากปัญหาที่เราต้องการแก้ก่อน</ns1:t>
            </ns1:r>
          </ns1:p>
          <ns1:p>
            <ns1:r>
              <ns1:t/>
            </ns1:r>
          </ns1:p>
          <ns1:p>
            <ns1:r>
              <ns1:t/>
            </ns1:r>
          </ns1:p>
          <ns1:p>
            <ns1:r>
              <ns1:t>ภาพ: ด้านขวา: โลโก้ ScopeBot หรือภาพหน้าจอหลัก</ns1:t>
            </ns1:r>
          </ns1:p>
          <ns1:p>
            <ns1:r>
              <ns1:t>ใต้ชื่อโครงการ: ชื่อสมาชิกและสถาบันจริง</ns1:t>
            </ns1:r>
          </ns1:p>
          <ns1:p>
            <ns1:r>
              <ns1:t>แหล่งข้อมูล: README.md; docs/semantic-search.md; docs/rag-correctness.md; คู่มือโครงการ</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เวลา 60 วินาที</ns1:t>
            </ns1:r>
          </ns1:p>
          <ns1:p>
            <ns1:r>
              <ns1:t/>
            </ns1:r>
          </ns1:p>
          <ns1:p>
            <ns1:r>
              <ns1:t>ปัญหาที่โครงงานนี้มุ่งแก้คือ ผู้ใช้อาจมีคำถามสั้น ๆ แต่ข้อมูลคำตอบอยู่ในเอกสารหลายหน้า หรือกระจายอยู่หลายไฟล์ จึงต้องรู้ก่อนว่าควรเปิดเอกสารไหนและอ่านตรงส่วนใด ขณะเดียวกันเจ้าหน้าที่อาจต้องตอบคำถามลักษณะเดิมอยู่บ่อยครั้ง ตัวอย่างสถานการณ์สมมติคือ ผู้ใช้ถามว่าต้องเตรียมเอกสารอะไรบ้างสำหรับขั้นตอนหนึ่ง คำตอบอาจอยู่ในคู่มือ แต่ผู้ใช้ไม่รู้ชื่อไฟล์ ScopeBot จึงออกแบบให้ผู้ใช้ถามเป็นภาษาปกติ แล้วระบบค้นข้อความที่เกี่ยวข้องมาช่วยตอบ เป้าหมายของเราคือทำให้เข้าถึงข้อมูลสะดวกขึ้น ส่วนการลดเวลาหรือภาระงานเป็นประโยชน์ที่ต้องวัดกับการใช้งานจริงต่อไป</ns1:t>
            </ns1:r>
          </ns1:p>
          <ns1:p>
            <ns1:r>
              <ns1:t/>
            </ns1:r>
          </ns1:p>
          <ns1:p>
            <ns1:r>
              <ns1:t>ประโยคเชื่อม: จากปัญหานี้ เรากำหนดขอบเขตของระบบไว้ดังนี้</ns1:t>
            </ns1:r>
          </ns1:p>
          <ns1:p>
            <ns1:r>
              <ns1:t/>
            </ns1:r>
          </ns1:p>
          <ns1:p>
            <ns1:r>
              <ns1:t/>
            </ns1:r>
          </ns1:p>
          <ns1:p>
            <ns1:r>
              <ns1:t>ภาพ: ด้านขวา: ภาพเอกสารหลายแหล่ง</ns1:t>
            </ns1:r>
          </ns1:p>
          <ns1:p>
            <ns1:r>
              <ns1:t>ประกอบคำถามสมมติ เช่น “ต้องใช้เอกสารอะไรบ้าง”</ns1:t>
            </ns1:r>
          </ns1:p>
          <ns1:p>
            <ns1:r>
              <ns1:t>หลีกเลี่ยงข้อมูลส่วนบุคคล</ns1:t>
            </ns1:r>
          </ns1:p>
          <ns1:p>
            <ns1:r>
              <ns1:t>แหล่งข้อมูล: README.md; docs/semantic-search.md; docs/rag-correctness.md; คู่มือโครงการ</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เวลา 70 วินาที</ns1:t>
            </ns1:r>
          </ns1:p>
          <ns1:p>
            <ns1:r>
              <ns1:t/>
            </ns1:r>
          </ns1:p>
          <ns1:p>
            <ns1:r>
              <ns1:t>คุณค่าที่เสนอคือการเข้าถึงข้อมูลผ่านบทสนทนา การตรวจสอบแหล่งข้อมูล และการจัดการบอทอย่างเป็นระบบ ประโยชน์ด้านเวลาหรือภาระงานยังต้องวัดกับผู้ใช้จริง ไม่กล่าวเป็นผลที่พิสูจน์แล้ว</ns1:t>
            </ns1:r>
          </ns1:p>
          <ns1:p>
            <ns1:r>
              <ns1:t/>
            </ns1:r>
          </ns1:p>
          <ns1:p>
            <ns1:r>
              <ns1:t>ภาพ: ด้านขวา: ภาพคำตอบพร้อมแหล่งอ้างอิง</ns1:t>
            </ns1:r>
          </ns1:p>
          <ns1:p>
            <ns1:r>
              <ns1:t>เน้นชื่อไฟล์หรือข้อความหลักฐาน</ns1:t>
            </ns1:r>
          </ns1:p>
          <ns1:p>
            <ns1:r>
              <ns1:t>ประโยชน์ด้านเวลาต้องประเมินจากการใช้งานจริง</ns1:t>
            </ns1:r>
          </ns1:p>
          <ns1:p>
            <ns1:r>
              <ns1:t>แหล่งข้อมูล: README.md; docs/semantic-search.md; docs/rag-correctness.md; คู่มือโครงการ</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เวลา 60 วินาที</ns1:t>
            </ns1:r>
          </ns1:p>
          <ns1:p>
            <ns1:r>
              <ns1:t/>
            </ns1:r>
          </ns1:p>
          <ns1:p>
            <ns1:r>
              <ns1:t>การใช้งานแบ่งเป็นสองช่วง ช่วงแรกเจ้าของบอทเตรียมบอทและเอกสาร ระบบต้องประมวลผลความรู้ให้พร้อมก่อน ผู้ใช้จึงจะถามข้อมูลจากเอกสารนั้นได้ ช่วงที่สองคือการสนทนา เมื่อมีคำถาม ระบบค้นข้อมูลของบอทที่เลือกแล้วสร้างคำตอบ หากข้อมูลไม่เพียงพอหรือผู้ใช้ต้องการความช่วยเหลือ ก็เข้าสู่ขั้นตอนติดต่อเจ้าของบอท จุดที่ต้องเข้าใจคือการอัปโหลดไฟล์กับความพร้อมของดัชนีค้นหาเป็นคนละขั้นตอน เราจึงต้องตรวจให้แน่ใจว่าความรู้ประมวลผลแล้วก่อนเริ่มสาธิต</ns1:t>
            </ns1:r>
          </ns1:p>
          <ns1:p>
            <ns1:r>
              <ns1:t/>
            </ns1:r>
          </ns1:p>
          <ns1:p>
            <ns1:r>
              <ns1:t>ประโยคเชื่อม: เมื่อเห็นการใช้งานแล้ว มาดูว่าส่วนต่าง ๆ ภายในระบบทำงานร่วมกันอย่างไร</ns1:t>
            </ns1:r>
          </ns1:p>
          <ns1:p>
            <ns1:r>
              <ns1:t/>
            </ns1:r>
          </ns1:p>
          <ns1:p>
            <ns1:r>
              <ns1:t/>
            </ns1:r>
          </ns1:p>
          <ns1:p>
            <ns1:r>
              <ns1:t>ภาพ: ด้านขวา: ภาพหน้าจอรายการบอทและแชท</ns1:t>
            </ns1:r>
          </ns1:p>
          <ns1:p>
            <ns1:r>
              <ns1:t>ใช้ Bots_Page.png หรือ Create_Bots_Page.png</ns1:t>
            </ns1:r>
          </ns1:p>
          <ns1:p>
            <ns1:r>
              <ns1:t>ใส่หมายเลขตามขั้นตอนที่สาธิต</ns1:t>
            </ns1:r>
          </ns1:p>
          <ns1:p>
            <ns1:r>
              <ns1:t>แหล่งข้อมูล: README.md; docs/semantic-search.md; docs/rag-correctness.md; คู่มือโครงการ</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เวลา 100 วินาที</ns1:t>
            </ns1:r>
          </ns1:p>
          <ns1:p>
            <ns1:r>
              <ns1:t/>
            </ns1:r>
          </ns1:p>
          <ns1:p>
            <ns1:r>
              <ns1:t>ในด้านสถาปัตยกรรม ฝั่งเว็บพัฒนาด้วย React เป็นส่วนที่ผู้ใช้เห็นและใช้จัดการบอท เมื่อผู้ใช้ส่งคำขอ Frontend จะติดต่อ FastAPI ซึ่งเป็นศูนย์กลางการประมวลผล Backend ตรวจตัวตนและสิทธิ์ก่อนเข้าถึงข้อมูล จากนั้นจึงเลือกว่าจะอ่านหรือเขียนฐานข้อมูล หรือเรียกกระบวนการ RAG สำหรับตอบคำถาม PostgreSQL เก็บข้อมูลที่มีโครงสร้าง เช่น บัญชี บอท และประวัติการสนทนา ส่วนข้อความจากเอกสารและ embeddings สำหรับค้นหาอยู่ใน ChromaDB จากนั้น Ollama ทำหน้าที่ให้บริการโมเดลภาษา สำหรับ LINE คำขอเข้าผ่าน webhook ที่ Backend และมีการตรวจ signature ตามช่องทางนั้น ในรูปแบบการติดตั้งที่มีในโครงการ Nginx ให้บริการหน้าเว็บและส่งคำขอ API ไปที่ FastAPI มี Docker Compose ช่วยจัดบริการ ส่วน Ollama รันบนเครื่อง host ตามการตั้งค่า compose ความสามารถรองรับโหลดจริงยังต้องประเมินตามเครื่องและโมเดลที่เลือก</ns1:t>
            </ns1:r>
          </ns1:p>
          <ns1:p>
            <ns1:r>
              <ns1:t/>
            </ns1:r>
          </ns1:p>
          <ns1:p>
            <ns1:r>
              <ns1:t>ประโยคเชื่อม: ส่วนที่ทำให้คำตอบเชื่อมโยงกับเอกสารคือกระบวนการ RAG</ns1:t>
            </ns1:r>
          </ns1:p>
          <ns1:p>
            <ns1:r>
              <ns1:t/>
            </ns1:r>
          </ns1:p>
          <ns1:p>
            <ns1:r>
              <ns1:t/>
            </ns1:r>
          </ns1:p>
          <ns1:p>
            <ns1:r>
              <ns1:t>ภาพ: ด้านขวา: แผนภาพ Web / LINE เชื่อม FastAPI</ns1:t>
            </ns1:r>
          </ns1:p>
          <ns1:p>
            <ns1:r>
              <ns1:t>แยกเส้นไป PostgreSQL, Storage และ RAG</ns1:t>
            </ns1:r>
          </ns1:p>
          <ns1:p>
            <ns1:r>
              <ns1:t>RAG เชื่อม vector store และ Ollama</ns1:t>
            </ns1:r>
          </ns1:p>
          <ns1:p>
            <ns1:r>
              <ns1:t>ระบุ vector backend ที่ตั้งค่าใช้งานจริง</ns1:t>
            </ns1:r>
          </ns1:p>
          <ns1:p>
            <ns1:r>
              <ns1:t>แหล่งข้อมูล: README.md; docs/semantic-search.md; docs/rag-correctness.md; คู่มือโครงการ</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เวลา 120 วินาที</ns1:t>
            </ns1:r>
          </ns1:p>
          <ns1:p>
            <ns1:r>
              <ns1:t/>
            </ns1:r>
          </ns1:p>
          <ns1:p>
            <ns1:r>
              <ns1:t>ระบบปัจจุบันรองรับ semantic retrieval โดยใช้คำถามก่อนหน้าช่วยตีความคำถามต่อเนื่อง แล้วค้น candidate passages และจัดอันดับด้วย reranker ก่อนตรวจ citation กับข้อความหลักฐาน คำตอบเก่าของบอทไม่ถือเป็นข้อเท็จจริงจากเอกสาร คะแนน reranker เป็นคะแนนความเกี่ยวข้อง ไม่ใช่ความน่าจะเป็นที่คำตอบถูกต้อง</ns1:t>
            </ns1:r>
          </ns1:p>
          <ns1:p>
            <ns1:r>
              <ns1:t/>
            </ns1:r>
          </ns1:p>
          <ns1:p>
            <ns1:r>
              <ns1:t>RAG เป็นกระบวนการนำข้อมูลที่ค้นพบมาเป็นบริบทให้โมเดลภาษา โดยมีสองช่วงสำคัญ ช่วงเตรียมความรู้เริ่มจากอ่านไฟล์และแบ่งเนื้อหาออกเป็นข้อความย่อยหรือ chunks จากนั้นแปลงข้อความเป็น embeddings ซึ่งเป็นตัวแทนเชิงตัวเลขที่ใช้ค้นหาข้อความที่เกี่ยวข้อง แล้วเก็บไว้ในดัชนีของบอท ขั้นตอนนี้เป็นการเตรียมความรู้สำหรับการค้นหา เมื่อเอกสารเปลี่ยน ระบบจึงต้องประมวลผลดัชนีที่เกี่ยวข้องให้ตรงกับข้อมูลใหม่</ns1:t>
            </ns1:r>
          </ns1:p>
          <ns1:p>
            <ns1:r>
              <ns1:t/>
            </ns1:r>
          </ns1:p>
          <ns1:p>
            <ns1:r>
              <ns1:t>ช่วงตอบคำถามเริ่มเมื่อผู้ใช้ส่งข้อความเข้ามา ระบบใช้คำถามและบริบทคำถามล่าสุดช่วยค้นเนื้อหาที่เกี่ยวข้อง จากนั้นนำข้อความที่ค้นได้มาเป็นหลักฐานประกอบคำสั่งให้โมเดลสร้างคำตอบ ตัวอย่างสมมติคือถามว่าเงื่อนไขการใช้บริการมีอะไรบ้าง ระบบจะค้นส่วนเงื่อนไขในเอกสารก่อน จึงไม่ต้องส่งเอกสารทั้งหมดให้โมเดลทุกครั้ง โค้ดปัจจุบันมีการตรวจหลักฐานของคำตอบ และสามารถปฏิเสธข้อความที่ไม่มีข้อมูลรองรับได้ ส่วนเว็บสามารถแสดงชื่อไฟล์และข้อความประกอบให้ตรวจสอบย้อนกลับ แต่ไม่ได้หมายความว่าคำตอบทุกกรณีจะถูกต้องเสมอ การประเมินจึงต้องดูทั้งค้นข้อความถูกหรือไม่ และคำตอบรักษาความหมายกับเงื่อนไขในเอกสารครบหรือไม่</ns1:t>
            </ns1:r>
          </ns1:p>
          <ns1:p>
            <ns1:r>
              <ns1:t/>
            </ns1:r>
          </ns1:p>
          <ns1:p>
            <ns1:r>
              <ns1:t>ประโยคเชื่อม: นอกจากความถูกต้องของคำตอบ อีกเรื่องสำคัญคือข้อมูลและสิทธิ์การเข้าถึง</ns1:t>
            </ns1:r>
          </ns1:p>
          <ns1:p>
            <ns1:r>
              <ns1:t/>
            </ns1:r>
          </ns1:p>
          <ns1:p>
            <ns1:r>
              <ns1:t/>
            </ns1:r>
          </ns1:p>
          <ns1:p>
            <ns1:r>
              <ns1:t>ภาพ: ด้านขวา: แผนภาพ 2 แถว</ns1:t>
            </ns1:r>
          </ns1:p>
          <ns1:p>
            <ns1:r>
              <ns1:t>เอกสาร → chunks → embeddings → index</ns1:t>
            </ns1:r>
          </ns1:p>
          <ns1:p>
            <ns1:r>
              <ns1:t>คำถาม → ค้นหา → rerank → ตอบและตรวจหลักฐาน</ns1:t>
            </ns1:r>
          </ns1:p>
          <ns1:p>
            <ns1:r>
              <ns1:t>แสดงชื่อไฟล์หรือเลขหน้าเมื่อมีข้อมูล</ns1:t>
            </ns1:r>
          </ns1:p>
          <ns1:p>
            <ns1:r>
              <ns1:t>แหล่งข้อมูล: README.md; docs/semantic-search.md; docs/rag-correctness.md; คู่มือโครงการ</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เวลา 90 วินาที</ns1:t>
            </ns1:r>
          </ns1:p>
          <ns1:p>
            <ns1:r>
              <ns1:t/>
            </ns1:r>
          </ns1:p>
          <ns1:p>
            <ns1:r>
              <ns1:t>การแยกข้อมูลในที่นี้เป็นการตรวจสิทธิ์และจำกัดการเข้าถึงตามเจ้าของและบอท รวมถึงการค้นในดัชนีของบอทที่เลือก ไม่ได้หมายความว่ามีฐานข้อมูลหรือเครื่องแยกต่อบอท และไม่ใช่การรับรองว่าผ่านการทดสอบเจาะระบบแล้ว การกำหนดสิทธิ์ การสำรองข้อมูล และการเก็บประวัติต้องปรับให้ตรงนโยบายองค์กร</ns1:t>
            </ns1:r>
          </ns1:p>
          <ns1:p>
            <ns1:r>
              <ns1:t/>
            </ns1:r>
          </ns1:p>
          <ns1:p>
            <ns1:r>
              <ns1:t>ระบบจัดเก็บข้อมูลแยกตามหน้าที่ PostgreSQL ใช้เก็บข้อมูลที่มีความสัมพันธ์ชัดเจน เช่น ผู้ใช้เป็นเจ้าของบอท และบอทมีประวัติการสนทนา ส่วน ChromaDB เก็บข้อความย่อยกับ embeddings เพื่อใช้ค้นหา โดยมีการแยกความรู้ตามบอท และ Storage เก็บไฟล์เอกสารต้นฉบับ ในการเข้าใช้งานเว็บ ระบบใช้ token ยืนยันตัวตน แล้ว Backend ตรวจสิทธิ์ตามบทบาทและความเป็นเจ้าของบอทอีกครั้ง การมีเมนูบนหน้าจอจึงต้องสัมพันธ์กับสิทธิ์ที่ Backend บังคับใช้ด้วย สำหรับการนำไปใช้งานในบริษัท ทีมไอทีควรประเมินการกำหนดสิทธิ์จริง การสำรองข้อมูล และการจัดเก็บประวัติให้ตรงกับนโยบายองค์กร ซึ่งเป็นส่วนที่ต้องกำหนดตามสภาพแวดล้อมใช้งาน</ns1:t>
            </ns1:r>
          </ns1:p>
          <ns1:p>
            <ns1:r>
              <ns1:t/>
            </ns1:r>
          </ns1:p>
          <ns1:p>
            <ns1:r>
              <ns1:t>ประโยคเชื่อม: ต่อไปคือกรณีที่การสนทนาต้องให้คนเข้ามาช่วย</ns1:t>
            </ns1:r>
          </ns1:p>
          <ns1:p>
            <ns1:r>
              <ns1:t/>
            </ns1:r>
          </ns1:p>
          <ns1:p>
            <ns1:r>
              <ns1:t/>
            </ns1:r>
          </ns1:p>
          <ns1:p>
            <ns1:r>
              <ns1:t>ภาพ: ด้านขวา: ภาพบอท A และ B กับความรู้แยกกัน</ns1:t>
            </ns1:r>
          </ns1:p>
          <ns1:p>
            <ns1:r>
              <ns1:t>แสดงจุดตรวจสิทธิ์ก่อนเข้าถึงข้อมูล</ns1:t>
            </ns1:r>
          </ns1:p>
          <ns1:p>
            <ns1:r>
              <ns1:t>ใต้ภาพ: เป็นการแยกเชิงตรรกะ</ns1:t>
            </ns1:r>
          </ns1:p>
          <ns1:p>
            <ns1:r>
              <ns1:t>ไม่ใช่ฐานข้อมูลหรือเครื่องแยกต่อบอท</ns1:t>
            </ns1:r>
          </ns1:p>
          <ns1:p>
            <ns1:r>
              <ns1:t>แหล่งข้อมูล: README.md; docs/semantic-search.md; docs/rag-correctness.md; คู่มือโครงการ</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เวลา 150 วินาที</ns1:t>
            </ns1:r>
          </ns1:p>
          <ns1:p>
            <ns1:r>
              <ns1:t/>
            </ns1:r>
          </ns1:p>
          <ns1:p>
            <ns1:r>
              <ns1:t>[0:00–0:25] ตอนนี้เราอยู่ที่หน้าจัดการบอท บอทนี้เชื่อมกับเอกสารที่เตรียมไว้และประมวลผลความรู้แล้ว ขอแสดงชื่อเอกสารเพื่อให้ตรวจสอบว่าคำตอบมาจากข้อมูลชุดใด</ns1:t>
            </ns1:r>
          </ns1:p>
          <ns1:p>
            <ns1:r>
              <ns1:t/>
            </ns1:r>
          </ns1:p>
          <ns1:p>
            <ns1:r>
              <ns1:t>[0:25–1:10] ต่อไปจะถามคำถามที่มีคำตอบอยู่ในเอกสาร ระหว่างรอ ระบบกำลังค้นข้อความที่เกี่ยวข้องและสร้างคำตอบ เมื่อคำตอบปรากฏให้ชี้ข้อมูลที่ตรงกับคำถาม แล้วเปิดชื่อไฟล์หรือข้อความประกอบบนเว็บเพื่อเทียบกับต้นฉบับ อธิบายเฉพาะผลที่เห็นบนหน้าจอ</ns1:t>
            </ns1:r>
          </ns1:p>
          <ns1:p>
            <ns1:r>
              <ns1:t/>
            </ns1:r>
          </ns1:p>
          <ns1:p>
            <ns1:r>
              <ns1:t>[1:10–2:10] ต่อไปเป็นการขอคุยกับเจ้าหน้าที่ เปลี่ยนไปยังหน้าจอเจ้าของบอท แสดงการรับช่วงและตอบข้อความหนึ่งครั้ง แล้วกลับไปที่หน้าผู้สนทนาเพื่อดูข้อความตอบ จากนั้นจบ session</ns1:t>
            </ns1:r>
          </ns1:p>
          <ns1:p>
            <ns1:r>
              <ns1:t/>
            </ns1:r>
          </ns1:p>
          <ns1:p>
            <ns1:r>
              <ns1:t>[2:10–2:30] การสาธิตนี้แสดงเส้นทางตั้งแต่ใช้เอกสารตอบคำถามจนถึงให้คนรับช่วง กรณีระบบช้าหรือบริการไม่พร้อม ให้เปิดวิดีโอจากการซ้อมที่เตรียมไว้ และบอกผู้ฟังว่าเป็นวิดีโอบันทึกการทำงาน</ns1:t>
            </ns1:r>
          </ns1:p>
          <ns1:p>
            <ns1:r>
              <ns1:t/>
            </ns1:r>
          </ns1:p>
          <ns1:p>
            <ns1:r>
              <ns1:t>ประโยคเชื่อม: หลังเห็นการใช้งานแล้ว มาดูหลักฐานการทดสอบและสิ่งที่ยังต้องประเมิน</ns1:t>
            </ns1:r>
          </ns1:p>
          <ns1:p>
            <ns1:r>
              <ns1:t/>
            </ns1:r>
          </ns1:p>
          <ns1:p>
            <ns1:r>
              <ns1:t/>
            </ns1:r>
          </ns1:p>
          <ns1:p>
            <ns1:r>
              <ns1:t>ภาพ: ด้านขวา: ภาพหน้าจอบอทที่จะสาธิต</ns1:t>
            </ns1:r>
          </ns1:p>
          <ns1:p>
            <ns1:r>
              <ns1:t>สลับไปใช้ระบบจริงในช่วงนี้</ns1:t>
            </ns1:r>
          </ns1:p>
          <ns1:p>
            <ns1:r>
              <ns1:t>เตรียมวิดีโอจากการซ้อมเป็นแผนสำรอง</ns1:t>
            </ns1:r>
          </ns1:p>
          <ns1:p>
            <ns1:r>
              <ns1:t>แหล่งข้อมูล: README.md; docs/semantic-search.md; docs/rag-correctness.md; คู่มือโครงการ</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เวลา 90 วินาที</ns1:t>
            </ns1:r>
          </ns1:p>
          <ns1:p>
            <ns1:r>
              <ns1:t/>
            </ns1:r>
          </ns1:p>
          <ns1:p>
            <ns1:r>
              <ns1:t>การประเมินระบบควรแยกความถูกต้องของโปรแกรมออกจากคุณภาพคำตอบของโมเดล เอกสารผลทดสอบในโครงการรายงานว่า backend ผ่าน 139 กรณี ณ การตรวจที่บันทึกไว้ โดยชุดทดสอบครอบคลุมงานข้อมูล สิทธิ์ และเงื่อนไขของกระบวนการ RAG ตัวอย่างกรณีคือการรักษาความหมายของคำปฏิเสธ การอ้างตัวเลขตามหลักฐาน การอ่านตารางจาก DOCX และคำถามต่อเนื่อง สำหรับ regression tests มีการจำลองผลตอบจากโมเดลเพื่อให้ทดสอบซ้ำได้ จึงยังใช้สรุปเป็นเปอร์เซ็นต์ความแม่นยำของโมเดลจริงไม่ได้</ns1:t>
            </ns1:r>
          </ns1:p>
          <ns1:p>
            <ns1:r>
              <ns1:t/>
            </ns1:r>
          </ns1:p>
          <ns1:p>
            <ns1:r>
              <ns1:t>การประเมินกับผู้ใช้จริงควรเตรียมคำถามที่มีคำตอบอ้างอิง แยกคำถามที่มีข้อมูล ไม่มีข้อมูล และคำถามต่อเนื่อง แล้วตรวจทั้งความครบถ้วน ความถูกต้อง การอ้างอิง และเวลาตอบ โดยระบุเอกสาร รุ่นโมเดล และเครื่องที่ใช้ทุกครั้ง ผลส่วนนี้จะช่วยตอบได้ชัดว่าระบบเหมาะกับงานของบริษัทมากน้อยเพียงใด</ns1:t>
            </ns1:r>
          </ns1:p>
          <ns1:p>
            <ns1:r>
              <ns1:t/>
            </ns1:r>
          </ns1:p>
          <ns1:p>
            <ns1:r>
              <ns1:t>ประโยคเชื่อม: ผลทดสอบเหล่านี้นำไปสู่ข้อจำกัดและลำดับการพัฒนาต่อ</ns1:t>
            </ns1:r>
          </ns1:p>
          <ns1:p>
            <ns1:r>
              <ns1:t/>
            </ns1:r>
          </ns1:p>
          <ns1:p>
            <ns1:r>
              <ns1:t/>
            </ns1:r>
          </ns1:p>
          <ns1:p>
            <ns1:r>
              <ns1:t>ภาพ: ด้านขวา: ตารางกรณีทดสอบจากรายงานจริง</ns1:t>
            </ns1:r>
          </ns1:p>
          <ns1:p>
            <ns1:r>
              <ns1:t>แยก regression tests กับการใช้โมเดลจริง</ns1:t>
            </ns1:r>
          </ns1:p>
          <ns1:p>
            <ns1:r>
              <ns1:t>ระบุวันที่และชุดทดสอบ</ns1:t>
            </ns1:r>
          </ns1:p>
          <ns1:p>
            <ns1:r>
              <ns1:t>ไม่ใช้ 139 กรณีเป็นค่าความแม่นยำ AI</ns1:t>
            </ns1:r>
          </ns1:p>
          <ns1:p>
            <ns1:r>
              <ns1:t>แหล่งข้อมูล: README.md; docs/semantic-search.md; docs/rag-correctness.md; คู่มือโครงการ</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0.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เวลา 90 วินาที</ns1:t>
            </ns1:r>
          </ns1:p>
          <ns1:p>
            <ns1:r>
              <ns1:t/>
            </ns1:r>
          </ns1:p>
          <ns1:p>
            <ns1:r>
              <ns1:t>ข้อจำกัดแรกคือเอกสารต้นทาง หากข้อมูลไม่ครบ ล้าสมัย หรือโครงสร้างอ่านยาก ระบบอาจค้นหลักฐานได้ไม่ครบ จึงต้องมีผู้รับผิดชอบปรับปรุงความรู้ ข้อที่สองคือโมเดลและทรัพยากรเครื่องมีผลต่อคุณภาพกับเวลาตอบ โดยเฉพาะเมื่อมีผู้ใช้หลายคนพร้อมกัน จึงยังต้องวัดก่อนกำหนดขนาดเครื่องใช้งานจริง ข้อที่สามคือการตรวจคำตอบจากหลักฐานอาจทำให้บางคำถามถูกปฏิเสธ จึงต้องประเมินทั้งคำตอบผิดและกรณีที่ระบบปฏิเสธมากเกินไป</ns1:t>
            </ns1:r>
          </ns1:p>
          <ns1:p>
            <ns1:r>
              <ns1:t/>
            </ns1:r>
          </ns1:p>
          <ns1:p>
            <ns1:r>
              <ns1:t>แนวทางพัฒนาต่อที่เสนอคือเริ่มจากชุดคำถามของหน่วยงานจริง แล้วให้ผู้ใช้ประเมินผ่าน UAT จากนั้นจึงปรับกระบวนการค้นหาและคำตอบ พร้อมวางแผนสำรองข้อมูล ติดตามสถานะบริการ และกำหนดผู้รับผิดชอบคิวแชท ก่อนขยายขอบเขตใช้งาน การทำตามลำดับนี้จะช่วยให้เห็นว่าจุดใดควรปรับจากหลักฐานการใช้งาน</ns1:t>
            </ns1:r>
          </ns1:p>
          <ns1:p>
            <ns1:r>
              <ns1:t/>
            </ns1:r>
          </ns1:p>
          <ns1:p>
            <ns1:r>
              <ns1:t>ประโยคเชื่อม: ขอสรุปภาพรวมของ ScopeBot อีกครั้ง</ns1:t>
            </ns1:r>
          </ns1:p>
          <ns1:p>
            <ns1:r>
              <ns1:t/>
            </ns1:r>
          </ns1:p>
          <ns1:p>
            <ns1:r>
              <ns1:t/>
            </ns1:r>
          </ns1:p>
          <ns1:p>
            <ns1:r>
              <ns1:t>ภาพ: ด้านขวา: แผนพัฒนา 3 ระยะ</ns1:t>
            </ns1:r>
          </ns1:p>
          <ns1:p>
            <ns1:r>
              <ns1:t>ประเมินคำตอบ → ทดลองใช้ → เตรียมใช้งาน</ns1:t>
            </ns1:r>
          </ns1:p>
          <ns1:p>
            <ns1:r>
              <ns1:t>ติดป้ายว่าเป็นแผนงาน</ns1:t>
            </ns1:r>
          </ns1:p>
          <ns1:p>
            <ns1:r>
              <ns1:t>ไม่ใส่ผล UAT ที่ยังไม่ได้ยืนยัน</ns1:t>
            </ns1:r>
          </ns1:p>
          <ns1:p>
            <ns1:r>
              <ns1:t>แหล่งข้อมูล: README.md; docs/semantic-search.md; docs/rag-correctness.md; คู่มือโครงการ</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เวลา 40 วินาที</ns1:t>
            </ns1:r>
          </ns1:p>
          <ns1:p>
            <ns1:r>
              <ns1:t/>
            </ns1:r>
          </ns1:p>
          <ns1:p>
            <ns1:r>
              <ns1:t>ScopeBot เชื่อมการจัดการเอกสารเข้ากับการสนทนา ผู้ดูแลจัดความรู้ให้แต่ละบอทได้ ผู้ใช้ถามผ่านเว็บหรือ LINE และเจ้าของบอทรับช่วงช่วยเหลือเมื่อจำเป็น โครงงานมีทั้งส่วนจัดการระบบและกระบวนการ RAG โดยขั้นต่อไปคือการประเมินกับข้อมูลและผู้ใช้จริง ขอบคุณทุกท่าน และยินดีตอบคำถาม</ns1:t>
            </ns1:r>
          </ns1:p>
          <ns1:p>
            <ns1:r>
              <ns1:t/>
            </ns1:r>
          </ns1:p>
          <ns1:p>
            <ns1:r>
              <ns1:t>ประโยคเชื่อม: เปิดรับคำถาม</ns1:t>
            </ns1:r>
          </ns1:p>
          <ns1:p>
            <ns1:r>
              <ns1:t/>
            </ns1:r>
          </ns1:p>
          <ns1:p>
            <ns1:r>
              <ns1:t/>
            </ns1:r>
          </ns1:p>
          <ns1:p>
            <ns1:r>
              <ns1:t>ภาพ: ด้านขวา: โลโก้หรือภาพทีมผู้จัดทำ</ns1:t>
            </ns1:r>
          </ns1:p>
          <ns1:p>
            <ns1:r>
              <ns1:t>เพิ่มชื่อสมาชิกและช่องทางติดต่อจริง</ns1:t>
            </ns1:r>
          </ns1:p>
          <ns1:p>
            <ns1:r>
              <ns1:t>พื้นที่ท้ายหน้า: Q&amp;A</ns1:t>
            </ns1:r>
          </ns1:p>
          <ns1:p>
            <ns1:r>
              <ns1:t>แหล่งข้อมูล: README.md; docs/semantic-search.md; docs/rag-correctness.md; คู่มือโครงการ</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30 วินาที</a:t>
            </a:r>
          </a:p>
          <a:p xmlns:a="http://schemas.openxmlformats.org/drawingml/2006/main">
            <a:r>
              <a:t/>
            </a:r>
          </a:p>
          <a:p xmlns:a="http://schemas.openxmlformats.org/drawingml/2006/main">
            <a:r>
              <a:t>บทพูด</a:t>
            </a:r>
          </a:p>
          <a:p xmlns:a="http://schemas.openxmlformats.org/drawingml/2006/main">
            <a:r>
              <a:t>ScopeBot เชื่อมการจัดการเอกสารเข้ากับการสนทนา ผู้ดูแลจัดความรู้ให้แต่ละบอทได้ ผู้ใช้ถามผ่านเว็บหรือ LINE และเจ้าของบอทรับช่วงช่วยเหลือเมื่อจำเป็น โครงงานมีทั้งส่วนจัดการระบบและกระบวนการ RAG โดยขั้นต่อไปคือการประเมินกับข้อมูลและผู้ใช้จริง ขอบคุณทุกท่าน และยินดีตอบคำถาม</a:t>
            </a:r>
          </a:p>
          <a:p xmlns:a="http://schemas.openxmlformats.org/drawingml/2006/main">
            <a:r>
              <a:t/>
            </a:r>
          </a:p>
          <a:p xmlns:a="http://schemas.openxmlformats.org/drawingml/2006/main">
            <a:r>
              <a:t>ประโยคเชื่อม: เปิดรับคำถาม</a:t>
            </a:r>
          </a:p>
          <a:p xmlns:a="http://schemas.openxmlformats.org/drawingml/2006/main">
            <a:r>
              <a:t/>
            </a:r>
          </a:p>
          <a:p xmlns:a="http://schemas.openxmlformats.org/drawingml/2006/main">
            <a:r>
              <a:t>ภาพ: โลโก้ ScopeBot หรือภาพทีม</a:t>
            </a:r>
          </a:p>
          <a:p xmlns:a="http://schemas.openxmlformats.org/drawingml/2006/main">
            <a:r>
              <a:t>วางด้านขวา เพิ่มชื่อสมาชิกจริงได้</a:t>
            </a:r>
          </a:p>
          <a:p xmlns:a="http://schemas.openxmlformats.org/drawingml/2006/main">
            <a:r>
              <a:t>ตรวจชื่อและช่องทางติดต่อก่อนเผยแพร่</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d3147d319140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402e9128da4e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093372f61b47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6bd4caa2904c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95a6bc52314a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19dfc0bd0f44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3F0D3D-ED00-42C5-946D-63DD9642CE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71CEA64-5F8D-4434-8204-1A3EDCCEAC4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650B111-946D-46B8-9FF7-A090B033717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24569A-5094-44BB-A7FF-E7EABF72B5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18201ED-5575-4BF3-AD15-5696899BC2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2B25CE-CBCB-44E1-83B4-3479D3F6E4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450E0E-3F7F-400F-A5AC-CDA8AD3AF5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5603C0-E07B-45AD-9521-FF2AC9754C4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B2FF20-62E8-44FC-8850-21F01851A1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C42E6C-24F8-41D8-8316-5DB40F2A65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fa413109f34757" /><Relationship Type="http://schemas.openxmlformats.org/officeDocument/2006/relationships/slideLayout" Target="/ppt/slideLayouts/slideLayout1.xml" Id="Red3e49278a894c8f" /><Relationship Type="http://schemas.openxmlformats.org/officeDocument/2006/relationships/slideLayout" Target="/ppt/slideLayouts/slideLayout2.xml" Id="Rbcd20a5e60184c23" /><Relationship Type="http://schemas.openxmlformats.org/officeDocument/2006/relationships/slideLayout" Target="/ppt/slideLayouts/slideLayout3.xml" Id="R6132bff292db4295" /><Relationship Type="http://schemas.openxmlformats.org/officeDocument/2006/relationships/slideLayout" Target="/ppt/slideLayouts/slideLayout4.xml" Id="R9ab4ead3a9ec4393" /><Relationship Type="http://schemas.openxmlformats.org/officeDocument/2006/relationships/slideLayout" Target="/ppt/slideLayouts/slideLayout5.xml" Id="R7c1ad3354c004fd1" /><Relationship Type="http://schemas.openxmlformats.org/officeDocument/2006/relationships/slideLayout" Target="/ppt/slideLayouts/slideLayout6.xml" Id="R0bc8a079a8ec46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3e49278a894c8f"/>
    <p:sldLayoutId xmlns:r="http://schemas.openxmlformats.org/officeDocument/2006/relationships" id="2147483650" r:id="Rbcd20a5e60184c23"/>
    <p:sldLayoutId xmlns:r="http://schemas.openxmlformats.org/officeDocument/2006/relationships" id="2147483651" r:id="R6132bff292db4295"/>
    <p:sldLayoutId xmlns:r="http://schemas.openxmlformats.org/officeDocument/2006/relationships" id="2147483652" r:id="R9ab4ead3a9ec4393"/>
    <p:sldLayoutId xmlns:r="http://schemas.openxmlformats.org/officeDocument/2006/relationships" id="2147483653" r:id="R7c1ad3354c004fd1"/>
    <p:sldLayoutId xmlns:r="http://schemas.openxmlformats.org/officeDocument/2006/relationships" id="2147483654" r:id="R0bc8a079a8ec46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dbdeee296e4a58" /><Relationship Type="http://schemas.openxmlformats.org/officeDocument/2006/relationships/notesSlide" Target="/ppt/notesSlides/notesSlide1.xml" Id="R77f410d3dbff42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a642daec86425b" /><Relationship Type="http://schemas.openxmlformats.org/officeDocument/2006/relationships/notesSlide" Target="/ppt/notesSlides/notesSlide2.xml" Id="R412eb99481974f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7904b3fea72489e" /><Relationship Type="http://schemas.openxmlformats.org/officeDocument/2006/relationships/notesSlide" Target="/ppt/notesSlides/notesSlide3.xml" Id="Rfa438254d3e84c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b8e658610c646f2" /><Relationship Type="http://schemas.openxmlformats.org/officeDocument/2006/relationships/notesSlide" Target="/ppt/notesSlides/notesSlide4.xml" Id="R47d95133b5bc42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b7bcf0d422f4d78" /><Relationship Type="http://schemas.openxmlformats.org/officeDocument/2006/relationships/notesSlide" Target="/ppt/notesSlides/notesSlide5.xml" Id="R0c0f278c3f994d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667c05961a74f0c" /><Relationship Type="http://schemas.openxmlformats.org/officeDocument/2006/relationships/notesSlide" Target="/ppt/notesSlides/notesSlide6.xml" Id="Rb6a3bfb06cca49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db2ec19af94ad6" /><Relationship Type="http://schemas.openxmlformats.org/officeDocument/2006/relationships/notesSlide" Target="/ppt/notesSlides/notesSlide7.xml" Id="R6733201585b34d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07fa4fc3a1246b8" /><Relationship Type="http://schemas.openxmlformats.org/officeDocument/2006/relationships/notesSlide" Target="/ppt/notesSlides/notesSlide8.xml" Id="R747a9d78a1ee4c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04f6869efcf41d1" /><Relationship Type="http://schemas.openxmlformats.org/officeDocument/2006/relationships/notesSlide" Target="/ppt/notesSlides/notesSlide9.xml" Id="R25d156cde40446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b5f8fcee6b9420c" /><Relationship Type="http://schemas.openxmlformats.org/officeDocument/2006/relationships/notesSlide" Target="/ppt/notesSlides/notesSlide10.xml" Id="R4c34e5a4ec6244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5f5dcb8e1f7401c" /><Relationship Type="http://schemas.openxmlformats.org/officeDocument/2006/relationships/notesSlide" Target="/ppt/notesSlides/notesSlide11.xml" Id="Ra4a060c3ae744e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7c26b9182da411b" /><Relationship Type="http://schemas.openxmlformats.org/officeDocument/2006/relationships/notesSlide" Target="/ppt/notesSlides/notesSlide12.xml" Id="R730eec9b393b4de0"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7FAFC"/>
        </ns1:solidFill>
      </ns0:bgPr>
    </ns0:bg>
    <ns0:spTree>
      <ns0:nvGrpSpPr>
        <ns0:cNvPr id="1" name=""/>
        <ns0:cNvGrpSpPr/>
        <ns0:nvPr/>
      </ns0:nvGrpSpPr>
      <ns0:grpSpPr>
        <ns1:xfrm/>
      </ns0:grpSpPr>
      <ns0:sp>
        <ns0:nvSpPr>
          <ns0:cNvPr id="2" name="">
            <ns1:extLst>
              <ns1:ext uri="{FF2B5EF4-FFF2-40B4-BE49-F238E27FC236}">
                <ns2:creationId id="{35096228-43DF-4076-BD4F-C87C092B7916}"/>
              </ns1:ext>
            </ns1:extLst>
          </ns0:cNvPr>
          <ns0:cNvSpPr>
            <ns1:spLocks noGrp="1"/>
          </ns0:cNvSpPr>
          <ns0:nvPr/>
        </ns0:nvSpPr>
        <ns0:spPr>
          <ns1:xfrm>
            <ns1:off x="666750" y="400050"/>
            <ns1:ext cx="8572500" cy="333375"/>
          </ns1:xfrm>
          <ns1:prstGeom prst="rect">
            <ns1:avLst/>
          </ns1:prstGeom>
          <ns1:noFill/>
          <ns1:ln w="0">
            <ns1:noFill/>
          </ns1:ln>
        </ns0:spPr>
        <ns0:txBody>
          <ns1:bodyPr/>
          <ns1:lstStyle>
            <ns1:defPPr>
              <ns1:defRPr sz="1200" b="1">
                <ns1:solidFill>
                  <ns1:srgbClr val="087E95"/>
                </ns1:solidFill>
              </ns1:defRPr>
            </ns1:defPPr>
            <ns1:lvl1pPr>
              <ns1:defRPr sz="1200" b="1">
                <ns1:solidFill>
                  <ns1:srgbClr val="087E95"/>
                </ns1:solidFill>
              </ns1:defRPr>
            </ns1:lvl1pPr>
            <ns1:lvl2pPr>
              <ns1:defRPr sz="1200" b="1">
                <ns1:solidFill>
                  <ns1:srgbClr val="087E95"/>
                </ns1:solidFill>
              </ns1:defRPr>
            </ns1:lvl2pPr>
            <ns1:lvl3pPr>
              <ns1:defRPr sz="1200" b="1">
                <ns1:solidFill>
                  <ns1:srgbClr val="087E95"/>
                </ns1:solidFill>
              </ns1:defRPr>
            </ns1:lvl3pPr>
            <ns1:lvl4pPr>
              <ns1:defRPr sz="1200" b="1">
                <ns1:solidFill>
                  <ns1:srgbClr val="087E95"/>
                </ns1:solidFill>
              </ns1:defRPr>
            </ns1:lvl4pPr>
            <ns1:lvl5pPr>
              <ns1:defRPr sz="1200" b="1">
                <ns1:solidFill>
                  <ns1:srgbClr val="087E95"/>
                </ns1:solidFill>
              </ns1:defRPr>
            </ns1:lvl5pPr>
            <ns1:lvl6pPr>
              <ns1:defRPr sz="1200" b="1">
                <ns1:solidFill>
                  <ns1:srgbClr val="087E95"/>
                </ns1:solidFill>
              </ns1:defRPr>
            </ns1:lvl6pPr>
            <ns1:lvl7pPr>
              <ns1:defRPr sz="1200" b="1">
                <ns1:solidFill>
                  <ns1:srgbClr val="087E95"/>
                </ns1:solidFill>
              </ns1:defRPr>
            </ns1:lvl7pPr>
            <ns1:lvl8pPr>
              <ns1:defRPr sz="1200" b="1">
                <ns1:solidFill>
                  <ns1:srgbClr val="087E95"/>
                </ns1:solidFill>
              </ns1:defRPr>
            </ns1:lvl8pPr>
            <ns1:lvl9pPr>
              <ns1:defRPr sz="1200" b="1">
                <ns1:solidFill>
                  <ns1:srgbClr val="087E95"/>
                </ns1:solidFill>
              </ns1:defRPr>
            </ns1:lvl9pPr>
          </ns1:lstStyle>
          <ns1:p>
            <ns1:pPr>
              <ns1:defRPr sz="1400">
                <ns1:solidFill>
                  <ns1:srgbClr val="087E95"/>
                </ns1:solidFill>
                <ns1:latin typeface="Tahoma"/>
                <ns1:cs typeface="Tahoma"/>
              </ns1:defRPr>
            </ns1:pPr>
            <ns1:r>
              <ns1:t>SCOPEBOT  /  01   Title</ns1:t>
            </ns1:r>
          </ns1:p>
        </ns0:txBody>
      </ns0:sp>
      <ns0:sp>
        <ns0:nvSpPr>
          <ns0:cNvPr id="3" name="">
            <ns1:extLst>
              <ns1:ext uri="{FF2B5EF4-FFF2-40B4-BE49-F238E27FC236}">
                <ns2:creationId id="{88474509-0381-4CF1-9CC1-41E6E5E93744}"/>
              </ns1:ext>
            </ns1:extLst>
          </ns0:cNvPr>
          <ns0:cNvSpPr>
            <ns1:spLocks noGrp="1"/>
          </ns0:cNvSpPr>
          <ns0:nvPr/>
        </ns0:nvSpPr>
        <ns0:spPr>
          <ns1:xfrm>
            <ns1:off x="666750" y="1095375"/>
            <ns1:ext cx="10668000" cy="952500"/>
          </ns1:xfrm>
          <ns1:prstGeom prst="rect">
            <ns1:avLst/>
          </ns1:prstGeom>
          <ns1:noFill/>
          <ns1:ln w="0">
            <ns1:noFill/>
          </ns1:ln>
        </ns0:spPr>
        <ns0:txBody>
          <ns1:bodyPr/>
          <ns1:lstStyle>
            <ns1:defPPr>
              <ns1:defRPr sz="4050" b="1">
                <ns1:solidFill>
                  <ns1:srgbClr val="142B42"/>
                </ns1:solidFill>
              </ns1:defRPr>
            </ns1:defPPr>
            <ns1:lvl1pPr>
              <ns1:defRPr sz="4050" b="1">
                <ns1:solidFill>
                  <ns1:srgbClr val="142B42"/>
                </ns1:solidFill>
              </ns1:defRPr>
            </ns1:lvl1pPr>
            <ns1:lvl2pPr>
              <ns1:defRPr sz="4050" b="1">
                <ns1:solidFill>
                  <ns1:srgbClr val="142B42"/>
                </ns1:solidFill>
              </ns1:defRPr>
            </ns1:lvl2pPr>
            <ns1:lvl3pPr>
              <ns1:defRPr sz="4050" b="1">
                <ns1:solidFill>
                  <ns1:srgbClr val="142B42"/>
                </ns1:solidFill>
              </ns1:defRPr>
            </ns1:lvl3pPr>
            <ns1:lvl4pPr>
              <ns1:defRPr sz="4050" b="1">
                <ns1:solidFill>
                  <ns1:srgbClr val="142B42"/>
                </ns1:solidFill>
              </ns1:defRPr>
            </ns1:lvl4pPr>
            <ns1:lvl5pPr>
              <ns1:defRPr sz="4050" b="1">
                <ns1:solidFill>
                  <ns1:srgbClr val="142B42"/>
                </ns1:solidFill>
              </ns1:defRPr>
            </ns1:lvl5pPr>
            <ns1:lvl6pPr>
              <ns1:defRPr sz="4050" b="1">
                <ns1:solidFill>
                  <ns1:srgbClr val="142B42"/>
                </ns1:solidFill>
              </ns1:defRPr>
            </ns1:lvl6pPr>
            <ns1:lvl7pPr>
              <ns1:defRPr sz="4050" b="1">
                <ns1:solidFill>
                  <ns1:srgbClr val="142B42"/>
                </ns1:solidFill>
              </ns1:defRPr>
            </ns1:lvl7pPr>
            <ns1:lvl8pPr>
              <ns1:defRPr sz="4050" b="1">
                <ns1:solidFill>
                  <ns1:srgbClr val="142B42"/>
                </ns1:solidFill>
              </ns1:defRPr>
            </ns1:lvl8pPr>
            <ns1:lvl9pPr>
              <ns1:defRPr sz="4050" b="1">
                <ns1:solidFill>
                  <ns1:srgbClr val="142B42"/>
                </ns1:solidFill>
              </ns1:defRPr>
            </ns1:lvl9pPr>
          </ns1:lstStyle>
          <ns1:p>
            <ns1:pPr>
              <ns1:defRPr sz="3000">
                <ns1:solidFill>
                  <ns1:srgbClr val="142B42"/>
                </ns1:solidFill>
                <ns1:latin typeface="Tahoma"/>
                <ns1:cs typeface="Tahoma"/>
              </ns1:defRPr>
            </ns1:pPr>
            <ns1:r>
              <ns1:t>ScopeBot</ns1:t>
            </ns1:r>
          </ns1:p>
        </ns0:txBody>
      </ns0:sp>
      <ns0:sp>
        <ns0:nvSpPr>
          <ns0:cNvPr id="4" name="">
            <ns1:extLst>
              <ns1:ext uri="{FF2B5EF4-FFF2-40B4-BE49-F238E27FC236}">
                <ns2:creationId id="{BA6922C9-2B89-47DE-8B3B-C96000715326}"/>
              </ns1:ext>
            </ns1:extLst>
          </ns0:cNvPr>
          <ns0:cNvSpPr>
            <ns1:spLocks noGrp="1"/>
          </ns0:cNvSpPr>
          <ns0:nvPr/>
        </ns0:nvSpPr>
        <ns0:spPr>
          <ns1:xfrm>
            <ns1:off x="714375" y="2238375"/>
            <ns1:ext cx="6191250" cy="3905250"/>
          </ns1:xfrm>
          <ns1:prstGeom prst="rect">
            <ns1:avLst/>
          </ns1:prstGeom>
          <ns1:noFill/>
          <ns1:ln w="0">
            <ns1:noFill/>
          </ns1:ln>
        </ns0:spPr>
        <ns0:txBody>
          <ns1:bodyPr/>
          <ns1:lstStyle>
            <ns1:defPPr>
              <ns1:defRPr sz="1875" b="0">
                <ns1:solidFill>
                  <ns1:srgbClr val="294255"/>
                </ns1:solidFill>
              </ns1:defRPr>
            </ns1:defPPr>
            <ns1:lvl1pPr>
              <ns1:defRPr sz="1875" b="0">
                <ns1:solidFill>
                  <ns1:srgbClr val="294255"/>
                </ns1:solidFill>
              </ns1:defRPr>
            </ns1:lvl1pPr>
            <ns1:lvl2pPr>
              <ns1:defRPr sz="1875" b="0">
                <ns1:solidFill>
                  <ns1:srgbClr val="294255"/>
                </ns1:solidFill>
              </ns1:defRPr>
            </ns1:lvl2pPr>
            <ns1:lvl3pPr>
              <ns1:defRPr sz="1875" b="0">
                <ns1:solidFill>
                  <ns1:srgbClr val="294255"/>
                </ns1:solidFill>
              </ns1:defRPr>
            </ns1:lvl3pPr>
            <ns1:lvl4pPr>
              <ns1:defRPr sz="1875" b="0">
                <ns1:solidFill>
                  <ns1:srgbClr val="294255"/>
                </ns1:solidFill>
              </ns1:defRPr>
            </ns1:lvl4pPr>
            <ns1:lvl5pPr>
              <ns1:defRPr sz="1875" b="0">
                <ns1:solidFill>
                  <ns1:srgbClr val="294255"/>
                </ns1:solidFill>
              </ns1:defRPr>
            </ns1:lvl5pPr>
            <ns1:lvl6pPr>
              <ns1:defRPr sz="1875" b="0">
                <ns1:solidFill>
                  <ns1:srgbClr val="294255"/>
                </ns1:solidFill>
              </ns1:defRPr>
            </ns1:lvl6pPr>
            <ns1:lvl7pPr>
              <ns1:defRPr sz="1875" b="0">
                <ns1:solidFill>
                  <ns1:srgbClr val="294255"/>
                </ns1:solidFill>
              </ns1:defRPr>
            </ns1:lvl7pPr>
            <ns1:lvl8pPr>
              <ns1:defRPr sz="1875" b="0">
                <ns1:solidFill>
                  <ns1:srgbClr val="294255"/>
                </ns1:solidFill>
              </ns1:defRPr>
            </ns1:lvl8pPr>
            <ns1:lvl9pPr>
              <ns1:defRPr sz="1875" b="0">
                <ns1:solidFill>
                  <ns1:srgbClr val="294255"/>
                </ns1:solidFill>
              </ns1:defRPr>
            </ns1:lvl9pPr>
          </ns1:lstStyle>
          <ns1:p>
            <ns1:pPr>
              <ns1:defRPr sz="1900">
                <ns1:solidFill>
                  <ns1:srgbClr val="294255"/>
                </ns1:solidFill>
                <ns1:latin typeface="Tahoma"/>
                <ns1:cs typeface="Tahoma"/>
              </ns1:defRPr>
            </ns1:pPr>
            <ns1:r>
              <ns1:t>แพลตฟอร์มแชตบอตสำหรับองค์กร</ns1:t>
            </ns1:r>
          </ns1:p>
          <ns1:p>
            <ns1:pPr>
              <ns1:defRPr sz="1900">
                <ns1:solidFill>
                  <ns1:srgbClr val="294255"/>
                </ns1:solidFill>
                <ns1:latin typeface="Tahoma"/>
                <ns1:cs typeface="Tahoma"/>
              </ns1:defRPr>
            </ns1:pPr>
            <ns1:r>
              <ns1:t>ตอบคำถามจากเอกสารด้วย RAG</ns1:t>
            </ns1:r>
          </ns1:p>
          <ns1:p>
            <ns1:pPr>
              <ns1:defRPr sz="1900">
                <ns1:solidFill>
                  <ns1:srgbClr val="294255"/>
                </ns1:solidFill>
                <ns1:latin typeface="Tahoma"/>
                <ns1:cs typeface="Tahoma"/>
              </ns1:defRPr>
            </ns1:pPr>
            <ns1:r>
              <ns1:t>รองรับ Web, LINE และการส่งต่อให้คน</ns1:t>
            </ns1:r>
          </ns1:p>
        </ns0:txBody>
      </ns0:sp>
      <ns0:sp>
        <ns0:nvSpPr>
          <ns0:cNvPr id="5" name="">
            <ns1:extLst>
              <ns1:ext uri="{FF2B5EF4-FFF2-40B4-BE49-F238E27FC236}">
                <ns2:creationId id="{F9826062-80CF-4223-BD5F-D0A080931AF9}"/>
              </ns1:ext>
            </ns1:extLst>
          </ns0:cNvPr>
          <ns0:cNvSpPr>
            <ns1:spLocks noGrp="1"/>
          </ns0:cNvSpPr>
          <ns0:nvPr/>
        </ns0:nvSpPr>
        <ns0:spPr>
          <ns1:xfrm>
            <ns1:off x="7477125" y="2333625"/>
            <ns1:ext cx="3905250" cy="2381250"/>
          </ns1:xfrm>
          <ns1:prstGeom prst="rect">
            <ns1:avLst/>
          </ns1:prstGeom>
          <ns1:solidFill>
            <ns1:srgbClr val="E7F2F5"/>
          </ns1:solidFill>
          <ns1:ln w="9525">
            <ns1:solidFill>
              <ns1:srgbClr val="B8D5DD"/>
            </ns1:solidFill>
          </ns1:ln>
        </ns0:spPr>
        <ns0:txBody>
          <ns1:bodyPr/>
          <ns1:lstStyle>
            <ns1:defPPr>
              <ns1:defRPr sz="1650">
                <ns1:solidFill>
                  <ns1:srgbClr val="38616B"/>
                </ns1:solidFill>
              </ns1:defRPr>
            </ns1:defPPr>
            <ns1:lvl1pPr>
              <ns1:defRPr sz="1650">
                <ns1:solidFill>
                  <ns1:srgbClr val="38616B"/>
                </ns1:solidFill>
              </ns1:defRPr>
            </ns1:lvl1pPr>
            <ns1:lvl2pPr>
              <ns1:defRPr sz="1650">
                <ns1:solidFill>
                  <ns1:srgbClr val="38616B"/>
                </ns1:solidFill>
              </ns1:defRPr>
            </ns1:lvl2pPr>
            <ns1:lvl3pPr>
              <ns1:defRPr sz="1650">
                <ns1:solidFill>
                  <ns1:srgbClr val="38616B"/>
                </ns1:solidFill>
              </ns1:defRPr>
            </ns1:lvl3pPr>
            <ns1:lvl4pPr>
              <ns1:defRPr sz="1650">
                <ns1:solidFill>
                  <ns1:srgbClr val="38616B"/>
                </ns1:solidFill>
              </ns1:defRPr>
            </ns1:lvl4pPr>
            <ns1:lvl5pPr>
              <ns1:defRPr sz="1650">
                <ns1:solidFill>
                  <ns1:srgbClr val="38616B"/>
                </ns1:solidFill>
              </ns1:defRPr>
            </ns1:lvl5pPr>
            <ns1:lvl6pPr>
              <ns1:defRPr sz="1650">
                <ns1:solidFill>
                  <ns1:srgbClr val="38616B"/>
                </ns1:solidFill>
              </ns1:defRPr>
            </ns1:lvl6pPr>
            <ns1:lvl7pPr>
              <ns1:defRPr sz="1650">
                <ns1:solidFill>
                  <ns1:srgbClr val="38616B"/>
                </ns1:solidFill>
              </ns1:defRPr>
            </ns1:lvl7pPr>
            <ns1:lvl8pPr>
              <ns1:defRPr sz="1650">
                <ns1:solidFill>
                  <ns1:srgbClr val="38616B"/>
                </ns1:solidFill>
              </ns1:defRPr>
            </ns1:lvl8pPr>
            <ns1:lvl9pPr>
              <ns1:defRPr sz="1650">
                <ns1:solidFill>
                  <ns1:srgbClr val="38616B"/>
                </ns1:solidFill>
              </ns1:defRPr>
            </ns1:lvl9pPr>
          </ns1:lstStyle>
          <ns1:p>
            <ns1:pPr>
              <ns1:defRPr sz="1500">
                <ns1:solidFill>
                  <ns1:srgbClr val="38616B"/>
                </ns1:solidFill>
                <ns1:latin typeface="Tahoma"/>
                <ns1:cs typeface="Tahoma"/>
              </ns1:defRPr>
            </ns1:pPr>
            <ns1:r>
              <ns1:t>ภาพที่แนะนำ</ns1:t>
            </ns1:r>
          </ns1:p>
          <ns1:p>
            <ns1:pPr>
              <ns1:defRPr sz="1500">
                <ns1:solidFill>
                  <ns1:srgbClr val="38616B"/>
                </ns1:solidFill>
                <ns1:latin typeface="Tahoma"/>
                <ns1:cs typeface="Tahoma"/>
              </ns1:defRPr>
            </ns1:pPr>
            <ns1:r>
              <ns1:t/>
            </ns1:r>
          </ns1:p>
          <ns1:p>
            <ns1:pPr>
              <ns1:defRPr sz="1500">
                <ns1:solidFill>
                  <ns1:srgbClr val="38616B"/>
                </ns1:solidFill>
                <ns1:latin typeface="Tahoma"/>
                <ns1:cs typeface="Tahoma"/>
              </ns1:defRPr>
            </ns1:pPr>
            <ns1:r>
              <ns1:t>ด้านขวา: โลโก้ ScopeBot หรือภาพหน้าจอหลัก</ns1:t>
            </ns1:r>
          </ns1:p>
          <ns1:p>
            <ns1:pPr>
              <ns1:defRPr sz="1500">
                <ns1:solidFill>
                  <ns1:srgbClr val="38616B"/>
                </ns1:solidFill>
                <ns1:latin typeface="Tahoma"/>
                <ns1:cs typeface="Tahoma"/>
              </ns1:defRPr>
            </ns1:pPr>
            <ns1:r>
              <ns1:t>ใต้ชื่อโครงการ: ชื่อสมาชิกและสถาบันจริง</ns1:t>
            </ns1:r>
          </ns1:p>
        </ns0:txBody>
      </ns0:sp>
    </ns0:spTree>
    <ns0:extLst>
      <ns0:ext uri="{BB962C8B-B14F-4D97-AF65-F5344CB8AC3E}">
        <ns3:creationId val="1156789984"/>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7FAFC"/>
        </ns1:solidFill>
      </ns0:bgPr>
    </ns0:bg>
    <ns0:spTree>
      <ns0:nvGrpSpPr>
        <ns0:cNvPr id="1" name=""/>
        <ns0:cNvGrpSpPr/>
        <ns0:nvPr/>
      </ns0:nvGrpSpPr>
      <ns0:grpSpPr>
        <ns1:xfrm/>
      </ns0:grpSpPr>
      <ns0:sp>
        <ns0:nvSpPr>
          <ns0:cNvPr id="2" name="">
            <ns1:extLst>
              <ns1:ext uri="{FF2B5EF4-FFF2-40B4-BE49-F238E27FC236}">
                <ns2:creationId id="{718A5380-25AA-4948-99BC-FCD8555EE8B0}"/>
              </ns1:ext>
            </ns1:extLst>
          </ns0:cNvPr>
          <ns0:cNvSpPr>
            <ns1:spLocks noGrp="1"/>
          </ns0:cNvSpPr>
          <ns0:nvPr/>
        </ns0:nvSpPr>
        <ns0:spPr>
          <ns1:xfrm>
            <ns1:off x="666750" y="400050"/>
            <ns1:ext cx="8572500" cy="333375"/>
          </ns1:xfrm>
          <ns1:prstGeom prst="rect">
            <ns1:avLst/>
          </ns1:prstGeom>
          <ns1:noFill/>
          <ns1:ln w="0">
            <ns1:noFill/>
          </ns1:ln>
        </ns0:spPr>
        <ns0:txBody>
          <ns1:bodyPr/>
          <ns1:lstStyle>
            <ns1:defPPr>
              <ns1:defRPr sz="1200" b="1">
                <ns1:solidFill>
                  <ns1:srgbClr val="087E95"/>
                </ns1:solidFill>
              </ns1:defRPr>
            </ns1:defPPr>
            <ns1:lvl1pPr>
              <ns1:defRPr sz="1200" b="1">
                <ns1:solidFill>
                  <ns1:srgbClr val="087E95"/>
                </ns1:solidFill>
              </ns1:defRPr>
            </ns1:lvl1pPr>
            <ns1:lvl2pPr>
              <ns1:defRPr sz="1200" b="1">
                <ns1:solidFill>
                  <ns1:srgbClr val="087E95"/>
                </ns1:solidFill>
              </ns1:defRPr>
            </ns1:lvl2pPr>
            <ns1:lvl3pPr>
              <ns1:defRPr sz="1200" b="1">
                <ns1:solidFill>
                  <ns1:srgbClr val="087E95"/>
                </ns1:solidFill>
              </ns1:defRPr>
            </ns1:lvl3pPr>
            <ns1:lvl4pPr>
              <ns1:defRPr sz="1200" b="1">
                <ns1:solidFill>
                  <ns1:srgbClr val="087E95"/>
                </ns1:solidFill>
              </ns1:defRPr>
            </ns1:lvl4pPr>
            <ns1:lvl5pPr>
              <ns1:defRPr sz="1200" b="1">
                <ns1:solidFill>
                  <ns1:srgbClr val="087E95"/>
                </ns1:solidFill>
              </ns1:defRPr>
            </ns1:lvl5pPr>
            <ns1:lvl6pPr>
              <ns1:defRPr sz="1200" b="1">
                <ns1:solidFill>
                  <ns1:srgbClr val="087E95"/>
                </ns1:solidFill>
              </ns1:defRPr>
            </ns1:lvl6pPr>
            <ns1:lvl7pPr>
              <ns1:defRPr sz="1200" b="1">
                <ns1:solidFill>
                  <ns1:srgbClr val="087E95"/>
                </ns1:solidFill>
              </ns1:defRPr>
            </ns1:lvl7pPr>
            <ns1:lvl8pPr>
              <ns1:defRPr sz="1200" b="1">
                <ns1:solidFill>
                  <ns1:srgbClr val="087E95"/>
                </ns1:solidFill>
              </ns1:defRPr>
            </ns1:lvl8pPr>
            <ns1:lvl9pPr>
              <ns1:defRPr sz="1200" b="1">
                <ns1:solidFill>
                  <ns1:srgbClr val="087E95"/>
                </ns1:solidFill>
              </ns1:defRPr>
            </ns1:lvl9pPr>
          </ns1:lstStyle>
          <ns1:p>
            <ns1:pPr>
              <ns1:defRPr sz="1400">
                <ns1:solidFill>
                  <ns1:srgbClr val="087E95"/>
                </ns1:solidFill>
                <ns1:latin typeface="Tahoma"/>
                <ns1:cs typeface="Tahoma"/>
              </ns1:defRPr>
            </ns1:pPr>
            <ns1:r>
              <ns1:t>SCOPEBOT  /  02   The Problem</ns1:t>
            </ns1:r>
          </ns1:p>
        </ns0:txBody>
      </ns0:sp>
      <ns0:sp>
        <ns0:nvSpPr>
          <ns0:cNvPr id="3" name="">
            <ns1:extLst>
              <ns1:ext uri="{FF2B5EF4-FFF2-40B4-BE49-F238E27FC236}">
                <ns2:creationId id="{F7828FE5-4E33-4A86-9157-B11CBA458DBC}"/>
              </ns1:ext>
            </ns1:extLst>
          </ns0:cNvPr>
          <ns0:cNvSpPr>
            <ns1:spLocks noGrp="1"/>
          </ns0:cNvSpPr>
          <ns0:nvPr/>
        </ns0:nvSpPr>
        <ns0:spPr>
          <ns1:xfrm>
            <ns1:off x="666750" y="1095375"/>
            <ns1:ext cx="10668000" cy="952500"/>
          </ns1:xfrm>
          <ns1:prstGeom prst="rect">
            <ns1:avLst/>
          </ns1:prstGeom>
          <ns1:noFill/>
          <ns1:ln w="0">
            <ns1:noFill/>
          </ns1:ln>
        </ns0:spPr>
        <ns0:txBody>
          <ns1:bodyPr/>
          <ns1:lstStyle>
            <ns1:defPPr>
              <ns1:defRPr sz="3000" b="1">
                <ns1:solidFill>
                  <ns1:srgbClr val="142B42"/>
                </ns1:solidFill>
              </ns1:defRPr>
            </ns1:defPPr>
            <ns1:lvl1pPr>
              <ns1:defRPr sz="3000" b="1">
                <ns1:solidFill>
                  <ns1:srgbClr val="142B42"/>
                </ns1:solidFill>
              </ns1:defRPr>
            </ns1:lvl1pPr>
            <ns1:lvl2pPr>
              <ns1:defRPr sz="3000" b="1">
                <ns1:solidFill>
                  <ns1:srgbClr val="142B42"/>
                </ns1:solidFill>
              </ns1:defRPr>
            </ns1:lvl2pPr>
            <ns1:lvl3pPr>
              <ns1:defRPr sz="3000" b="1">
                <ns1:solidFill>
                  <ns1:srgbClr val="142B42"/>
                </ns1:solidFill>
              </ns1:defRPr>
            </ns1:lvl3pPr>
            <ns1:lvl4pPr>
              <ns1:defRPr sz="3000" b="1">
                <ns1:solidFill>
                  <ns1:srgbClr val="142B42"/>
                </ns1:solidFill>
              </ns1:defRPr>
            </ns1:lvl4pPr>
            <ns1:lvl5pPr>
              <ns1:defRPr sz="3000" b="1">
                <ns1:solidFill>
                  <ns1:srgbClr val="142B42"/>
                </ns1:solidFill>
              </ns1:defRPr>
            </ns1:lvl5pPr>
            <ns1:lvl6pPr>
              <ns1:defRPr sz="3000" b="1">
                <ns1:solidFill>
                  <ns1:srgbClr val="142B42"/>
                </ns1:solidFill>
              </ns1:defRPr>
            </ns1:lvl6pPr>
            <ns1:lvl7pPr>
              <ns1:defRPr sz="3000" b="1">
                <ns1:solidFill>
                  <ns1:srgbClr val="142B42"/>
                </ns1:solidFill>
              </ns1:defRPr>
            </ns1:lvl7pPr>
            <ns1:lvl8pPr>
              <ns1:defRPr sz="3000" b="1">
                <ns1:solidFill>
                  <ns1:srgbClr val="142B42"/>
                </ns1:solidFill>
              </ns1:defRPr>
            </ns1:lvl8pPr>
            <ns1:lvl9pPr>
              <ns1:defRPr sz="3000" b="1">
                <ns1:solidFill>
                  <ns1:srgbClr val="142B42"/>
                </ns1:solidFill>
              </ns1:defRPr>
            </ns1:lvl9pPr>
          </ns1:lstStyle>
          <ns1:p>
            <ns1:pPr>
              <ns1:defRPr sz="3000">
                <ns1:solidFill>
                  <ns1:srgbClr val="142B42"/>
                </ns1:solidFill>
                <ns1:latin typeface="Tahoma"/>
                <ns1:cs typeface="Tahoma"/>
              </ns1:defRPr>
            </ns1:pPr>
            <ns1:r>
              <ns1:t>ปัญหาขององค์กรยุคปัจจุบัน</ns1:t>
            </ns1:r>
          </ns1:p>
        </ns0:txBody>
      </ns0:sp>
      <ns0:sp>
        <ns0:nvSpPr>
          <ns0:cNvPr id="4" name="">
            <ns1:extLst>
              <ns1:ext uri="{FF2B5EF4-FFF2-40B4-BE49-F238E27FC236}">
                <ns2:creationId id="{4CC5A3A6-C91B-45F8-BC3B-2A53C408EB67}"/>
              </ns1:ext>
            </ns1:extLst>
          </ns0:cNvPr>
          <ns0:cNvSpPr>
            <ns1:spLocks noGrp="1"/>
          </ns0:cNvSpPr>
          <ns0:nvPr/>
        </ns0:nvSpPr>
        <ns0:spPr>
          <ns1:xfrm>
            <ns1:off x="714375" y="2238375"/>
            <ns1:ext cx="6191250" cy="3905250"/>
          </ns1:xfrm>
          <ns1:prstGeom prst="rect">
            <ns1:avLst/>
          </ns1:prstGeom>
          <ns1:noFill/>
          <ns1:ln w="0">
            <ns1:noFill/>
          </ns1:ln>
        </ns0:spPr>
        <ns0:txBody>
          <ns1:bodyPr/>
          <ns1:lstStyle>
            <ns1:defPPr>
              <ns1:defRPr sz="1875" b="0">
                <ns1:solidFill>
                  <ns1:srgbClr val="294255"/>
                </ns1:solidFill>
              </ns1:defRPr>
            </ns1:defPPr>
            <ns1:lvl1pPr>
              <ns1:defRPr sz="1875" b="0">
                <ns1:solidFill>
                  <ns1:srgbClr val="294255"/>
                </ns1:solidFill>
              </ns1:defRPr>
            </ns1:lvl1pPr>
            <ns1:lvl2pPr>
              <ns1:defRPr sz="1875" b="0">
                <ns1:solidFill>
                  <ns1:srgbClr val="294255"/>
                </ns1:solidFill>
              </ns1:defRPr>
            </ns1:lvl2pPr>
            <ns1:lvl3pPr>
              <ns1:defRPr sz="1875" b="0">
                <ns1:solidFill>
                  <ns1:srgbClr val="294255"/>
                </ns1:solidFill>
              </ns1:defRPr>
            </ns1:lvl3pPr>
            <ns1:lvl4pPr>
              <ns1:defRPr sz="1875" b="0">
                <ns1:solidFill>
                  <ns1:srgbClr val="294255"/>
                </ns1:solidFill>
              </ns1:defRPr>
            </ns1:lvl4pPr>
            <ns1:lvl5pPr>
              <ns1:defRPr sz="1875" b="0">
                <ns1:solidFill>
                  <ns1:srgbClr val="294255"/>
                </ns1:solidFill>
              </ns1:defRPr>
            </ns1:lvl5pPr>
            <ns1:lvl6pPr>
              <ns1:defRPr sz="1875" b="0">
                <ns1:solidFill>
                  <ns1:srgbClr val="294255"/>
                </ns1:solidFill>
              </ns1:defRPr>
            </ns1:lvl6pPr>
            <ns1:lvl7pPr>
              <ns1:defRPr sz="1875" b="0">
                <ns1:solidFill>
                  <ns1:srgbClr val="294255"/>
                </ns1:solidFill>
              </ns1:defRPr>
            </ns1:lvl7pPr>
            <ns1:lvl8pPr>
              <ns1:defRPr sz="1875" b="0">
                <ns1:solidFill>
                  <ns1:srgbClr val="294255"/>
                </ns1:solidFill>
              </ns1:defRPr>
            </ns1:lvl8pPr>
            <ns1:lvl9pPr>
              <ns1:defRPr sz="1875" b="0">
                <ns1:solidFill>
                  <ns1:srgbClr val="294255"/>
                </ns1:solidFill>
              </ns1:defRPr>
            </ns1:lvl9pPr>
          </ns1:lstStyle>
          <ns1:p>
            <ns1:pPr>
              <ns1:defRPr sz="1900">
                <ns1:solidFill>
                  <ns1:srgbClr val="294255"/>
                </ns1:solidFill>
                <ns1:latin typeface="Tahoma"/>
                <ns1:cs typeface="Tahoma"/>
              </ns1:defRPr>
            </ns1:pPr>
            <ns1:r>
              <ns1:t>ข้อมูลอยู่ในหลายไฟล์และค้นหาได้ยาก</ns1:t>
            </ns1:r>
          </ns1:p>
          <ns1:p>
            <ns1:pPr>
              <ns1:defRPr sz="1900">
                <ns1:solidFill>
                  <ns1:srgbClr val="294255"/>
                </ns1:solidFill>
                <ns1:latin typeface="Tahoma"/>
                <ns1:cs typeface="Tahoma"/>
              </ns1:defRPr>
            </ns1:pPr>
            <ns1:r>
              <ns1:t>เจ้าหน้าที่ต้องตอบคำถามเดิมซ้ำ</ns1:t>
            </ns1:r>
          </ns1:p>
          <ns1:p>
            <ns1:pPr>
              <ns1:defRPr sz="1900">
                <ns1:solidFill>
                  <ns1:srgbClr val="294255"/>
                </ns1:solidFill>
                <ns1:latin typeface="Tahoma"/>
                <ns1:cs typeface="Tahoma"/>
              </ns1:defRPr>
            </ns1:pPr>
            <ns1:r>
              <ns1:t>คำตอบอาจขาดบริบทหรือข้อมูลอ้างอิง</ns1:t>
            </ns1:r>
          </ns1:p>
          <ns1:p>
            <ns1:pPr>
              <ns1:defRPr sz="1900">
                <ns1:solidFill>
                  <ns1:srgbClr val="294255"/>
                </ns1:solidFill>
                <ns1:latin typeface="Tahoma"/>
                <ns1:cs typeface="Tahoma"/>
              </ns1:defRPr>
            </ns1:pPr>
            <ns1:r>
              <ns1:t>ผู้ใช้ต้องการช่องทางเข้าถึงข้อมูลที่สะดวก</ns1:t>
            </ns1:r>
          </ns1:p>
        </ns0:txBody>
      </ns0:sp>
      <ns0:sp>
        <ns0:nvSpPr>
          <ns0:cNvPr id="5" name="">
            <ns1:extLst>
              <ns1:ext uri="{FF2B5EF4-FFF2-40B4-BE49-F238E27FC236}">
                <ns2:creationId id="{2AFFFB61-5133-4257-9096-9EAEC0C44C02}"/>
              </ns1:ext>
            </ns1:extLst>
          </ns0:cNvPr>
          <ns0:cNvSpPr>
            <ns1:spLocks noGrp="1"/>
          </ns0:cNvSpPr>
          <ns0:nvPr/>
        </ns0:nvSpPr>
        <ns0:spPr>
          <ns1:xfrm>
            <ns1:off x="7477125" y="2333625"/>
            <ns1:ext cx="3905250" cy="2381250"/>
          </ns1:xfrm>
          <ns1:prstGeom prst="rect">
            <ns1:avLst/>
          </ns1:prstGeom>
          <ns1:solidFill>
            <ns1:srgbClr val="E7F2F5"/>
          </ns1:solidFill>
          <ns1:ln w="9525">
            <ns1:solidFill>
              <ns1:srgbClr val="B8D5DD"/>
            </ns1:solidFill>
          </ns1:ln>
        </ns0:spPr>
        <ns0:txBody>
          <ns1:bodyPr/>
          <ns1:lstStyle>
            <ns1:defPPr>
              <ns1:defRPr sz="1650">
                <ns1:solidFill>
                  <ns1:srgbClr val="38616B"/>
                </ns1:solidFill>
              </ns1:defRPr>
            </ns1:defPPr>
            <ns1:lvl1pPr>
              <ns1:defRPr sz="1650">
                <ns1:solidFill>
                  <ns1:srgbClr val="38616B"/>
                </ns1:solidFill>
              </ns1:defRPr>
            </ns1:lvl1pPr>
            <ns1:lvl2pPr>
              <ns1:defRPr sz="1650">
                <ns1:solidFill>
                  <ns1:srgbClr val="38616B"/>
                </ns1:solidFill>
              </ns1:defRPr>
            </ns1:lvl2pPr>
            <ns1:lvl3pPr>
              <ns1:defRPr sz="1650">
                <ns1:solidFill>
                  <ns1:srgbClr val="38616B"/>
                </ns1:solidFill>
              </ns1:defRPr>
            </ns1:lvl3pPr>
            <ns1:lvl4pPr>
              <ns1:defRPr sz="1650">
                <ns1:solidFill>
                  <ns1:srgbClr val="38616B"/>
                </ns1:solidFill>
              </ns1:defRPr>
            </ns1:lvl4pPr>
            <ns1:lvl5pPr>
              <ns1:defRPr sz="1650">
                <ns1:solidFill>
                  <ns1:srgbClr val="38616B"/>
                </ns1:solidFill>
              </ns1:defRPr>
            </ns1:lvl5pPr>
            <ns1:lvl6pPr>
              <ns1:defRPr sz="1650">
                <ns1:solidFill>
                  <ns1:srgbClr val="38616B"/>
                </ns1:solidFill>
              </ns1:defRPr>
            </ns1:lvl6pPr>
            <ns1:lvl7pPr>
              <ns1:defRPr sz="1650">
                <ns1:solidFill>
                  <ns1:srgbClr val="38616B"/>
                </ns1:solidFill>
              </ns1:defRPr>
            </ns1:lvl7pPr>
            <ns1:lvl8pPr>
              <ns1:defRPr sz="1650">
                <ns1:solidFill>
                  <ns1:srgbClr val="38616B"/>
                </ns1:solidFill>
              </ns1:defRPr>
            </ns1:lvl8pPr>
            <ns1:lvl9pPr>
              <ns1:defRPr sz="1650">
                <ns1:solidFill>
                  <ns1:srgbClr val="38616B"/>
                </ns1:solidFill>
              </ns1:defRPr>
            </ns1:lvl9pPr>
          </ns1:lstStyle>
          <ns1:p>
            <ns1:pPr>
              <ns1:defRPr sz="1500">
                <ns1:solidFill>
                  <ns1:srgbClr val="38616B"/>
                </ns1:solidFill>
                <ns1:latin typeface="Tahoma"/>
                <ns1:cs typeface="Tahoma"/>
              </ns1:defRPr>
            </ns1:pPr>
            <ns1:r>
              <ns1:t>ภาพที่แนะนำ</ns1:t>
            </ns1:r>
          </ns1:p>
          <ns1:p>
            <ns1:pPr>
              <ns1:defRPr sz="1500">
                <ns1:solidFill>
                  <ns1:srgbClr val="38616B"/>
                </ns1:solidFill>
                <ns1:latin typeface="Tahoma"/>
                <ns1:cs typeface="Tahoma"/>
              </ns1:defRPr>
            </ns1:pPr>
            <ns1:r>
              <ns1:t/>
            </ns1:r>
          </ns1:p>
          <ns1:p>
            <ns1:pPr>
              <ns1:defRPr sz="1500">
                <ns1:solidFill>
                  <ns1:srgbClr val="38616B"/>
                </ns1:solidFill>
                <ns1:latin typeface="Tahoma"/>
                <ns1:cs typeface="Tahoma"/>
              </ns1:defRPr>
            </ns1:pPr>
            <ns1:r>
              <ns1:t>ด้านขวา: ภาพเอกสารหลายแหล่ง</ns1:t>
            </ns1:r>
          </ns1:p>
          <ns1:p>
            <ns1:pPr>
              <ns1:defRPr sz="1500">
                <ns1:solidFill>
                  <ns1:srgbClr val="38616B"/>
                </ns1:solidFill>
                <ns1:latin typeface="Tahoma"/>
                <ns1:cs typeface="Tahoma"/>
              </ns1:defRPr>
            </ns1:pPr>
            <ns1:r>
              <ns1:t>ประกอบคำถามสมมติ เช่น “ต้องใช้เอกสารอะไรบ้าง”</ns1:t>
            </ns1:r>
          </ns1:p>
          <ns1:p>
            <ns1:pPr>
              <ns1:defRPr sz="1500">
                <ns1:solidFill>
                  <ns1:srgbClr val="38616B"/>
                </ns1:solidFill>
                <ns1:latin typeface="Tahoma"/>
                <ns1:cs typeface="Tahoma"/>
              </ns1:defRPr>
            </ns1:pPr>
            <ns1:r>
              <ns1:t>หลีกเลี่ยงข้อมูลส่วนบุคคล</ns1:t>
            </ns1:r>
          </ns1:p>
        </ns0:txBody>
      </ns0:sp>
    </ns0:spTree>
    <ns0:extLst>
      <ns0:ext uri="{BB962C8B-B14F-4D97-AF65-F5344CB8AC3E}">
        <ns3:creationId val="970408359"/>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7FAFC"/>
        </ns1:solidFill>
      </ns0:bgPr>
    </ns0:bg>
    <ns0:spTree>
      <ns0:nvGrpSpPr>
        <ns0:cNvPr id="1" name=""/>
        <ns0:cNvGrpSpPr/>
        <ns0:nvPr/>
      </ns0:nvGrpSpPr>
      <ns0:grpSpPr>
        <ns1:xfrm/>
      </ns0:grpSpPr>
      <ns0:sp>
        <ns0:nvSpPr>
          <ns0:cNvPr id="2" name="">
            <ns1:extLst>
              <ns1:ext uri="{FF2B5EF4-FFF2-40B4-BE49-F238E27FC236}">
                <ns2:creationId id="{94446CE9-3D37-4C20-9334-B168D24747E6}"/>
              </ns1:ext>
            </ns1:extLst>
          </ns0:cNvPr>
          <ns0:cNvSpPr>
            <ns1:spLocks noGrp="1"/>
          </ns0:cNvSpPr>
          <ns0:nvPr/>
        </ns0:nvSpPr>
        <ns0:spPr>
          <ns1:xfrm>
            <ns1:off x="666750" y="400050"/>
            <ns1:ext cx="8572500" cy="333375"/>
          </ns1:xfrm>
          <ns1:prstGeom prst="rect">
            <ns1:avLst/>
          </ns1:prstGeom>
          <ns1:noFill/>
          <ns1:ln w="0">
            <ns1:noFill/>
          </ns1:ln>
        </ns0:spPr>
        <ns0:txBody>
          <ns1:bodyPr/>
          <ns1:lstStyle>
            <ns1:defPPr>
              <ns1:defRPr sz="1200" b="1">
                <ns1:solidFill>
                  <ns1:srgbClr val="087E95"/>
                </ns1:solidFill>
              </ns1:defRPr>
            </ns1:defPPr>
            <ns1:lvl1pPr>
              <ns1:defRPr sz="1200" b="1">
                <ns1:solidFill>
                  <ns1:srgbClr val="087E95"/>
                </ns1:solidFill>
              </ns1:defRPr>
            </ns1:lvl1pPr>
            <ns1:lvl2pPr>
              <ns1:defRPr sz="1200" b="1">
                <ns1:solidFill>
                  <ns1:srgbClr val="087E95"/>
                </ns1:solidFill>
              </ns1:defRPr>
            </ns1:lvl2pPr>
            <ns1:lvl3pPr>
              <ns1:defRPr sz="1200" b="1">
                <ns1:solidFill>
                  <ns1:srgbClr val="087E95"/>
                </ns1:solidFill>
              </ns1:defRPr>
            </ns1:lvl3pPr>
            <ns1:lvl4pPr>
              <ns1:defRPr sz="1200" b="1">
                <ns1:solidFill>
                  <ns1:srgbClr val="087E95"/>
                </ns1:solidFill>
              </ns1:defRPr>
            </ns1:lvl4pPr>
            <ns1:lvl5pPr>
              <ns1:defRPr sz="1200" b="1">
                <ns1:solidFill>
                  <ns1:srgbClr val="087E95"/>
                </ns1:solidFill>
              </ns1:defRPr>
            </ns1:lvl5pPr>
            <ns1:lvl6pPr>
              <ns1:defRPr sz="1200" b="1">
                <ns1:solidFill>
                  <ns1:srgbClr val="087E95"/>
                </ns1:solidFill>
              </ns1:defRPr>
            </ns1:lvl6pPr>
            <ns1:lvl7pPr>
              <ns1:defRPr sz="1200" b="1">
                <ns1:solidFill>
                  <ns1:srgbClr val="087E95"/>
                </ns1:solidFill>
              </ns1:defRPr>
            </ns1:lvl7pPr>
            <ns1:lvl8pPr>
              <ns1:defRPr sz="1200" b="1">
                <ns1:solidFill>
                  <ns1:srgbClr val="087E95"/>
                </ns1:solidFill>
              </ns1:defRPr>
            </ns1:lvl8pPr>
            <ns1:lvl9pPr>
              <ns1:defRPr sz="1200" b="1">
                <ns1:solidFill>
                  <ns1:srgbClr val="087E95"/>
                </ns1:solidFill>
              </ns1:defRPr>
            </ns1:lvl9pPr>
          </ns1:lstStyle>
          <ns1:p>
            <ns1:pPr>
              <ns1:defRPr sz="1400">
                <ns1:solidFill>
                  <ns1:srgbClr val="087E95"/>
                </ns1:solidFill>
                <ns1:latin typeface="Tahoma"/>
                <ns1:cs typeface="Tahoma"/>
              </ns1:defRPr>
            </ns1:pPr>
            <ns1:r>
              <ns1:t>SCOPEBOT  /  03   The Solution &amp; Value Proposition</ns1:t>
            </ns1:r>
          </ns1:p>
        </ns0:txBody>
      </ns0:sp>
      <ns0:sp>
        <ns0:nvSpPr>
          <ns0:cNvPr id="3" name="">
            <ns1:extLst>
              <ns1:ext uri="{FF2B5EF4-FFF2-40B4-BE49-F238E27FC236}">
                <ns2:creationId id="{E1AB6746-67D9-4756-80CB-1D54BD216763}"/>
              </ns1:ext>
            </ns1:extLst>
          </ns0:cNvPr>
          <ns0:cNvSpPr>
            <ns1:spLocks noGrp="1"/>
          </ns0:cNvSpPr>
          <ns0:nvPr/>
        </ns0:nvSpPr>
        <ns0:spPr>
          <ns1:xfrm>
            <ns1:off x="666750" y="1095375"/>
            <ns1:ext cx="10668000" cy="952500"/>
          </ns1:xfrm>
          <ns1:prstGeom prst="rect">
            <ns1:avLst/>
          </ns1:prstGeom>
          <ns1:noFill/>
          <ns1:ln w="0">
            <ns1:noFill/>
          </ns1:ln>
        </ns0:spPr>
        <ns0:txBody>
          <ns1:bodyPr/>
          <ns1:lstStyle>
            <ns1:defPPr>
              <ns1:defRPr sz="3000" b="1">
                <ns1:solidFill>
                  <ns1:srgbClr val="142B42"/>
                </ns1:solidFill>
              </ns1:defRPr>
            </ns1:defPPr>
            <ns1:lvl1pPr>
              <ns1:defRPr sz="3000" b="1">
                <ns1:solidFill>
                  <ns1:srgbClr val="142B42"/>
                </ns1:solidFill>
              </ns1:defRPr>
            </ns1:lvl1pPr>
            <ns1:lvl2pPr>
              <ns1:defRPr sz="3000" b="1">
                <ns1:solidFill>
                  <ns1:srgbClr val="142B42"/>
                </ns1:solidFill>
              </ns1:defRPr>
            </ns1:lvl2pPr>
            <ns1:lvl3pPr>
              <ns1:defRPr sz="3000" b="1">
                <ns1:solidFill>
                  <ns1:srgbClr val="142B42"/>
                </ns1:solidFill>
              </ns1:defRPr>
            </ns1:lvl3pPr>
            <ns1:lvl4pPr>
              <ns1:defRPr sz="3000" b="1">
                <ns1:solidFill>
                  <ns1:srgbClr val="142B42"/>
                </ns1:solidFill>
              </ns1:defRPr>
            </ns1:lvl4pPr>
            <ns1:lvl5pPr>
              <ns1:defRPr sz="3000" b="1">
                <ns1:solidFill>
                  <ns1:srgbClr val="142B42"/>
                </ns1:solidFill>
              </ns1:defRPr>
            </ns1:lvl5pPr>
            <ns1:lvl6pPr>
              <ns1:defRPr sz="3000" b="1">
                <ns1:solidFill>
                  <ns1:srgbClr val="142B42"/>
                </ns1:solidFill>
              </ns1:defRPr>
            </ns1:lvl6pPr>
            <ns1:lvl7pPr>
              <ns1:defRPr sz="3000" b="1">
                <ns1:solidFill>
                  <ns1:srgbClr val="142B42"/>
                </ns1:solidFill>
              </ns1:defRPr>
            </ns1:lvl7pPr>
            <ns1:lvl8pPr>
              <ns1:defRPr sz="3000" b="1">
                <ns1:solidFill>
                  <ns1:srgbClr val="142B42"/>
                </ns1:solidFill>
              </ns1:defRPr>
            </ns1:lvl8pPr>
            <ns1:lvl9pPr>
              <ns1:defRPr sz="3000" b="1">
                <ns1:solidFill>
                  <ns1:srgbClr val="142B42"/>
                </ns1:solidFill>
              </ns1:defRPr>
            </ns1:lvl9pPr>
          </ns1:lstStyle>
          <ns1:p>
            <ns1:pPr>
              <ns1:defRPr sz="3000">
                <ns1:solidFill>
                  <ns1:srgbClr val="142B42"/>
                </ns1:solidFill>
                <ns1:latin typeface="Tahoma"/>
                <ns1:cs typeface="Tahoma"/>
              </ns1:defRPr>
            </ns1:pPr>
            <ns1:r>
              <ns1:t>ทางออกและคุณค่าของ ScopeBot</ns1:t>
            </ns1:r>
          </ns1:p>
        </ns0:txBody>
      </ns0:sp>
      <ns0:sp>
        <ns0:nvSpPr>
          <ns0:cNvPr id="4" name="">
            <ns1:extLst>
              <ns1:ext uri="{FF2B5EF4-FFF2-40B4-BE49-F238E27FC236}">
                <ns2:creationId id="{94515969-2005-4186-9EE9-142082493BF8}"/>
              </ns1:ext>
            </ns1:extLst>
          </ns0:cNvPr>
          <ns0:cNvSpPr>
            <ns1:spLocks noGrp="1"/>
          </ns0:cNvSpPr>
          <ns0:nvPr/>
        </ns0:nvSpPr>
        <ns0:spPr>
          <ns1:xfrm>
            <ns1:off x="714375" y="2238375"/>
            <ns1:ext cx="6191250" cy="3905250"/>
          </ns1:xfrm>
          <ns1:prstGeom prst="rect">
            <ns1:avLst/>
          </ns1:prstGeom>
          <ns1:noFill/>
          <ns1:ln w="0">
            <ns1:noFill/>
          </ns1:ln>
        </ns0:spPr>
        <ns0:txBody>
          <ns1:bodyPr/>
          <ns1:lstStyle>
            <ns1:defPPr>
              <ns1:defRPr sz="1875" b="0">
                <ns1:solidFill>
                  <ns1:srgbClr val="294255"/>
                </ns1:solidFill>
              </ns1:defRPr>
            </ns1:defPPr>
            <ns1:lvl1pPr>
              <ns1:defRPr sz="1875" b="0">
                <ns1:solidFill>
                  <ns1:srgbClr val="294255"/>
                </ns1:solidFill>
              </ns1:defRPr>
            </ns1:lvl1pPr>
            <ns1:lvl2pPr>
              <ns1:defRPr sz="1875" b="0">
                <ns1:solidFill>
                  <ns1:srgbClr val="294255"/>
                </ns1:solidFill>
              </ns1:defRPr>
            </ns1:lvl2pPr>
            <ns1:lvl3pPr>
              <ns1:defRPr sz="1875" b="0">
                <ns1:solidFill>
                  <ns1:srgbClr val="294255"/>
                </ns1:solidFill>
              </ns1:defRPr>
            </ns1:lvl3pPr>
            <ns1:lvl4pPr>
              <ns1:defRPr sz="1875" b="0">
                <ns1:solidFill>
                  <ns1:srgbClr val="294255"/>
                </ns1:solidFill>
              </ns1:defRPr>
            </ns1:lvl4pPr>
            <ns1:lvl5pPr>
              <ns1:defRPr sz="1875" b="0">
                <ns1:solidFill>
                  <ns1:srgbClr val="294255"/>
                </ns1:solidFill>
              </ns1:defRPr>
            </ns1:lvl5pPr>
            <ns1:lvl6pPr>
              <ns1:defRPr sz="1875" b="0">
                <ns1:solidFill>
                  <ns1:srgbClr val="294255"/>
                </ns1:solidFill>
              </ns1:defRPr>
            </ns1:lvl6pPr>
            <ns1:lvl7pPr>
              <ns1:defRPr sz="1875" b="0">
                <ns1:solidFill>
                  <ns1:srgbClr val="294255"/>
                </ns1:solidFill>
              </ns1:defRPr>
            </ns1:lvl7pPr>
            <ns1:lvl8pPr>
              <ns1:defRPr sz="1875" b="0">
                <ns1:solidFill>
                  <ns1:srgbClr val="294255"/>
                </ns1:solidFill>
              </ns1:defRPr>
            </ns1:lvl8pPr>
            <ns1:lvl9pPr>
              <ns1:defRPr sz="1875" b="0">
                <ns1:solidFill>
                  <ns1:srgbClr val="294255"/>
                </ns1:solidFill>
              </ns1:defRPr>
            </ns1:lvl9pPr>
          </ns1:lstStyle>
          <ns1:p>
            <ns1:pPr>
              <ns1:defRPr sz="1900">
                <ns1:solidFill>
                  <ns1:srgbClr val="294255"/>
                </ns1:solidFill>
                <ns1:latin typeface="Tahoma"/>
                <ns1:cs typeface="Tahoma"/>
              </ns1:defRPr>
            </ns1:pPr>
            <ns1:r>
              <ns1:t>ค้นความรู้จากเอกสารของแต่ละบอท</ns1:t>
            </ns1:r>
          </ns1:p>
          <ns1:p>
            <ns1:pPr>
              <ns1:defRPr sz="1900">
                <ns1:solidFill>
                  <ns1:srgbClr val="294255"/>
                </ns1:solidFill>
                <ns1:latin typeface="Tahoma"/>
                <ns1:cs typeface="Tahoma"/>
              </ns1:defRPr>
            </ns1:pPr>
            <ns1:r>
              <ns1:t>แสดงแหล่งข้อมูลประกอบคำตอบบนเว็บ</ns1:t>
            </ns1:r>
          </ns1:p>
          <ns1:p>
            <ns1:pPr>
              <ns1:defRPr sz="1900">
                <ns1:solidFill>
                  <ns1:srgbClr val="294255"/>
                </ns1:solidFill>
                <ns1:latin typeface="Tahoma"/>
                <ns1:cs typeface="Tahoma"/>
              </ns1:defRPr>
            </ns1:pPr>
            <ns1:r>
              <ns1:t>จัดการหลายบอทผ่านแพลตฟอร์มเดียว</ns1:t>
            </ns1:r>
          </ns1:p>
          <ns1:p>
            <ns1:pPr>
              <ns1:defRPr sz="1900">
                <ns1:solidFill>
                  <ns1:srgbClr val="294255"/>
                </ns1:solidFill>
                <ns1:latin typeface="Tahoma"/>
                <ns1:cs typeface="Tahoma"/>
              </ns1:defRPr>
            </ns1:pPr>
            <ns1:r>
              <ns1:t>ส่งต่อเจ้าของบอทเมื่อผู้ใช้ต้องการคนช่วย</ns1:t>
            </ns1:r>
          </ns1:p>
        </ns0:txBody>
      </ns0:sp>
      <ns0:sp>
        <ns0:nvSpPr>
          <ns0:cNvPr id="5" name="">
            <ns1:extLst>
              <ns1:ext uri="{FF2B5EF4-FFF2-40B4-BE49-F238E27FC236}">
                <ns2:creationId id="{3FC1CA48-569A-4E26-A21A-CC2C32815712}"/>
              </ns1:ext>
            </ns1:extLst>
          </ns0:cNvPr>
          <ns0:cNvSpPr>
            <ns1:spLocks noGrp="1"/>
          </ns0:cNvSpPr>
          <ns0:nvPr/>
        </ns0:nvSpPr>
        <ns0:spPr>
          <ns1:xfrm>
            <ns1:off x="7477125" y="2333625"/>
            <ns1:ext cx="3905250" cy="2381250"/>
          </ns1:xfrm>
          <ns1:prstGeom prst="rect">
            <ns1:avLst/>
          </ns1:prstGeom>
          <ns1:solidFill>
            <ns1:srgbClr val="E7F2F5"/>
          </ns1:solidFill>
          <ns1:ln w="9525">
            <ns1:solidFill>
              <ns1:srgbClr val="B8D5DD"/>
            </ns1:solidFill>
          </ns1:ln>
        </ns0:spPr>
        <ns0:txBody>
          <ns1:bodyPr/>
          <ns1:lstStyle>
            <ns1:defPPr>
              <ns1:defRPr sz="1650">
                <ns1:solidFill>
                  <ns1:srgbClr val="38616B"/>
                </ns1:solidFill>
              </ns1:defRPr>
            </ns1:defPPr>
            <ns1:lvl1pPr>
              <ns1:defRPr sz="1650">
                <ns1:solidFill>
                  <ns1:srgbClr val="38616B"/>
                </ns1:solidFill>
              </ns1:defRPr>
            </ns1:lvl1pPr>
            <ns1:lvl2pPr>
              <ns1:defRPr sz="1650">
                <ns1:solidFill>
                  <ns1:srgbClr val="38616B"/>
                </ns1:solidFill>
              </ns1:defRPr>
            </ns1:lvl2pPr>
            <ns1:lvl3pPr>
              <ns1:defRPr sz="1650">
                <ns1:solidFill>
                  <ns1:srgbClr val="38616B"/>
                </ns1:solidFill>
              </ns1:defRPr>
            </ns1:lvl3pPr>
            <ns1:lvl4pPr>
              <ns1:defRPr sz="1650">
                <ns1:solidFill>
                  <ns1:srgbClr val="38616B"/>
                </ns1:solidFill>
              </ns1:defRPr>
            </ns1:lvl4pPr>
            <ns1:lvl5pPr>
              <ns1:defRPr sz="1650">
                <ns1:solidFill>
                  <ns1:srgbClr val="38616B"/>
                </ns1:solidFill>
              </ns1:defRPr>
            </ns1:lvl5pPr>
            <ns1:lvl6pPr>
              <ns1:defRPr sz="1650">
                <ns1:solidFill>
                  <ns1:srgbClr val="38616B"/>
                </ns1:solidFill>
              </ns1:defRPr>
            </ns1:lvl6pPr>
            <ns1:lvl7pPr>
              <ns1:defRPr sz="1650">
                <ns1:solidFill>
                  <ns1:srgbClr val="38616B"/>
                </ns1:solidFill>
              </ns1:defRPr>
            </ns1:lvl7pPr>
            <ns1:lvl8pPr>
              <ns1:defRPr sz="1650">
                <ns1:solidFill>
                  <ns1:srgbClr val="38616B"/>
                </ns1:solidFill>
              </ns1:defRPr>
            </ns1:lvl8pPr>
            <ns1:lvl9pPr>
              <ns1:defRPr sz="1650">
                <ns1:solidFill>
                  <ns1:srgbClr val="38616B"/>
                </ns1:solidFill>
              </ns1:defRPr>
            </ns1:lvl9pPr>
          </ns1:lstStyle>
          <ns1:p>
            <ns1:pPr>
              <ns1:defRPr sz="1500">
                <ns1:solidFill>
                  <ns1:srgbClr val="38616B"/>
                </ns1:solidFill>
                <ns1:latin typeface="Tahoma"/>
                <ns1:cs typeface="Tahoma"/>
              </ns1:defRPr>
            </ns1:pPr>
            <ns1:r>
              <ns1:t>ภาพที่แนะนำ</ns1:t>
            </ns1:r>
          </ns1:p>
          <ns1:p>
            <ns1:pPr>
              <ns1:defRPr sz="1500">
                <ns1:solidFill>
                  <ns1:srgbClr val="38616B"/>
                </ns1:solidFill>
                <ns1:latin typeface="Tahoma"/>
                <ns1:cs typeface="Tahoma"/>
              </ns1:defRPr>
            </ns1:pPr>
            <ns1:r>
              <ns1:t/>
            </ns1:r>
          </ns1:p>
          <ns1:p>
            <ns1:pPr>
              <ns1:defRPr sz="1500">
                <ns1:solidFill>
                  <ns1:srgbClr val="38616B"/>
                </ns1:solidFill>
                <ns1:latin typeface="Tahoma"/>
                <ns1:cs typeface="Tahoma"/>
              </ns1:defRPr>
            </ns1:pPr>
            <ns1:r>
              <ns1:t>ด้านขวา: ภาพคำตอบพร้อมแหล่งอ้างอิง</ns1:t>
            </ns1:r>
          </ns1:p>
          <ns1:p>
            <ns1:pPr>
              <ns1:defRPr sz="1500">
                <ns1:solidFill>
                  <ns1:srgbClr val="38616B"/>
                </ns1:solidFill>
                <ns1:latin typeface="Tahoma"/>
                <ns1:cs typeface="Tahoma"/>
              </ns1:defRPr>
            </ns1:pPr>
            <ns1:r>
              <ns1:t>เน้นชื่อไฟล์หรือข้อความหลักฐาน</ns1:t>
            </ns1:r>
          </ns1:p>
          <ns1:p>
            <ns1:pPr>
              <ns1:defRPr sz="1500">
                <ns1:solidFill>
                  <ns1:srgbClr val="38616B"/>
                </ns1:solidFill>
                <ns1:latin typeface="Tahoma"/>
                <ns1:cs typeface="Tahoma"/>
              </ns1:defRPr>
            </ns1:pPr>
            <ns1:r>
              <ns1:t>ประโยชน์ด้านเวลาต้องประเมินจากการใช้งานจริง</ns1:t>
            </ns1:r>
          </ns1:p>
        </ns0:txBody>
      </ns0:sp>
    </ns0:spTree>
    <ns0:extLst>
      <ns0:ext uri="{BB962C8B-B14F-4D97-AF65-F5344CB8AC3E}">
        <ns3:creationId val="2078811916"/>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7FAFC"/>
        </ns1:solidFill>
      </ns0:bgPr>
    </ns0:bg>
    <ns0:spTree>
      <ns0:nvGrpSpPr>
        <ns0:cNvPr id="1" name=""/>
        <ns0:cNvGrpSpPr/>
        <ns0:nvPr/>
      </ns0:nvGrpSpPr>
      <ns0:grpSpPr>
        <ns1:xfrm/>
      </ns0:grpSpPr>
      <ns0:sp>
        <ns0:nvSpPr>
          <ns0:cNvPr id="2" name="">
            <ns1:extLst>
              <ns1:ext uri="{FF2B5EF4-FFF2-40B4-BE49-F238E27FC236}">
                <ns2:creationId id="{28F49759-6F28-4733-B351-09A779B4B2CF}"/>
              </ns1:ext>
            </ns1:extLst>
          </ns0:cNvPr>
          <ns0:cNvSpPr>
            <ns1:spLocks noGrp="1"/>
          </ns0:cNvSpPr>
          <ns0:nvPr/>
        </ns0:nvSpPr>
        <ns0:spPr>
          <ns1:xfrm>
            <ns1:off x="666750" y="400050"/>
            <ns1:ext cx="8572500" cy="333375"/>
          </ns1:xfrm>
          <ns1:prstGeom prst="rect">
            <ns1:avLst/>
          </ns1:prstGeom>
          <ns1:noFill/>
          <ns1:ln w="0">
            <ns1:noFill/>
          </ns1:ln>
        </ns0:spPr>
        <ns0:txBody>
          <ns1:bodyPr/>
          <ns1:lstStyle>
            <ns1:defPPr>
              <ns1:defRPr sz="1200" b="1">
                <ns1:solidFill>
                  <ns1:srgbClr val="087E95"/>
                </ns1:solidFill>
              </ns1:defRPr>
            </ns1:defPPr>
            <ns1:lvl1pPr>
              <ns1:defRPr sz="1200" b="1">
                <ns1:solidFill>
                  <ns1:srgbClr val="087E95"/>
                </ns1:solidFill>
              </ns1:defRPr>
            </ns1:lvl1pPr>
            <ns1:lvl2pPr>
              <ns1:defRPr sz="1200" b="1">
                <ns1:solidFill>
                  <ns1:srgbClr val="087E95"/>
                </ns1:solidFill>
              </ns1:defRPr>
            </ns1:lvl2pPr>
            <ns1:lvl3pPr>
              <ns1:defRPr sz="1200" b="1">
                <ns1:solidFill>
                  <ns1:srgbClr val="087E95"/>
                </ns1:solidFill>
              </ns1:defRPr>
            </ns1:lvl3pPr>
            <ns1:lvl4pPr>
              <ns1:defRPr sz="1200" b="1">
                <ns1:solidFill>
                  <ns1:srgbClr val="087E95"/>
                </ns1:solidFill>
              </ns1:defRPr>
            </ns1:lvl4pPr>
            <ns1:lvl5pPr>
              <ns1:defRPr sz="1200" b="1">
                <ns1:solidFill>
                  <ns1:srgbClr val="087E95"/>
                </ns1:solidFill>
              </ns1:defRPr>
            </ns1:lvl5pPr>
            <ns1:lvl6pPr>
              <ns1:defRPr sz="1200" b="1">
                <ns1:solidFill>
                  <ns1:srgbClr val="087E95"/>
                </ns1:solidFill>
              </ns1:defRPr>
            </ns1:lvl6pPr>
            <ns1:lvl7pPr>
              <ns1:defRPr sz="1200" b="1">
                <ns1:solidFill>
                  <ns1:srgbClr val="087E95"/>
                </ns1:solidFill>
              </ns1:defRPr>
            </ns1:lvl7pPr>
            <ns1:lvl8pPr>
              <ns1:defRPr sz="1200" b="1">
                <ns1:solidFill>
                  <ns1:srgbClr val="087E95"/>
                </ns1:solidFill>
              </ns1:defRPr>
            </ns1:lvl8pPr>
            <ns1:lvl9pPr>
              <ns1:defRPr sz="1200" b="1">
                <ns1:solidFill>
                  <ns1:srgbClr val="087E95"/>
                </ns1:solidFill>
              </ns1:defRPr>
            </ns1:lvl9pPr>
          </ns1:lstStyle>
          <ns1:p>
            <ns1:pPr>
              <ns1:defRPr sz="1400">
                <ns1:solidFill>
                  <ns1:srgbClr val="087E95"/>
                </ns1:solidFill>
                <ns1:latin typeface="Tahoma"/>
                <ns1:cs typeface="Tahoma"/>
              </ns1:defRPr>
            </ns1:pPr>
            <ns1:r>
              <ns1:t>SCOPEBOT  /  04   User Journey</ns1:t>
            </ns1:r>
          </ns1:p>
        </ns0:txBody>
      </ns0:sp>
      <ns0:sp>
        <ns0:nvSpPr>
          <ns0:cNvPr id="3" name="">
            <ns1:extLst>
              <ns1:ext uri="{FF2B5EF4-FFF2-40B4-BE49-F238E27FC236}">
                <ns2:creationId id="{F269ED97-3586-4832-AAC0-A72F7F98C29E}"/>
              </ns1:ext>
            </ns1:extLst>
          </ns0:cNvPr>
          <ns0:cNvSpPr>
            <ns1:spLocks noGrp="1"/>
          </ns0:cNvSpPr>
          <ns0:nvPr/>
        </ns0:nvSpPr>
        <ns0:spPr>
          <ns1:xfrm>
            <ns1:off x="666750" y="1095375"/>
            <ns1:ext cx="10668000" cy="952500"/>
          </ns1:xfrm>
          <ns1:prstGeom prst="rect">
            <ns1:avLst/>
          </ns1:prstGeom>
          <ns1:noFill/>
          <ns1:ln w="0">
            <ns1:noFill/>
          </ns1:ln>
        </ns0:spPr>
        <ns0:txBody>
          <ns1:bodyPr/>
          <ns1:lstStyle>
            <ns1:defPPr>
              <ns1:defRPr sz="3000" b="1">
                <ns1:solidFill>
                  <ns1:srgbClr val="142B42"/>
                </ns1:solidFill>
              </ns1:defRPr>
            </ns1:defPPr>
            <ns1:lvl1pPr>
              <ns1:defRPr sz="3000" b="1">
                <ns1:solidFill>
                  <ns1:srgbClr val="142B42"/>
                </ns1:solidFill>
              </ns1:defRPr>
            </ns1:lvl1pPr>
            <ns1:lvl2pPr>
              <ns1:defRPr sz="3000" b="1">
                <ns1:solidFill>
                  <ns1:srgbClr val="142B42"/>
                </ns1:solidFill>
              </ns1:defRPr>
            </ns1:lvl2pPr>
            <ns1:lvl3pPr>
              <ns1:defRPr sz="3000" b="1">
                <ns1:solidFill>
                  <ns1:srgbClr val="142B42"/>
                </ns1:solidFill>
              </ns1:defRPr>
            </ns1:lvl3pPr>
            <ns1:lvl4pPr>
              <ns1:defRPr sz="3000" b="1">
                <ns1:solidFill>
                  <ns1:srgbClr val="142B42"/>
                </ns1:solidFill>
              </ns1:defRPr>
            </ns1:lvl4pPr>
            <ns1:lvl5pPr>
              <ns1:defRPr sz="3000" b="1">
                <ns1:solidFill>
                  <ns1:srgbClr val="142B42"/>
                </ns1:solidFill>
              </ns1:defRPr>
            </ns1:lvl5pPr>
            <ns1:lvl6pPr>
              <ns1:defRPr sz="3000" b="1">
                <ns1:solidFill>
                  <ns1:srgbClr val="142B42"/>
                </ns1:solidFill>
              </ns1:defRPr>
            </ns1:lvl6pPr>
            <ns1:lvl7pPr>
              <ns1:defRPr sz="3000" b="1">
                <ns1:solidFill>
                  <ns1:srgbClr val="142B42"/>
                </ns1:solidFill>
              </ns1:defRPr>
            </ns1:lvl7pPr>
            <ns1:lvl8pPr>
              <ns1:defRPr sz="3000" b="1">
                <ns1:solidFill>
                  <ns1:srgbClr val="142B42"/>
                </ns1:solidFill>
              </ns1:defRPr>
            </ns1:lvl8pPr>
            <ns1:lvl9pPr>
              <ns1:defRPr sz="3000" b="1">
                <ns1:solidFill>
                  <ns1:srgbClr val="142B42"/>
                </ns1:solidFill>
              </ns1:defRPr>
            </ns1:lvl9pPr>
          </ns1:lstStyle>
          <ns1:p>
            <ns1:pPr>
              <ns1:defRPr sz="3000">
                <ns1:solidFill>
                  <ns1:srgbClr val="142B42"/>
                </ns1:solidFill>
                <ns1:latin typeface="Tahoma"/>
                <ns1:cs typeface="Tahoma"/>
              </ns1:defRPr>
            </ns1:pPr>
            <ns1:r>
              <ns1:t>ประสบการณ์การใช้งาน</ns1:t>
            </ns1:r>
          </ns1:p>
        </ns0:txBody>
      </ns0:sp>
      <ns0:sp>
        <ns0:nvSpPr>
          <ns0:cNvPr id="4" name="">
            <ns1:extLst>
              <ns1:ext uri="{FF2B5EF4-FFF2-40B4-BE49-F238E27FC236}">
                <ns2:creationId id="{80FB8D0E-B498-45DB-824D-CDC84403442C}"/>
              </ns1:ext>
            </ns1:extLst>
          </ns0:cNvPr>
          <ns0:cNvSpPr>
            <ns1:spLocks noGrp="1"/>
          </ns0:cNvSpPr>
          <ns0:nvPr/>
        </ns0:nvSpPr>
        <ns0:spPr>
          <ns1:xfrm>
            <ns1:off x="714375" y="2238375"/>
            <ns1:ext cx="6191250" cy="3905250"/>
          </ns1:xfrm>
          <ns1:prstGeom prst="rect">
            <ns1:avLst/>
          </ns1:prstGeom>
          <ns1:noFill/>
          <ns1:ln w="0">
            <ns1:noFill/>
          </ns1:ln>
        </ns0:spPr>
        <ns0:txBody>
          <ns1:bodyPr/>
          <ns1:lstStyle>
            <ns1:defPPr>
              <ns1:defRPr sz="1875" b="0">
                <ns1:solidFill>
                  <ns1:srgbClr val="294255"/>
                </ns1:solidFill>
              </ns1:defRPr>
            </ns1:defPPr>
            <ns1:lvl1pPr>
              <ns1:defRPr sz="1875" b="0">
                <ns1:solidFill>
                  <ns1:srgbClr val="294255"/>
                </ns1:solidFill>
              </ns1:defRPr>
            </ns1:lvl1pPr>
            <ns1:lvl2pPr>
              <ns1:defRPr sz="1875" b="0">
                <ns1:solidFill>
                  <ns1:srgbClr val="294255"/>
                </ns1:solidFill>
              </ns1:defRPr>
            </ns1:lvl2pPr>
            <ns1:lvl3pPr>
              <ns1:defRPr sz="1875" b="0">
                <ns1:solidFill>
                  <ns1:srgbClr val="294255"/>
                </ns1:solidFill>
              </ns1:defRPr>
            </ns1:lvl3pPr>
            <ns1:lvl4pPr>
              <ns1:defRPr sz="1875" b="0">
                <ns1:solidFill>
                  <ns1:srgbClr val="294255"/>
                </ns1:solidFill>
              </ns1:defRPr>
            </ns1:lvl4pPr>
            <ns1:lvl5pPr>
              <ns1:defRPr sz="1875" b="0">
                <ns1:solidFill>
                  <ns1:srgbClr val="294255"/>
                </ns1:solidFill>
              </ns1:defRPr>
            </ns1:lvl5pPr>
            <ns1:lvl6pPr>
              <ns1:defRPr sz="1875" b="0">
                <ns1:solidFill>
                  <ns1:srgbClr val="294255"/>
                </ns1:solidFill>
              </ns1:defRPr>
            </ns1:lvl6pPr>
            <ns1:lvl7pPr>
              <ns1:defRPr sz="1875" b="0">
                <ns1:solidFill>
                  <ns1:srgbClr val="294255"/>
                </ns1:solidFill>
              </ns1:defRPr>
            </ns1:lvl7pPr>
            <ns1:lvl8pPr>
              <ns1:defRPr sz="1875" b="0">
                <ns1:solidFill>
                  <ns1:srgbClr val="294255"/>
                </ns1:solidFill>
              </ns1:defRPr>
            </ns1:lvl8pPr>
            <ns1:lvl9pPr>
              <ns1:defRPr sz="1875" b="0">
                <ns1:solidFill>
                  <ns1:srgbClr val="294255"/>
                </ns1:solidFill>
              </ns1:defRPr>
            </ns1:lvl9pPr>
          </ns1:lstStyle>
          <ns1:p>
            <ns1:pPr>
              <ns1:defRPr sz="1900">
                <ns1:solidFill>
                  <ns1:srgbClr val="294255"/>
                </ns1:solidFill>
                <ns1:latin typeface="Tahoma"/>
                <ns1:cs typeface="Tahoma"/>
              </ns1:defRPr>
            </ns1:pPr>
            <ns1:r>
              <ns1:t>1  เจ้าของบอทสร้างบอทและเพิ่มเอกสาร</ns1:t>
            </ns1:r>
          </ns1:p>
          <ns1:p>
            <ns1:pPr>
              <ns1:defRPr sz="1900">
                <ns1:solidFill>
                  <ns1:srgbClr val="294255"/>
                </ns1:solidFill>
                <ns1:latin typeface="Tahoma"/>
                <ns1:cs typeface="Tahoma"/>
              </ns1:defRPr>
            </ns1:pPr>
            <ns1:r>
              <ns1:t>2  ระบบประมวลผลฐานความรู้</ns1:t>
            </ns1:r>
          </ns1:p>
          <ns1:p>
            <ns1:pPr>
              <ns1:defRPr sz="1900">
                <ns1:solidFill>
                  <ns1:srgbClr val="294255"/>
                </ns1:solidFill>
                <ns1:latin typeface="Tahoma"/>
                <ns1:cs typeface="Tahoma"/>
              </ns1:defRPr>
            </ns1:pPr>
            <ns1:r>
              <ns1:t>3  ผู้ใช้ถามผ่าน Web หรือ LINE</ns1:t>
            </ns1:r>
          </ns1:p>
          <ns1:p>
            <ns1:pPr>
              <ns1:defRPr sz="1900">
                <ns1:solidFill>
                  <ns1:srgbClr val="294255"/>
                </ns1:solidFill>
                <ns1:latin typeface="Tahoma"/>
                <ns1:cs typeface="Tahoma"/>
              </ns1:defRPr>
            </ns1:pPr>
            <ns1:r>
              <ns1:t>4  ตรวจคำตอบหรือขอให้คนรับช่วง</ns1:t>
            </ns1:r>
          </ns1:p>
        </ns0:txBody>
      </ns0:sp>
      <ns0:sp>
        <ns0:nvSpPr>
          <ns0:cNvPr id="5" name="">
            <ns1:extLst>
              <ns1:ext uri="{FF2B5EF4-FFF2-40B4-BE49-F238E27FC236}">
                <ns2:creationId id="{3996926B-427B-4750-B923-240DAC3E3E63}"/>
              </ns1:ext>
            </ns1:extLst>
          </ns0:cNvPr>
          <ns0:cNvSpPr>
            <ns1:spLocks noGrp="1"/>
          </ns0:cNvSpPr>
          <ns0:nvPr/>
        </ns0:nvSpPr>
        <ns0:spPr>
          <ns1:xfrm>
            <ns1:off x="7477125" y="2333625"/>
            <ns1:ext cx="3905250" cy="2381250"/>
          </ns1:xfrm>
          <ns1:prstGeom prst="rect">
            <ns1:avLst/>
          </ns1:prstGeom>
          <ns1:solidFill>
            <ns1:srgbClr val="E7F2F5"/>
          </ns1:solidFill>
          <ns1:ln w="9525">
            <ns1:solidFill>
              <ns1:srgbClr val="B8D5DD"/>
            </ns1:solidFill>
          </ns1:ln>
        </ns0:spPr>
        <ns0:txBody>
          <ns1:bodyPr/>
          <ns1:lstStyle>
            <ns1:defPPr>
              <ns1:defRPr sz="1650">
                <ns1:solidFill>
                  <ns1:srgbClr val="38616B"/>
                </ns1:solidFill>
              </ns1:defRPr>
            </ns1:defPPr>
            <ns1:lvl1pPr>
              <ns1:defRPr sz="1650">
                <ns1:solidFill>
                  <ns1:srgbClr val="38616B"/>
                </ns1:solidFill>
              </ns1:defRPr>
            </ns1:lvl1pPr>
            <ns1:lvl2pPr>
              <ns1:defRPr sz="1650">
                <ns1:solidFill>
                  <ns1:srgbClr val="38616B"/>
                </ns1:solidFill>
              </ns1:defRPr>
            </ns1:lvl2pPr>
            <ns1:lvl3pPr>
              <ns1:defRPr sz="1650">
                <ns1:solidFill>
                  <ns1:srgbClr val="38616B"/>
                </ns1:solidFill>
              </ns1:defRPr>
            </ns1:lvl3pPr>
            <ns1:lvl4pPr>
              <ns1:defRPr sz="1650">
                <ns1:solidFill>
                  <ns1:srgbClr val="38616B"/>
                </ns1:solidFill>
              </ns1:defRPr>
            </ns1:lvl4pPr>
            <ns1:lvl5pPr>
              <ns1:defRPr sz="1650">
                <ns1:solidFill>
                  <ns1:srgbClr val="38616B"/>
                </ns1:solidFill>
              </ns1:defRPr>
            </ns1:lvl5pPr>
            <ns1:lvl6pPr>
              <ns1:defRPr sz="1650">
                <ns1:solidFill>
                  <ns1:srgbClr val="38616B"/>
                </ns1:solidFill>
              </ns1:defRPr>
            </ns1:lvl6pPr>
            <ns1:lvl7pPr>
              <ns1:defRPr sz="1650">
                <ns1:solidFill>
                  <ns1:srgbClr val="38616B"/>
                </ns1:solidFill>
              </ns1:defRPr>
            </ns1:lvl7pPr>
            <ns1:lvl8pPr>
              <ns1:defRPr sz="1650">
                <ns1:solidFill>
                  <ns1:srgbClr val="38616B"/>
                </ns1:solidFill>
              </ns1:defRPr>
            </ns1:lvl8pPr>
            <ns1:lvl9pPr>
              <ns1:defRPr sz="1650">
                <ns1:solidFill>
                  <ns1:srgbClr val="38616B"/>
                </ns1:solidFill>
              </ns1:defRPr>
            </ns1:lvl9pPr>
          </ns1:lstStyle>
          <ns1:p>
            <ns1:pPr>
              <ns1:defRPr sz="1500">
                <ns1:solidFill>
                  <ns1:srgbClr val="38616B"/>
                </ns1:solidFill>
                <ns1:latin typeface="Tahoma"/>
                <ns1:cs typeface="Tahoma"/>
              </ns1:defRPr>
            </ns1:pPr>
            <ns1:r>
              <ns1:t>ภาพที่แนะนำ</ns1:t>
            </ns1:r>
          </ns1:p>
          <ns1:p>
            <ns1:pPr>
              <ns1:defRPr sz="1500">
                <ns1:solidFill>
                  <ns1:srgbClr val="38616B"/>
                </ns1:solidFill>
                <ns1:latin typeface="Tahoma"/>
                <ns1:cs typeface="Tahoma"/>
              </ns1:defRPr>
            </ns1:pPr>
            <ns1:r>
              <ns1:t/>
            </ns1:r>
          </ns1:p>
          <ns1:p>
            <ns1:pPr>
              <ns1:defRPr sz="1500">
                <ns1:solidFill>
                  <ns1:srgbClr val="38616B"/>
                </ns1:solidFill>
                <ns1:latin typeface="Tahoma"/>
                <ns1:cs typeface="Tahoma"/>
              </ns1:defRPr>
            </ns1:pPr>
            <ns1:r>
              <ns1:t>ด้านขวา: ภาพหน้าจอรายการบอทและแชท</ns1:t>
            </ns1:r>
          </ns1:p>
          <ns1:p>
            <ns1:pPr>
              <ns1:defRPr sz="1500">
                <ns1:solidFill>
                  <ns1:srgbClr val="38616B"/>
                </ns1:solidFill>
                <ns1:latin typeface="Tahoma"/>
                <ns1:cs typeface="Tahoma"/>
              </ns1:defRPr>
            </ns1:pPr>
            <ns1:r>
              <ns1:t>ใช้ Bots_Page.png หรือ Create_Bots_Page.png</ns1:t>
            </ns1:r>
          </ns1:p>
          <ns1:p>
            <ns1:pPr>
              <ns1:defRPr sz="1500">
                <ns1:solidFill>
                  <ns1:srgbClr val="38616B"/>
                </ns1:solidFill>
                <ns1:latin typeface="Tahoma"/>
                <ns1:cs typeface="Tahoma"/>
              </ns1:defRPr>
            </ns1:pPr>
            <ns1:r>
              <ns1:t>ใส่หมายเลขตามขั้นตอนที่สาธิต</ns1:t>
            </ns1:r>
          </ns1:p>
        </ns0:txBody>
      </ns0:sp>
    </ns0:spTree>
    <ns0:extLst>
      <ns0:ext uri="{BB962C8B-B14F-4D97-AF65-F5344CB8AC3E}">
        <ns3:creationId val="1203356426"/>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7FAFC"/>
        </ns1:solidFill>
      </ns0:bgPr>
    </ns0:bg>
    <ns0:spTree>
      <ns0:nvGrpSpPr>
        <ns0:cNvPr id="1" name=""/>
        <ns0:cNvGrpSpPr/>
        <ns0:nvPr/>
      </ns0:nvGrpSpPr>
      <ns0:grpSpPr>
        <ns1:xfrm/>
      </ns0:grpSpPr>
      <ns0:sp>
        <ns0:nvSpPr>
          <ns0:cNvPr id="2" name="">
            <ns1:extLst>
              <ns1:ext uri="{FF2B5EF4-FFF2-40B4-BE49-F238E27FC236}">
                <ns2:creationId id="{3012F606-6A76-4AF2-934B-FB65B32C27D6}"/>
              </ns1:ext>
            </ns1:extLst>
          </ns0:cNvPr>
          <ns0:cNvSpPr>
            <ns1:spLocks noGrp="1"/>
          </ns0:cNvSpPr>
          <ns0:nvPr/>
        </ns0:nvSpPr>
        <ns0:spPr>
          <ns1:xfrm>
            <ns1:off x="666750" y="400050"/>
            <ns1:ext cx="8572500" cy="333375"/>
          </ns1:xfrm>
          <ns1:prstGeom prst="rect">
            <ns1:avLst/>
          </ns1:prstGeom>
          <ns1:noFill/>
          <ns1:ln w="0">
            <ns1:noFill/>
          </ns1:ln>
        </ns0:spPr>
        <ns0:txBody>
          <ns1:bodyPr/>
          <ns1:lstStyle>
            <ns1:defPPr>
              <ns1:defRPr sz="1200" b="1">
                <ns1:solidFill>
                  <ns1:srgbClr val="087E95"/>
                </ns1:solidFill>
              </ns1:defRPr>
            </ns1:defPPr>
            <ns1:lvl1pPr>
              <ns1:defRPr sz="1200" b="1">
                <ns1:solidFill>
                  <ns1:srgbClr val="087E95"/>
                </ns1:solidFill>
              </ns1:defRPr>
            </ns1:lvl1pPr>
            <ns1:lvl2pPr>
              <ns1:defRPr sz="1200" b="1">
                <ns1:solidFill>
                  <ns1:srgbClr val="087E95"/>
                </ns1:solidFill>
              </ns1:defRPr>
            </ns1:lvl2pPr>
            <ns1:lvl3pPr>
              <ns1:defRPr sz="1200" b="1">
                <ns1:solidFill>
                  <ns1:srgbClr val="087E95"/>
                </ns1:solidFill>
              </ns1:defRPr>
            </ns1:lvl3pPr>
            <ns1:lvl4pPr>
              <ns1:defRPr sz="1200" b="1">
                <ns1:solidFill>
                  <ns1:srgbClr val="087E95"/>
                </ns1:solidFill>
              </ns1:defRPr>
            </ns1:lvl4pPr>
            <ns1:lvl5pPr>
              <ns1:defRPr sz="1200" b="1">
                <ns1:solidFill>
                  <ns1:srgbClr val="087E95"/>
                </ns1:solidFill>
              </ns1:defRPr>
            </ns1:lvl5pPr>
            <ns1:lvl6pPr>
              <ns1:defRPr sz="1200" b="1">
                <ns1:solidFill>
                  <ns1:srgbClr val="087E95"/>
                </ns1:solidFill>
              </ns1:defRPr>
            </ns1:lvl6pPr>
            <ns1:lvl7pPr>
              <ns1:defRPr sz="1200" b="1">
                <ns1:solidFill>
                  <ns1:srgbClr val="087E95"/>
                </ns1:solidFill>
              </ns1:defRPr>
            </ns1:lvl7pPr>
            <ns1:lvl8pPr>
              <ns1:defRPr sz="1200" b="1">
                <ns1:solidFill>
                  <ns1:srgbClr val="087E95"/>
                </ns1:solidFill>
              </ns1:defRPr>
            </ns1:lvl8pPr>
            <ns1:lvl9pPr>
              <ns1:defRPr sz="1200" b="1">
                <ns1:solidFill>
                  <ns1:srgbClr val="087E95"/>
                </ns1:solidFill>
              </ns1:defRPr>
            </ns1:lvl9pPr>
          </ns1:lstStyle>
          <ns1:p>
            <ns1:pPr>
              <ns1:defRPr sz="1400">
                <ns1:solidFill>
                  <ns1:srgbClr val="087E95"/>
                </ns1:solidFill>
                <ns1:latin typeface="Tahoma"/>
                <ns1:cs typeface="Tahoma"/>
              </ns1:defRPr>
            </ns1:pPr>
            <ns1:r>
              <ns1:t>SCOPEBOT  /  05   System Architecture</ns1:t>
            </ns1:r>
          </ns1:p>
        </ns0:txBody>
      </ns0:sp>
      <ns0:sp>
        <ns0:nvSpPr>
          <ns0:cNvPr id="3" name="">
            <ns1:extLst>
              <ns1:ext uri="{FF2B5EF4-FFF2-40B4-BE49-F238E27FC236}">
                <ns2:creationId id="{E82FBCF5-97BE-4EF1-8560-BAA9C73EF5B5}"/>
              </ns1:ext>
            </ns1:extLst>
          </ns0:cNvPr>
          <ns0:cNvSpPr>
            <ns1:spLocks noGrp="1"/>
          </ns0:cNvSpPr>
          <ns0:nvPr/>
        </ns0:nvSpPr>
        <ns0:spPr>
          <ns1:xfrm>
            <ns1:off x="666750" y="1095375"/>
            <ns1:ext cx="10668000" cy="952500"/>
          </ns1:xfrm>
          <ns1:prstGeom prst="rect">
            <ns1:avLst/>
          </ns1:prstGeom>
          <ns1:noFill/>
          <ns1:ln w="0">
            <ns1:noFill/>
          </ns1:ln>
        </ns0:spPr>
        <ns0:txBody>
          <ns1:bodyPr/>
          <ns1:lstStyle>
            <ns1:defPPr>
              <ns1:defRPr sz="3000" b="1">
                <ns1:solidFill>
                  <ns1:srgbClr val="142B42"/>
                </ns1:solidFill>
              </ns1:defRPr>
            </ns1:defPPr>
            <ns1:lvl1pPr>
              <ns1:defRPr sz="3000" b="1">
                <ns1:solidFill>
                  <ns1:srgbClr val="142B42"/>
                </ns1:solidFill>
              </ns1:defRPr>
            </ns1:lvl1pPr>
            <ns1:lvl2pPr>
              <ns1:defRPr sz="3000" b="1">
                <ns1:solidFill>
                  <ns1:srgbClr val="142B42"/>
                </ns1:solidFill>
              </ns1:defRPr>
            </ns1:lvl2pPr>
            <ns1:lvl3pPr>
              <ns1:defRPr sz="3000" b="1">
                <ns1:solidFill>
                  <ns1:srgbClr val="142B42"/>
                </ns1:solidFill>
              </ns1:defRPr>
            </ns1:lvl3pPr>
            <ns1:lvl4pPr>
              <ns1:defRPr sz="3000" b="1">
                <ns1:solidFill>
                  <ns1:srgbClr val="142B42"/>
                </ns1:solidFill>
              </ns1:defRPr>
            </ns1:lvl4pPr>
            <ns1:lvl5pPr>
              <ns1:defRPr sz="3000" b="1">
                <ns1:solidFill>
                  <ns1:srgbClr val="142B42"/>
                </ns1:solidFill>
              </ns1:defRPr>
            </ns1:lvl5pPr>
            <ns1:lvl6pPr>
              <ns1:defRPr sz="3000" b="1">
                <ns1:solidFill>
                  <ns1:srgbClr val="142B42"/>
                </ns1:solidFill>
              </ns1:defRPr>
            </ns1:lvl6pPr>
            <ns1:lvl7pPr>
              <ns1:defRPr sz="3000" b="1">
                <ns1:solidFill>
                  <ns1:srgbClr val="142B42"/>
                </ns1:solidFill>
              </ns1:defRPr>
            </ns1:lvl7pPr>
            <ns1:lvl8pPr>
              <ns1:defRPr sz="3000" b="1">
                <ns1:solidFill>
                  <ns1:srgbClr val="142B42"/>
                </ns1:solidFill>
              </ns1:defRPr>
            </ns1:lvl8pPr>
            <ns1:lvl9pPr>
              <ns1:defRPr sz="3000" b="1">
                <ns1:solidFill>
                  <ns1:srgbClr val="142B42"/>
                </ns1:solidFill>
              </ns1:defRPr>
            </ns1:lvl9pPr>
          </ns1:lstStyle>
          <ns1:p>
            <ns1:pPr>
              <ns1:defRPr sz="3000">
                <ns1:solidFill>
                  <ns1:srgbClr val="142B42"/>
                </ns1:solidFill>
                <ns1:latin typeface="Tahoma"/>
                <ns1:cs typeface="Tahoma"/>
              </ns1:defRPr>
            </ns1:pPr>
            <ns1:r>
              <ns1:t>โครงสร้างระบบ</ns1:t>
            </ns1:r>
          </ns1:p>
        </ns0:txBody>
      </ns0:sp>
      <ns0:sp>
        <ns0:nvSpPr>
          <ns0:cNvPr id="4" name="">
            <ns1:extLst>
              <ns1:ext uri="{FF2B5EF4-FFF2-40B4-BE49-F238E27FC236}">
                <ns2:creationId id="{7B13E009-64D1-4B26-8DE9-A1C70099A1A0}"/>
              </ns1:ext>
            </ns1:extLst>
          </ns0:cNvPr>
          <ns0:cNvSpPr>
            <ns1:spLocks noGrp="1"/>
          </ns0:cNvSpPr>
          <ns0:nvPr/>
        </ns0:nvSpPr>
        <ns0:spPr>
          <ns1:xfrm>
            <ns1:off x="714375" y="2238375"/>
            <ns1:ext cx="6191250" cy="3905250"/>
          </ns1:xfrm>
          <ns1:prstGeom prst="rect">
            <ns1:avLst/>
          </ns1:prstGeom>
          <ns1:noFill/>
          <ns1:ln w="0">
            <ns1:noFill/>
          </ns1:ln>
        </ns0:spPr>
        <ns0:txBody>
          <ns1:bodyPr/>
          <ns1:lstStyle>
            <ns1:defPPr>
              <ns1:defRPr sz="1875" b="0">
                <ns1:solidFill>
                  <ns1:srgbClr val="294255"/>
                </ns1:solidFill>
              </ns1:defRPr>
            </ns1:defPPr>
            <ns1:lvl1pPr>
              <ns1:defRPr sz="1875" b="0">
                <ns1:solidFill>
                  <ns1:srgbClr val="294255"/>
                </ns1:solidFill>
              </ns1:defRPr>
            </ns1:lvl1pPr>
            <ns1:lvl2pPr>
              <ns1:defRPr sz="1875" b="0">
                <ns1:solidFill>
                  <ns1:srgbClr val="294255"/>
                </ns1:solidFill>
              </ns1:defRPr>
            </ns1:lvl2pPr>
            <ns1:lvl3pPr>
              <ns1:defRPr sz="1875" b="0">
                <ns1:solidFill>
                  <ns1:srgbClr val="294255"/>
                </ns1:solidFill>
              </ns1:defRPr>
            </ns1:lvl3pPr>
            <ns1:lvl4pPr>
              <ns1:defRPr sz="1875" b="0">
                <ns1:solidFill>
                  <ns1:srgbClr val="294255"/>
                </ns1:solidFill>
              </ns1:defRPr>
            </ns1:lvl4pPr>
            <ns1:lvl5pPr>
              <ns1:defRPr sz="1875" b="0">
                <ns1:solidFill>
                  <ns1:srgbClr val="294255"/>
                </ns1:solidFill>
              </ns1:defRPr>
            </ns1:lvl5pPr>
            <ns1:lvl6pPr>
              <ns1:defRPr sz="1875" b="0">
                <ns1:solidFill>
                  <ns1:srgbClr val="294255"/>
                </ns1:solidFill>
              </ns1:defRPr>
            </ns1:lvl6pPr>
            <ns1:lvl7pPr>
              <ns1:defRPr sz="1875" b="0">
                <ns1:solidFill>
                  <ns1:srgbClr val="294255"/>
                </ns1:solidFill>
              </ns1:defRPr>
            </ns1:lvl7pPr>
            <ns1:lvl8pPr>
              <ns1:defRPr sz="1875" b="0">
                <ns1:solidFill>
                  <ns1:srgbClr val="294255"/>
                </ns1:solidFill>
              </ns1:defRPr>
            </ns1:lvl8pPr>
            <ns1:lvl9pPr>
              <ns1:defRPr sz="1875" b="0">
                <ns1:solidFill>
                  <ns1:srgbClr val="294255"/>
                </ns1:solidFill>
              </ns1:defRPr>
            </ns1:lvl9pPr>
          </ns1:lstStyle>
          <ns1:p>
            <ns1:pPr>
              <ns1:defRPr sz="1900">
                <ns1:solidFill>
                  <ns1:srgbClr val="294255"/>
                </ns1:solidFill>
                <ns1:latin typeface="Tahoma"/>
                <ns1:cs typeface="Tahoma"/>
              </ns1:defRPr>
            </ns1:pPr>
            <ns1:r>
              <ns1:t>React / TypeScript: หน้าจอเว็บ</ns1:t>
            </ns1:r>
          </ns1:p>
          <ns1:p>
            <ns1:pPr>
              <ns1:defRPr sz="1900">
                <ns1:solidFill>
                  <ns1:srgbClr val="294255"/>
                </ns1:solidFill>
                <ns1:latin typeface="Tahoma"/>
                <ns1:cs typeface="Tahoma"/>
              </ns1:defRPr>
            </ns1:pPr>
            <ns1:r>
              <ns1:t>FastAPI: ตรวจสิทธิ์และควบคุมงาน</ns1:t>
            </ns1:r>
          </ns1:p>
          <ns1:p>
            <ns1:pPr>
              <ns1:defRPr sz="1900">
                <ns1:solidFill>
                  <ns1:srgbClr val="294255"/>
                </ns1:solidFill>
                <ns1:latin typeface="Tahoma"/>
                <ns1:cs typeface="Tahoma"/>
              </ns1:defRPr>
            </ns1:pPr>
            <ns1:r>
              <ns1:t>PostgreSQL: บัญชี บอท และประวัติ</ns1:t>
            </ns1:r>
          </ns1:p>
          <ns1:p>
            <ns1:pPr>
              <ns1:defRPr sz="1900">
                <ns1:solidFill>
                  <ns1:srgbClr val="294255"/>
                </ns1:solidFill>
                <ns1:latin typeface="Tahoma"/>
                <ns1:cs typeface="Tahoma"/>
              </ns1:defRPr>
            </ns1:pPr>
            <ns1:r>
              <ns1:t>Chroma / Qdrant + Ollama: งาน RAG</ns1:t>
            </ns1:r>
          </ns1:p>
        </ns0:txBody>
      </ns0:sp>
      <ns0:sp>
        <ns0:nvSpPr>
          <ns0:cNvPr id="5" name="">
            <ns1:extLst>
              <ns1:ext uri="{FF2B5EF4-FFF2-40B4-BE49-F238E27FC236}">
                <ns2:creationId id="{C3451BF2-E337-4C60-AA1E-779F52377D1F}"/>
              </ns1:ext>
            </ns1:extLst>
          </ns0:cNvPr>
          <ns0:cNvSpPr>
            <ns1:spLocks noGrp="1"/>
          </ns0:cNvSpPr>
          <ns0:nvPr/>
        </ns0:nvSpPr>
        <ns0:spPr>
          <ns1:xfrm>
            <ns1:off x="7477125" y="2333625"/>
            <ns1:ext cx="3905250" cy="2381250"/>
          </ns1:xfrm>
          <ns1:prstGeom prst="rect">
            <ns1:avLst/>
          </ns1:prstGeom>
          <ns1:solidFill>
            <ns1:srgbClr val="E7F2F5"/>
          </ns1:solidFill>
          <ns1:ln w="9525">
            <ns1:solidFill>
              <ns1:srgbClr val="B8D5DD"/>
            </ns1:solidFill>
          </ns1:ln>
        </ns0:spPr>
        <ns0:txBody>
          <ns1:bodyPr/>
          <ns1:lstStyle>
            <ns1:defPPr>
              <ns1:defRPr sz="1650">
                <ns1:solidFill>
                  <ns1:srgbClr val="38616B"/>
                </ns1:solidFill>
              </ns1:defRPr>
            </ns1:defPPr>
            <ns1:lvl1pPr>
              <ns1:defRPr sz="1650">
                <ns1:solidFill>
                  <ns1:srgbClr val="38616B"/>
                </ns1:solidFill>
              </ns1:defRPr>
            </ns1:lvl1pPr>
            <ns1:lvl2pPr>
              <ns1:defRPr sz="1650">
                <ns1:solidFill>
                  <ns1:srgbClr val="38616B"/>
                </ns1:solidFill>
              </ns1:defRPr>
            </ns1:lvl2pPr>
            <ns1:lvl3pPr>
              <ns1:defRPr sz="1650">
                <ns1:solidFill>
                  <ns1:srgbClr val="38616B"/>
                </ns1:solidFill>
              </ns1:defRPr>
            </ns1:lvl3pPr>
            <ns1:lvl4pPr>
              <ns1:defRPr sz="1650">
                <ns1:solidFill>
                  <ns1:srgbClr val="38616B"/>
                </ns1:solidFill>
              </ns1:defRPr>
            </ns1:lvl4pPr>
            <ns1:lvl5pPr>
              <ns1:defRPr sz="1650">
                <ns1:solidFill>
                  <ns1:srgbClr val="38616B"/>
                </ns1:solidFill>
              </ns1:defRPr>
            </ns1:lvl5pPr>
            <ns1:lvl6pPr>
              <ns1:defRPr sz="1650">
                <ns1:solidFill>
                  <ns1:srgbClr val="38616B"/>
                </ns1:solidFill>
              </ns1:defRPr>
            </ns1:lvl6pPr>
            <ns1:lvl7pPr>
              <ns1:defRPr sz="1650">
                <ns1:solidFill>
                  <ns1:srgbClr val="38616B"/>
                </ns1:solidFill>
              </ns1:defRPr>
            </ns1:lvl7pPr>
            <ns1:lvl8pPr>
              <ns1:defRPr sz="1650">
                <ns1:solidFill>
                  <ns1:srgbClr val="38616B"/>
                </ns1:solidFill>
              </ns1:defRPr>
            </ns1:lvl8pPr>
            <ns1:lvl9pPr>
              <ns1:defRPr sz="1650">
                <ns1:solidFill>
                  <ns1:srgbClr val="38616B"/>
                </ns1:solidFill>
              </ns1:defRPr>
            </ns1:lvl9pPr>
          </ns1:lstStyle>
          <ns1:p>
            <ns1:pPr>
              <ns1:defRPr sz="1500">
                <ns1:solidFill>
                  <ns1:srgbClr val="38616B"/>
                </ns1:solidFill>
                <ns1:latin typeface="Tahoma"/>
                <ns1:cs typeface="Tahoma"/>
              </ns1:defRPr>
            </ns1:pPr>
            <ns1:r>
              <ns1:t>ภาพที่แนะนำ</ns1:t>
            </ns1:r>
          </ns1:p>
          <ns1:p>
            <ns1:pPr>
              <ns1:defRPr sz="1500">
                <ns1:solidFill>
                  <ns1:srgbClr val="38616B"/>
                </ns1:solidFill>
                <ns1:latin typeface="Tahoma"/>
                <ns1:cs typeface="Tahoma"/>
              </ns1:defRPr>
            </ns1:pPr>
            <ns1:r>
              <ns1:t/>
            </ns1:r>
          </ns1:p>
          <ns1:p>
            <ns1:pPr>
              <ns1:defRPr sz="1500">
                <ns1:solidFill>
                  <ns1:srgbClr val="38616B"/>
                </ns1:solidFill>
                <ns1:latin typeface="Tahoma"/>
                <ns1:cs typeface="Tahoma"/>
              </ns1:defRPr>
            </ns1:pPr>
            <ns1:r>
              <ns1:t>ด้านขวา: แผนภาพ Web / LINE เชื่อม FastAPI</ns1:t>
            </ns1:r>
          </ns1:p>
          <ns1:p>
            <ns1:pPr>
              <ns1:defRPr sz="1500">
                <ns1:solidFill>
                  <ns1:srgbClr val="38616B"/>
                </ns1:solidFill>
                <ns1:latin typeface="Tahoma"/>
                <ns1:cs typeface="Tahoma"/>
              </ns1:defRPr>
            </ns1:pPr>
            <ns1:r>
              <ns1:t>แยกเส้นไป PostgreSQL, Storage และ RAG</ns1:t>
            </ns1:r>
          </ns1:p>
          <ns1:p>
            <ns1:pPr>
              <ns1:defRPr sz="1500">
                <ns1:solidFill>
                  <ns1:srgbClr val="38616B"/>
                </ns1:solidFill>
                <ns1:latin typeface="Tahoma"/>
                <ns1:cs typeface="Tahoma"/>
              </ns1:defRPr>
            </ns1:pPr>
            <ns1:r>
              <ns1:t>RAG เชื่อม vector store และ Ollama</ns1:t>
            </ns1:r>
          </ns1:p>
          <ns1:p>
            <ns1:pPr>
              <ns1:defRPr sz="1500">
                <ns1:solidFill>
                  <ns1:srgbClr val="38616B"/>
                </ns1:solidFill>
                <ns1:latin typeface="Tahoma"/>
                <ns1:cs typeface="Tahoma"/>
              </ns1:defRPr>
            </ns1:pPr>
            <ns1:r>
              <ns1:t>ระบุ vector backend ที่ตั้งค่าใช้งานจริง</ns1:t>
            </ns1:r>
          </ns1:p>
        </ns0:txBody>
      </ns0:sp>
    </ns0:spTree>
    <ns0:extLst>
      <ns0:ext uri="{BB962C8B-B14F-4D97-AF65-F5344CB8AC3E}">
        <ns3:creationId val="1479780296"/>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7FAFC"/>
        </ns1:solidFill>
      </ns0:bgPr>
    </ns0:bg>
    <ns0:spTree>
      <ns0:nvGrpSpPr>
        <ns0:cNvPr id="1" name=""/>
        <ns0:cNvGrpSpPr/>
        <ns0:nvPr/>
      </ns0:nvGrpSpPr>
      <ns0:grpSpPr>
        <ns1:xfrm/>
      </ns0:grpSpPr>
      <ns0:sp>
        <ns0:nvSpPr>
          <ns0:cNvPr id="2" name="">
            <ns1:extLst>
              <ns1:ext uri="{FF2B5EF4-FFF2-40B4-BE49-F238E27FC236}">
                <ns2:creationId id="{8EFF1C09-0213-4491-813C-AAD23BD1B367}"/>
              </ns1:ext>
            </ns1:extLst>
          </ns0:cNvPr>
          <ns0:cNvSpPr>
            <ns1:spLocks noGrp="1"/>
          </ns0:cNvSpPr>
          <ns0:nvPr/>
        </ns0:nvSpPr>
        <ns0:spPr>
          <ns1:xfrm>
            <ns1:off x="666750" y="400050"/>
            <ns1:ext cx="8572500" cy="333375"/>
          </ns1:xfrm>
          <ns1:prstGeom prst="rect">
            <ns1:avLst/>
          </ns1:prstGeom>
          <ns1:noFill/>
          <ns1:ln w="0">
            <ns1:noFill/>
          </ns1:ln>
        </ns0:spPr>
        <ns0:txBody>
          <ns1:bodyPr/>
          <ns1:lstStyle>
            <ns1:defPPr>
              <ns1:defRPr sz="1200" b="1">
                <ns1:solidFill>
                  <ns1:srgbClr val="087E95"/>
                </ns1:solidFill>
              </ns1:defRPr>
            </ns1:defPPr>
            <ns1:lvl1pPr>
              <ns1:defRPr sz="1200" b="1">
                <ns1:solidFill>
                  <ns1:srgbClr val="087E95"/>
                </ns1:solidFill>
              </ns1:defRPr>
            </ns1:lvl1pPr>
            <ns1:lvl2pPr>
              <ns1:defRPr sz="1200" b="1">
                <ns1:solidFill>
                  <ns1:srgbClr val="087E95"/>
                </ns1:solidFill>
              </ns1:defRPr>
            </ns1:lvl2pPr>
            <ns1:lvl3pPr>
              <ns1:defRPr sz="1200" b="1">
                <ns1:solidFill>
                  <ns1:srgbClr val="087E95"/>
                </ns1:solidFill>
              </ns1:defRPr>
            </ns1:lvl3pPr>
            <ns1:lvl4pPr>
              <ns1:defRPr sz="1200" b="1">
                <ns1:solidFill>
                  <ns1:srgbClr val="087E95"/>
                </ns1:solidFill>
              </ns1:defRPr>
            </ns1:lvl4pPr>
            <ns1:lvl5pPr>
              <ns1:defRPr sz="1200" b="1">
                <ns1:solidFill>
                  <ns1:srgbClr val="087E95"/>
                </ns1:solidFill>
              </ns1:defRPr>
            </ns1:lvl5pPr>
            <ns1:lvl6pPr>
              <ns1:defRPr sz="1200" b="1">
                <ns1:solidFill>
                  <ns1:srgbClr val="087E95"/>
                </ns1:solidFill>
              </ns1:defRPr>
            </ns1:lvl6pPr>
            <ns1:lvl7pPr>
              <ns1:defRPr sz="1200" b="1">
                <ns1:solidFill>
                  <ns1:srgbClr val="087E95"/>
                </ns1:solidFill>
              </ns1:defRPr>
            </ns1:lvl7pPr>
            <ns1:lvl8pPr>
              <ns1:defRPr sz="1200" b="1">
                <ns1:solidFill>
                  <ns1:srgbClr val="087E95"/>
                </ns1:solidFill>
              </ns1:defRPr>
            </ns1:lvl8pPr>
            <ns1:lvl9pPr>
              <ns1:defRPr sz="1200" b="1">
                <ns1:solidFill>
                  <ns1:srgbClr val="087E95"/>
                </ns1:solidFill>
              </ns1:defRPr>
            </ns1:lvl9pPr>
          </ns1:lstStyle>
          <ns1:p>
            <ns1:pPr>
              <ns1:defRPr sz="1400">
                <ns1:solidFill>
                  <ns1:srgbClr val="087E95"/>
                </ns1:solidFill>
                <ns1:latin typeface="Tahoma"/>
                <ns1:cs typeface="Tahoma"/>
              </ns1:defRPr>
            </ns1:pPr>
            <ns1:r>
              <ns1:t>SCOPEBOT  /  06   The RAG Core Process</ns1:t>
            </ns1:r>
          </ns1:p>
        </ns0:txBody>
      </ns0:sp>
      <ns0:sp>
        <ns0:nvSpPr>
          <ns0:cNvPr id="3" name="">
            <ns1:extLst>
              <ns1:ext uri="{FF2B5EF4-FFF2-40B4-BE49-F238E27FC236}">
                <ns2:creationId id="{1E1C16AB-01D2-4B29-BB73-7F1B49B7DD5E}"/>
              </ns1:ext>
            </ns1:extLst>
          </ns0:cNvPr>
          <ns0:cNvSpPr>
            <ns1:spLocks noGrp="1"/>
          </ns0:cNvSpPr>
          <ns0:nvPr/>
        </ns0:nvSpPr>
        <ns0:spPr>
          <ns1:xfrm>
            <ns1:off x="666750" y="1095375"/>
            <ns1:ext cx="10668000" cy="952500"/>
          </ns1:xfrm>
          <ns1:prstGeom prst="rect">
            <ns1:avLst/>
          </ns1:prstGeom>
          <ns1:noFill/>
          <ns1:ln w="0">
            <ns1:noFill/>
          </ns1:ln>
        </ns0:spPr>
        <ns0:txBody>
          <ns1:bodyPr/>
          <ns1:lstStyle>
            <ns1:defPPr>
              <ns1:defRPr sz="3000" b="1">
                <ns1:solidFill>
                  <ns1:srgbClr val="142B42"/>
                </ns1:solidFill>
              </ns1:defRPr>
            </ns1:defPPr>
            <ns1:lvl1pPr>
              <ns1:defRPr sz="3000" b="1">
                <ns1:solidFill>
                  <ns1:srgbClr val="142B42"/>
                </ns1:solidFill>
              </ns1:defRPr>
            </ns1:lvl1pPr>
            <ns1:lvl2pPr>
              <ns1:defRPr sz="3000" b="1">
                <ns1:solidFill>
                  <ns1:srgbClr val="142B42"/>
                </ns1:solidFill>
              </ns1:defRPr>
            </ns1:lvl2pPr>
            <ns1:lvl3pPr>
              <ns1:defRPr sz="3000" b="1">
                <ns1:solidFill>
                  <ns1:srgbClr val="142B42"/>
                </ns1:solidFill>
              </ns1:defRPr>
            </ns1:lvl3pPr>
            <ns1:lvl4pPr>
              <ns1:defRPr sz="3000" b="1">
                <ns1:solidFill>
                  <ns1:srgbClr val="142B42"/>
                </ns1:solidFill>
              </ns1:defRPr>
            </ns1:lvl4pPr>
            <ns1:lvl5pPr>
              <ns1:defRPr sz="3000" b="1">
                <ns1:solidFill>
                  <ns1:srgbClr val="142B42"/>
                </ns1:solidFill>
              </ns1:defRPr>
            </ns1:lvl5pPr>
            <ns1:lvl6pPr>
              <ns1:defRPr sz="3000" b="1">
                <ns1:solidFill>
                  <ns1:srgbClr val="142B42"/>
                </ns1:solidFill>
              </ns1:defRPr>
            </ns1:lvl6pPr>
            <ns1:lvl7pPr>
              <ns1:defRPr sz="3000" b="1">
                <ns1:solidFill>
                  <ns1:srgbClr val="142B42"/>
                </ns1:solidFill>
              </ns1:defRPr>
            </ns1:lvl7pPr>
            <ns1:lvl8pPr>
              <ns1:defRPr sz="3000" b="1">
                <ns1:solidFill>
                  <ns1:srgbClr val="142B42"/>
                </ns1:solidFill>
              </ns1:defRPr>
            </ns1:lvl8pPr>
            <ns1:lvl9pPr>
              <ns1:defRPr sz="3000" b="1">
                <ns1:solidFill>
                  <ns1:srgbClr val="142B42"/>
                </ns1:solidFill>
              </ns1:defRPr>
            </ns1:lvl9pPr>
          </ns1:lstStyle>
          <ns1:p>
            <ns1:pPr>
              <ns1:defRPr sz="3000">
                <ns1:solidFill>
                  <ns1:srgbClr val="142B42"/>
                </ns1:solidFill>
                <ns1:latin typeface="Tahoma"/>
                <ns1:cs typeface="Tahoma"/>
              </ns1:defRPr>
            </ns1:pPr>
            <ns1:r>
              <ns1:t>กระบวนการ RAG</ns1:t>
            </ns1:r>
          </ns1:p>
        </ns0:txBody>
      </ns0:sp>
      <ns0:sp>
        <ns0:nvSpPr>
          <ns0:cNvPr id="4" name="">
            <ns1:extLst>
              <ns1:ext uri="{FF2B5EF4-FFF2-40B4-BE49-F238E27FC236}">
                <ns2:creationId id="{E54C87FA-FC03-41A2-A9F7-54DF70E576E5}"/>
              </ns1:ext>
            </ns1:extLst>
          </ns0:cNvPr>
          <ns0:cNvSpPr>
            <ns1:spLocks noGrp="1"/>
          </ns0:cNvSpPr>
          <ns0:nvPr/>
        </ns0:nvSpPr>
        <ns0:spPr>
          <ns1:xfrm>
            <ns1:off x="714375" y="2238375"/>
            <ns1:ext cx="6191250" cy="3905250"/>
          </ns1:xfrm>
          <ns1:prstGeom prst="rect">
            <ns1:avLst/>
          </ns1:prstGeom>
          <ns1:noFill/>
          <ns1:ln w="0">
            <ns1:noFill/>
          </ns1:ln>
        </ns0:spPr>
        <ns0:txBody>
          <ns1:bodyPr/>
          <ns1:lstStyle>
            <ns1:defPPr>
              <ns1:defRPr sz="1875" b="0">
                <ns1:solidFill>
                  <ns1:srgbClr val="294255"/>
                </ns1:solidFill>
              </ns1:defRPr>
            </ns1:defPPr>
            <ns1:lvl1pPr>
              <ns1:defRPr sz="1875" b="0">
                <ns1:solidFill>
                  <ns1:srgbClr val="294255"/>
                </ns1:solidFill>
              </ns1:defRPr>
            </ns1:lvl1pPr>
            <ns1:lvl2pPr>
              <ns1:defRPr sz="1875" b="0">
                <ns1:solidFill>
                  <ns1:srgbClr val="294255"/>
                </ns1:solidFill>
              </ns1:defRPr>
            </ns1:lvl2pPr>
            <ns1:lvl3pPr>
              <ns1:defRPr sz="1875" b="0">
                <ns1:solidFill>
                  <ns1:srgbClr val="294255"/>
                </ns1:solidFill>
              </ns1:defRPr>
            </ns1:lvl3pPr>
            <ns1:lvl4pPr>
              <ns1:defRPr sz="1875" b="0">
                <ns1:solidFill>
                  <ns1:srgbClr val="294255"/>
                </ns1:solidFill>
              </ns1:defRPr>
            </ns1:lvl4pPr>
            <ns1:lvl5pPr>
              <ns1:defRPr sz="1875" b="0">
                <ns1:solidFill>
                  <ns1:srgbClr val="294255"/>
                </ns1:solidFill>
              </ns1:defRPr>
            </ns1:lvl5pPr>
            <ns1:lvl6pPr>
              <ns1:defRPr sz="1875" b="0">
                <ns1:solidFill>
                  <ns1:srgbClr val="294255"/>
                </ns1:solidFill>
              </ns1:defRPr>
            </ns1:lvl6pPr>
            <ns1:lvl7pPr>
              <ns1:defRPr sz="1875" b="0">
                <ns1:solidFill>
                  <ns1:srgbClr val="294255"/>
                </ns1:solidFill>
              </ns1:defRPr>
            </ns1:lvl7pPr>
            <ns1:lvl8pPr>
              <ns1:defRPr sz="1875" b="0">
                <ns1:solidFill>
                  <ns1:srgbClr val="294255"/>
                </ns1:solidFill>
              </ns1:defRPr>
            </ns1:lvl8pPr>
            <ns1:lvl9pPr>
              <ns1:defRPr sz="1875" b="0">
                <ns1:solidFill>
                  <ns1:srgbClr val="294255"/>
                </ns1:solidFill>
              </ns1:defRPr>
            </ns1:lvl9pPr>
          </ns1:lstStyle>
          <ns1:p>
            <ns1:pPr>
              <ns1:defRPr sz="1900">
                <ns1:solidFill>
                  <ns1:srgbClr val="294255"/>
                </ns1:solidFill>
                <ns1:latin typeface="Tahoma"/>
                <ns1:cs typeface="Tahoma"/>
              </ns1:defRPr>
            </ns1:pPr>
            <ns1:r>
              <ns1:t>เตรียมเอกสาร: แบ่งข้อความและทำ embeddings</ns1:t>
            </ns1:r>
          </ns1:p>
          <ns1:p>
            <ns1:pPr>
              <ns1:defRPr sz="1900">
                <ns1:solidFill>
                  <ns1:srgbClr val="294255"/>
                </ns1:solidFill>
                <ns1:latin typeface="Tahoma"/>
                <ns1:cs typeface="Tahoma"/>
              </ns1:defRPr>
            </ns1:pPr>
            <ns1:r>
              <ns1:t>ค้นข้อมูล: ใช้คำถามและบริบทล่าสุด</ns1:t>
            </ns1:r>
          </ns1:p>
          <ns1:p>
            <ns1:pPr>
              <ns1:defRPr sz="1900">
                <ns1:solidFill>
                  <ns1:srgbClr val="294255"/>
                </ns1:solidFill>
                <ns1:latin typeface="Tahoma"/>
                <ns1:cs typeface="Tahoma"/>
              </ns1:defRPr>
            </ns1:pPr>
            <ns1:r>
              <ns1:t>จัดอันดับหลักฐานด้วย semantic reranking</ns1:t>
            </ns1:r>
          </ns1:p>
          <ns1:p>
            <ns1:pPr>
              <ns1:defRPr sz="1900">
                <ns1:solidFill>
                  <ns1:srgbClr val="294255"/>
                </ns1:solidFill>
                <ns1:latin typeface="Tahoma"/>
                <ns1:cs typeface="Tahoma"/>
              </ns1:defRPr>
            </ns1:pPr>
            <ns1:r>
              <ns1:t>สร้างคำตอบและตรวจหลักฐานกับ citation</ns1:t>
            </ns1:r>
          </ns1:p>
        </ns0:txBody>
      </ns0:sp>
      <ns0:sp>
        <ns0:nvSpPr>
          <ns0:cNvPr id="5" name="">
            <ns1:extLst>
              <ns1:ext uri="{FF2B5EF4-FFF2-40B4-BE49-F238E27FC236}">
                <ns2:creationId id="{EA125DA2-C7A2-4A7F-A407-71265420238C}"/>
              </ns1:ext>
            </ns1:extLst>
          </ns0:cNvPr>
          <ns0:cNvSpPr>
            <ns1:spLocks noGrp="1"/>
          </ns0:cNvSpPr>
          <ns0:nvPr/>
        </ns0:nvSpPr>
        <ns0:spPr>
          <ns1:xfrm>
            <ns1:off x="7477125" y="2333625"/>
            <ns1:ext cx="3905250" cy="2381250"/>
          </ns1:xfrm>
          <ns1:prstGeom prst="rect">
            <ns1:avLst/>
          </ns1:prstGeom>
          <ns1:solidFill>
            <ns1:srgbClr val="E7F2F5"/>
          </ns1:solidFill>
          <ns1:ln w="9525">
            <ns1:solidFill>
              <ns1:srgbClr val="B8D5DD"/>
            </ns1:solidFill>
          </ns1:ln>
        </ns0:spPr>
        <ns0:txBody>
          <ns1:bodyPr/>
          <ns1:lstStyle>
            <ns1:defPPr>
              <ns1:defRPr sz="1650">
                <ns1:solidFill>
                  <ns1:srgbClr val="38616B"/>
                </ns1:solidFill>
              </ns1:defRPr>
            </ns1:defPPr>
            <ns1:lvl1pPr>
              <ns1:defRPr sz="1650">
                <ns1:solidFill>
                  <ns1:srgbClr val="38616B"/>
                </ns1:solidFill>
              </ns1:defRPr>
            </ns1:lvl1pPr>
            <ns1:lvl2pPr>
              <ns1:defRPr sz="1650">
                <ns1:solidFill>
                  <ns1:srgbClr val="38616B"/>
                </ns1:solidFill>
              </ns1:defRPr>
            </ns1:lvl2pPr>
            <ns1:lvl3pPr>
              <ns1:defRPr sz="1650">
                <ns1:solidFill>
                  <ns1:srgbClr val="38616B"/>
                </ns1:solidFill>
              </ns1:defRPr>
            </ns1:lvl3pPr>
            <ns1:lvl4pPr>
              <ns1:defRPr sz="1650">
                <ns1:solidFill>
                  <ns1:srgbClr val="38616B"/>
                </ns1:solidFill>
              </ns1:defRPr>
            </ns1:lvl4pPr>
            <ns1:lvl5pPr>
              <ns1:defRPr sz="1650">
                <ns1:solidFill>
                  <ns1:srgbClr val="38616B"/>
                </ns1:solidFill>
              </ns1:defRPr>
            </ns1:lvl5pPr>
            <ns1:lvl6pPr>
              <ns1:defRPr sz="1650">
                <ns1:solidFill>
                  <ns1:srgbClr val="38616B"/>
                </ns1:solidFill>
              </ns1:defRPr>
            </ns1:lvl6pPr>
            <ns1:lvl7pPr>
              <ns1:defRPr sz="1650">
                <ns1:solidFill>
                  <ns1:srgbClr val="38616B"/>
                </ns1:solidFill>
              </ns1:defRPr>
            </ns1:lvl7pPr>
            <ns1:lvl8pPr>
              <ns1:defRPr sz="1650">
                <ns1:solidFill>
                  <ns1:srgbClr val="38616B"/>
                </ns1:solidFill>
              </ns1:defRPr>
            </ns1:lvl8pPr>
            <ns1:lvl9pPr>
              <ns1:defRPr sz="1650">
                <ns1:solidFill>
                  <ns1:srgbClr val="38616B"/>
                </ns1:solidFill>
              </ns1:defRPr>
            </ns1:lvl9pPr>
          </ns1:lstStyle>
          <ns1:p>
            <ns1:pPr>
              <ns1:defRPr sz="1500">
                <ns1:solidFill>
                  <ns1:srgbClr val="38616B"/>
                </ns1:solidFill>
                <ns1:latin typeface="Tahoma"/>
                <ns1:cs typeface="Tahoma"/>
              </ns1:defRPr>
            </ns1:pPr>
            <ns1:r>
              <ns1:t>ภาพที่แนะนำ</ns1:t>
            </ns1:r>
          </ns1:p>
          <ns1:p>
            <ns1:pPr>
              <ns1:defRPr sz="1500">
                <ns1:solidFill>
                  <ns1:srgbClr val="38616B"/>
                </ns1:solidFill>
                <ns1:latin typeface="Tahoma"/>
                <ns1:cs typeface="Tahoma"/>
              </ns1:defRPr>
            </ns1:pPr>
            <ns1:r>
              <ns1:t/>
            </ns1:r>
          </ns1:p>
          <ns1:p>
            <ns1:pPr>
              <ns1:defRPr sz="1500">
                <ns1:solidFill>
                  <ns1:srgbClr val="38616B"/>
                </ns1:solidFill>
                <ns1:latin typeface="Tahoma"/>
                <ns1:cs typeface="Tahoma"/>
              </ns1:defRPr>
            </ns1:pPr>
            <ns1:r>
              <ns1:t>ด้านขวา: แผนภาพ 2 แถว</ns1:t>
            </ns1:r>
          </ns1:p>
          <ns1:p>
            <ns1:pPr>
              <ns1:defRPr sz="1500">
                <ns1:solidFill>
                  <ns1:srgbClr val="38616B"/>
                </ns1:solidFill>
                <ns1:latin typeface="Tahoma"/>
                <ns1:cs typeface="Tahoma"/>
              </ns1:defRPr>
            </ns1:pPr>
            <ns1:r>
              <ns1:t>เอกสาร → chunks → embeddings → index</ns1:t>
            </ns1:r>
          </ns1:p>
          <ns1:p>
            <ns1:pPr>
              <ns1:defRPr sz="1500">
                <ns1:solidFill>
                  <ns1:srgbClr val="38616B"/>
                </ns1:solidFill>
                <ns1:latin typeface="Tahoma"/>
                <ns1:cs typeface="Tahoma"/>
              </ns1:defRPr>
            </ns1:pPr>
            <ns1:r>
              <ns1:t>คำถาม → ค้นหา → rerank → ตอบและตรวจหลักฐาน</ns1:t>
            </ns1:r>
          </ns1:p>
          <ns1:p>
            <ns1:pPr>
              <ns1:defRPr sz="1500">
                <ns1:solidFill>
                  <ns1:srgbClr val="38616B"/>
                </ns1:solidFill>
                <ns1:latin typeface="Tahoma"/>
                <ns1:cs typeface="Tahoma"/>
              </ns1:defRPr>
            </ns1:pPr>
            <ns1:r>
              <ns1:t>แสดงชื่อไฟล์หรือเลขหน้าเมื่อมีข้อมูล</ns1:t>
            </ns1:r>
          </ns1:p>
        </ns0:txBody>
      </ns0:sp>
    </ns0:spTree>
    <ns0:extLst>
      <ns0:ext uri="{BB962C8B-B14F-4D97-AF65-F5344CB8AC3E}">
        <ns3:creationId val="1592992386"/>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7FAFC"/>
        </ns1:solidFill>
      </ns0:bgPr>
    </ns0:bg>
    <ns0:spTree>
      <ns0:nvGrpSpPr>
        <ns0:cNvPr id="1" name=""/>
        <ns0:cNvGrpSpPr/>
        <ns0:nvPr/>
      </ns0:nvGrpSpPr>
      <ns0:grpSpPr>
        <ns1:xfrm/>
      </ns0:grpSpPr>
      <ns0:sp>
        <ns0:nvSpPr>
          <ns0:cNvPr id="2" name="">
            <ns1:extLst>
              <ns1:ext uri="{FF2B5EF4-FFF2-40B4-BE49-F238E27FC236}">
                <ns2:creationId id="{3D71CA8B-532F-40AF-8918-6B166F66EB7B}"/>
              </ns1:ext>
            </ns1:extLst>
          </ns0:cNvPr>
          <ns0:cNvSpPr>
            <ns1:spLocks noGrp="1"/>
          </ns0:cNvSpPr>
          <ns0:nvPr/>
        </ns0:nvSpPr>
        <ns0:spPr>
          <ns1:xfrm>
            <ns1:off x="666750" y="400050"/>
            <ns1:ext cx="8572500" cy="333375"/>
          </ns1:xfrm>
          <ns1:prstGeom prst="rect">
            <ns1:avLst/>
          </ns1:prstGeom>
          <ns1:noFill/>
          <ns1:ln w="0">
            <ns1:noFill/>
          </ns1:ln>
        </ns0:spPr>
        <ns0:txBody>
          <ns1:bodyPr/>
          <ns1:lstStyle>
            <ns1:defPPr>
              <ns1:defRPr sz="1200" b="1">
                <ns1:solidFill>
                  <ns1:srgbClr val="087E95"/>
                </ns1:solidFill>
              </ns1:defRPr>
            </ns1:defPPr>
            <ns1:lvl1pPr>
              <ns1:defRPr sz="1200" b="1">
                <ns1:solidFill>
                  <ns1:srgbClr val="087E95"/>
                </ns1:solidFill>
              </ns1:defRPr>
            </ns1:lvl1pPr>
            <ns1:lvl2pPr>
              <ns1:defRPr sz="1200" b="1">
                <ns1:solidFill>
                  <ns1:srgbClr val="087E95"/>
                </ns1:solidFill>
              </ns1:defRPr>
            </ns1:lvl2pPr>
            <ns1:lvl3pPr>
              <ns1:defRPr sz="1200" b="1">
                <ns1:solidFill>
                  <ns1:srgbClr val="087E95"/>
                </ns1:solidFill>
              </ns1:defRPr>
            </ns1:lvl3pPr>
            <ns1:lvl4pPr>
              <ns1:defRPr sz="1200" b="1">
                <ns1:solidFill>
                  <ns1:srgbClr val="087E95"/>
                </ns1:solidFill>
              </ns1:defRPr>
            </ns1:lvl4pPr>
            <ns1:lvl5pPr>
              <ns1:defRPr sz="1200" b="1">
                <ns1:solidFill>
                  <ns1:srgbClr val="087E95"/>
                </ns1:solidFill>
              </ns1:defRPr>
            </ns1:lvl5pPr>
            <ns1:lvl6pPr>
              <ns1:defRPr sz="1200" b="1">
                <ns1:solidFill>
                  <ns1:srgbClr val="087E95"/>
                </ns1:solidFill>
              </ns1:defRPr>
            </ns1:lvl6pPr>
            <ns1:lvl7pPr>
              <ns1:defRPr sz="1200" b="1">
                <ns1:solidFill>
                  <ns1:srgbClr val="087E95"/>
                </ns1:solidFill>
              </ns1:defRPr>
            </ns1:lvl7pPr>
            <ns1:lvl8pPr>
              <ns1:defRPr sz="1200" b="1">
                <ns1:solidFill>
                  <ns1:srgbClr val="087E95"/>
                </ns1:solidFill>
              </ns1:defRPr>
            </ns1:lvl8pPr>
            <ns1:lvl9pPr>
              <ns1:defRPr sz="1200" b="1">
                <ns1:solidFill>
                  <ns1:srgbClr val="087E95"/>
                </ns1:solidFill>
              </ns1:defRPr>
            </ns1:lvl9pPr>
          </ns1:lstStyle>
          <ns1:p>
            <ns1:pPr>
              <ns1:defRPr sz="1400">
                <ns1:solidFill>
                  <ns1:srgbClr val="087E95"/>
                </ns1:solidFill>
                <ns1:latin typeface="Tahoma"/>
                <ns1:cs typeface="Tahoma"/>
              </ns1:defRPr>
            </ns1:pPr>
            <ns1:r>
              <ns1:t>SCOPEBOT  /  07   Security &amp; Data Isolation</ns1:t>
            </ns1:r>
          </ns1:p>
        </ns0:txBody>
      </ns0:sp>
      <ns0:sp>
        <ns0:nvSpPr>
          <ns0:cNvPr id="3" name="">
            <ns1:extLst>
              <ns1:ext uri="{FF2B5EF4-FFF2-40B4-BE49-F238E27FC236}">
                <ns2:creationId id="{8ECCD437-59EF-4E8F-ACA2-19D408959C95}"/>
              </ns1:ext>
            </ns1:extLst>
          </ns0:cNvPr>
          <ns0:cNvSpPr>
            <ns1:spLocks noGrp="1"/>
          </ns0:cNvSpPr>
          <ns0:nvPr/>
        </ns0:nvSpPr>
        <ns0:spPr>
          <ns1:xfrm>
            <ns1:off x="666750" y="1095375"/>
            <ns1:ext cx="10668000" cy="952500"/>
          </ns1:xfrm>
          <ns1:prstGeom prst="rect">
            <ns1:avLst/>
          </ns1:prstGeom>
          <ns1:noFill/>
          <ns1:ln w="0">
            <ns1:noFill/>
          </ns1:ln>
        </ns0:spPr>
        <ns0:txBody>
          <ns1:bodyPr/>
          <ns1:lstStyle>
            <ns1:defPPr>
              <ns1:defRPr sz="3000" b="1">
                <ns1:solidFill>
                  <ns1:srgbClr val="142B42"/>
                </ns1:solidFill>
              </ns1:defRPr>
            </ns1:defPPr>
            <ns1:lvl1pPr>
              <ns1:defRPr sz="3000" b="1">
                <ns1:solidFill>
                  <ns1:srgbClr val="142B42"/>
                </ns1:solidFill>
              </ns1:defRPr>
            </ns1:lvl1pPr>
            <ns1:lvl2pPr>
              <ns1:defRPr sz="3000" b="1">
                <ns1:solidFill>
                  <ns1:srgbClr val="142B42"/>
                </ns1:solidFill>
              </ns1:defRPr>
            </ns1:lvl2pPr>
            <ns1:lvl3pPr>
              <ns1:defRPr sz="3000" b="1">
                <ns1:solidFill>
                  <ns1:srgbClr val="142B42"/>
                </ns1:solidFill>
              </ns1:defRPr>
            </ns1:lvl3pPr>
            <ns1:lvl4pPr>
              <ns1:defRPr sz="3000" b="1">
                <ns1:solidFill>
                  <ns1:srgbClr val="142B42"/>
                </ns1:solidFill>
              </ns1:defRPr>
            </ns1:lvl4pPr>
            <ns1:lvl5pPr>
              <ns1:defRPr sz="3000" b="1">
                <ns1:solidFill>
                  <ns1:srgbClr val="142B42"/>
                </ns1:solidFill>
              </ns1:defRPr>
            </ns1:lvl5pPr>
            <ns1:lvl6pPr>
              <ns1:defRPr sz="3000" b="1">
                <ns1:solidFill>
                  <ns1:srgbClr val="142B42"/>
                </ns1:solidFill>
              </ns1:defRPr>
            </ns1:lvl6pPr>
            <ns1:lvl7pPr>
              <ns1:defRPr sz="3000" b="1">
                <ns1:solidFill>
                  <ns1:srgbClr val="142B42"/>
                </ns1:solidFill>
              </ns1:defRPr>
            </ns1:lvl7pPr>
            <ns1:lvl8pPr>
              <ns1:defRPr sz="3000" b="1">
                <ns1:solidFill>
                  <ns1:srgbClr val="142B42"/>
                </ns1:solidFill>
              </ns1:defRPr>
            </ns1:lvl8pPr>
            <ns1:lvl9pPr>
              <ns1:defRPr sz="3000" b="1">
                <ns1:solidFill>
                  <ns1:srgbClr val="142B42"/>
                </ns1:solidFill>
              </ns1:defRPr>
            </ns1:lvl9pPr>
          </ns1:lstStyle>
          <ns1:p>
            <ns1:pPr>
              <ns1:defRPr sz="3000">
                <ns1:solidFill>
                  <ns1:srgbClr val="142B42"/>
                </ns1:solidFill>
                <ns1:latin typeface="Tahoma"/>
                <ns1:cs typeface="Tahoma"/>
              </ns1:defRPr>
            </ns1:pPr>
            <ns1:r>
              <ns1:t>สิทธิ์และการแยกข้อมูล</ns1:t>
            </ns1:r>
          </ns1:p>
        </ns0:txBody>
      </ns0:sp>
      <ns0:sp>
        <ns0:nvSpPr>
          <ns0:cNvPr id="4" name="">
            <ns1:extLst>
              <ns1:ext uri="{FF2B5EF4-FFF2-40B4-BE49-F238E27FC236}">
                <ns2:creationId id="{368CF4DA-7019-478B-832A-E877FCA11ACC}"/>
              </ns1:ext>
            </ns1:extLst>
          </ns0:cNvPr>
          <ns0:cNvSpPr>
            <ns1:spLocks noGrp="1"/>
          </ns0:cNvSpPr>
          <ns0:nvPr/>
        </ns0:nvSpPr>
        <ns0:spPr>
          <ns1:xfrm>
            <ns1:off x="714375" y="2238375"/>
            <ns1:ext cx="6191250" cy="3905250"/>
          </ns1:xfrm>
          <ns1:prstGeom prst="rect">
            <ns1:avLst/>
          </ns1:prstGeom>
          <ns1:noFill/>
          <ns1:ln w="0">
            <ns1:noFill/>
          </ns1:ln>
        </ns0:spPr>
        <ns0:txBody>
          <ns1:bodyPr/>
          <ns1:lstStyle>
            <ns1:defPPr>
              <ns1:defRPr sz="1875" b="0">
                <ns1:solidFill>
                  <ns1:srgbClr val="294255"/>
                </ns1:solidFill>
              </ns1:defRPr>
            </ns1:defPPr>
            <ns1:lvl1pPr>
              <ns1:defRPr sz="1875" b="0">
                <ns1:solidFill>
                  <ns1:srgbClr val="294255"/>
                </ns1:solidFill>
              </ns1:defRPr>
            </ns1:lvl1pPr>
            <ns1:lvl2pPr>
              <ns1:defRPr sz="1875" b="0">
                <ns1:solidFill>
                  <ns1:srgbClr val="294255"/>
                </ns1:solidFill>
              </ns1:defRPr>
            </ns1:lvl2pPr>
            <ns1:lvl3pPr>
              <ns1:defRPr sz="1875" b="0">
                <ns1:solidFill>
                  <ns1:srgbClr val="294255"/>
                </ns1:solidFill>
              </ns1:defRPr>
            </ns1:lvl3pPr>
            <ns1:lvl4pPr>
              <ns1:defRPr sz="1875" b="0">
                <ns1:solidFill>
                  <ns1:srgbClr val="294255"/>
                </ns1:solidFill>
              </ns1:defRPr>
            </ns1:lvl4pPr>
            <ns1:lvl5pPr>
              <ns1:defRPr sz="1875" b="0">
                <ns1:solidFill>
                  <ns1:srgbClr val="294255"/>
                </ns1:solidFill>
              </ns1:defRPr>
            </ns1:lvl5pPr>
            <ns1:lvl6pPr>
              <ns1:defRPr sz="1875" b="0">
                <ns1:solidFill>
                  <ns1:srgbClr val="294255"/>
                </ns1:solidFill>
              </ns1:defRPr>
            </ns1:lvl6pPr>
            <ns1:lvl7pPr>
              <ns1:defRPr sz="1875" b="0">
                <ns1:solidFill>
                  <ns1:srgbClr val="294255"/>
                </ns1:solidFill>
              </ns1:defRPr>
            </ns1:lvl7pPr>
            <ns1:lvl8pPr>
              <ns1:defRPr sz="1875" b="0">
                <ns1:solidFill>
                  <ns1:srgbClr val="294255"/>
                </ns1:solidFill>
              </ns1:defRPr>
            </ns1:lvl8pPr>
            <ns1:lvl9pPr>
              <ns1:defRPr sz="1875" b="0">
                <ns1:solidFill>
                  <ns1:srgbClr val="294255"/>
                </ns1:solidFill>
              </ns1:defRPr>
            </ns1:lvl9pPr>
          </ns1:lstStyle>
          <ns1:p>
            <ns1:pPr>
              <ns1:defRPr sz="1900">
                <ns1:solidFill>
                  <ns1:srgbClr val="294255"/>
                </ns1:solidFill>
                <ns1:latin typeface="Tahoma"/>
                <ns1:cs typeface="Tahoma"/>
              </ns1:defRPr>
            </ns1:pPr>
            <ns1:r>
              <ns1:t>ตรวจตัวตนและสิทธิ์ที่ Backend</ns1:t>
            </ns1:r>
          </ns1:p>
          <ns1:p>
            <ns1:pPr>
              <ns1:defRPr sz="1900">
                <ns1:solidFill>
                  <ns1:srgbClr val="294255"/>
                </ns1:solidFill>
                <ns1:latin typeface="Tahoma"/>
                <ns1:cs typeface="Tahoma"/>
              </ns1:defRPr>
            </ns1:pPr>
            <ns1:r>
              <ns1:t>ตรวจเจ้าของบอทก่อนเข้าถึงข้อมูล</ns1:t>
            </ns1:r>
          </ns1:p>
          <ns1:p>
            <ns1:pPr>
              <ns1:defRPr sz="1900">
                <ns1:solidFill>
                  <ns1:srgbClr val="294255"/>
                </ns1:solidFill>
                <ns1:latin typeface="Tahoma"/>
                <ns1:cs typeface="Tahoma"/>
              </ns1:defRPr>
            </ns1:pPr>
            <ns1:r>
              <ns1:t>ค้นความรู้จากดัชนีของบอทที่เลือก</ns1:t>
            </ns1:r>
          </ns1:p>
          <ns1:p>
            <ns1:pPr>
              <ns1:defRPr sz="1900">
                <ns1:solidFill>
                  <ns1:srgbClr val="294255"/>
                </ns1:solidFill>
                <ns1:latin typeface="Tahoma"/>
                <ns1:cs typeface="Tahoma"/>
              </ns1:defRPr>
            </ns1:pPr>
            <ns1:r>
              <ns1:t>LINE webhook ตรวจสอบ signature</ns1:t>
            </ns1:r>
          </ns1:p>
        </ns0:txBody>
      </ns0:sp>
      <ns0:sp>
        <ns0:nvSpPr>
          <ns0:cNvPr id="5" name="">
            <ns1:extLst>
              <ns1:ext uri="{FF2B5EF4-FFF2-40B4-BE49-F238E27FC236}">
                <ns2:creationId id="{67DF5890-791C-4B7A-9D21-711B84CEEA0D}"/>
              </ns1:ext>
            </ns1:extLst>
          </ns0:cNvPr>
          <ns0:cNvSpPr>
            <ns1:spLocks noGrp="1"/>
          </ns0:cNvSpPr>
          <ns0:nvPr/>
        </ns0:nvSpPr>
        <ns0:spPr>
          <ns1:xfrm>
            <ns1:off x="7477125" y="2333625"/>
            <ns1:ext cx="3905250" cy="2381250"/>
          </ns1:xfrm>
          <ns1:prstGeom prst="rect">
            <ns1:avLst/>
          </ns1:prstGeom>
          <ns1:solidFill>
            <ns1:srgbClr val="E7F2F5"/>
          </ns1:solidFill>
          <ns1:ln w="9525">
            <ns1:solidFill>
              <ns1:srgbClr val="B8D5DD"/>
            </ns1:solidFill>
          </ns1:ln>
        </ns0:spPr>
        <ns0:txBody>
          <ns1:bodyPr/>
          <ns1:lstStyle>
            <ns1:defPPr>
              <ns1:defRPr sz="1650">
                <ns1:solidFill>
                  <ns1:srgbClr val="38616B"/>
                </ns1:solidFill>
              </ns1:defRPr>
            </ns1:defPPr>
            <ns1:lvl1pPr>
              <ns1:defRPr sz="1650">
                <ns1:solidFill>
                  <ns1:srgbClr val="38616B"/>
                </ns1:solidFill>
              </ns1:defRPr>
            </ns1:lvl1pPr>
            <ns1:lvl2pPr>
              <ns1:defRPr sz="1650">
                <ns1:solidFill>
                  <ns1:srgbClr val="38616B"/>
                </ns1:solidFill>
              </ns1:defRPr>
            </ns1:lvl2pPr>
            <ns1:lvl3pPr>
              <ns1:defRPr sz="1650">
                <ns1:solidFill>
                  <ns1:srgbClr val="38616B"/>
                </ns1:solidFill>
              </ns1:defRPr>
            </ns1:lvl3pPr>
            <ns1:lvl4pPr>
              <ns1:defRPr sz="1650">
                <ns1:solidFill>
                  <ns1:srgbClr val="38616B"/>
                </ns1:solidFill>
              </ns1:defRPr>
            </ns1:lvl4pPr>
            <ns1:lvl5pPr>
              <ns1:defRPr sz="1650">
                <ns1:solidFill>
                  <ns1:srgbClr val="38616B"/>
                </ns1:solidFill>
              </ns1:defRPr>
            </ns1:lvl5pPr>
            <ns1:lvl6pPr>
              <ns1:defRPr sz="1650">
                <ns1:solidFill>
                  <ns1:srgbClr val="38616B"/>
                </ns1:solidFill>
              </ns1:defRPr>
            </ns1:lvl6pPr>
            <ns1:lvl7pPr>
              <ns1:defRPr sz="1650">
                <ns1:solidFill>
                  <ns1:srgbClr val="38616B"/>
                </ns1:solidFill>
              </ns1:defRPr>
            </ns1:lvl7pPr>
            <ns1:lvl8pPr>
              <ns1:defRPr sz="1650">
                <ns1:solidFill>
                  <ns1:srgbClr val="38616B"/>
                </ns1:solidFill>
              </ns1:defRPr>
            </ns1:lvl8pPr>
            <ns1:lvl9pPr>
              <ns1:defRPr sz="1650">
                <ns1:solidFill>
                  <ns1:srgbClr val="38616B"/>
                </ns1:solidFill>
              </ns1:defRPr>
            </ns1:lvl9pPr>
          </ns1:lstStyle>
          <ns1:p>
            <ns1:pPr>
              <ns1:defRPr sz="1500">
                <ns1:solidFill>
                  <ns1:srgbClr val="38616B"/>
                </ns1:solidFill>
                <ns1:latin typeface="Tahoma"/>
                <ns1:cs typeface="Tahoma"/>
              </ns1:defRPr>
            </ns1:pPr>
            <ns1:r>
              <ns1:t>ภาพที่แนะนำ</ns1:t>
            </ns1:r>
          </ns1:p>
          <ns1:p>
            <ns1:pPr>
              <ns1:defRPr sz="1500">
                <ns1:solidFill>
                  <ns1:srgbClr val="38616B"/>
                </ns1:solidFill>
                <ns1:latin typeface="Tahoma"/>
                <ns1:cs typeface="Tahoma"/>
              </ns1:defRPr>
            </ns1:pPr>
            <ns1:r>
              <ns1:t/>
            </ns1:r>
          </ns1:p>
          <ns1:p>
            <ns1:pPr>
              <ns1:defRPr sz="1500">
                <ns1:solidFill>
                  <ns1:srgbClr val="38616B"/>
                </ns1:solidFill>
                <ns1:latin typeface="Tahoma"/>
                <ns1:cs typeface="Tahoma"/>
              </ns1:defRPr>
            </ns1:pPr>
            <ns1:r>
              <ns1:t>ด้านขวา: ภาพบอท A และ B กับความรู้แยกกัน</ns1:t>
            </ns1:r>
          </ns1:p>
          <ns1:p>
            <ns1:pPr>
              <ns1:defRPr sz="1500">
                <ns1:solidFill>
                  <ns1:srgbClr val="38616B"/>
                </ns1:solidFill>
                <ns1:latin typeface="Tahoma"/>
                <ns1:cs typeface="Tahoma"/>
              </ns1:defRPr>
            </ns1:pPr>
            <ns1:r>
              <ns1:t>แสดงจุดตรวจสิทธิ์ก่อนเข้าถึงข้อมูล</ns1:t>
            </ns1:r>
          </ns1:p>
          <ns1:p>
            <ns1:pPr>
              <ns1:defRPr sz="1500">
                <ns1:solidFill>
                  <ns1:srgbClr val="38616B"/>
                </ns1:solidFill>
                <ns1:latin typeface="Tahoma"/>
                <ns1:cs typeface="Tahoma"/>
              </ns1:defRPr>
            </ns1:pPr>
            <ns1:r>
              <ns1:t>ใต้ภาพ: เป็นการแยกเชิงตรรกะ</ns1:t>
            </ns1:r>
          </ns1:p>
          <ns1:p>
            <ns1:pPr>
              <ns1:defRPr sz="1500">
                <ns1:solidFill>
                  <ns1:srgbClr val="38616B"/>
                </ns1:solidFill>
                <ns1:latin typeface="Tahoma"/>
                <ns1:cs typeface="Tahoma"/>
              </ns1:defRPr>
            </ns1:pPr>
            <ns1:r>
              <ns1:t>ไม่ใช่ฐานข้อมูลหรือเครื่องแยกต่อบอท</ns1:t>
            </ns1:r>
          </ns1:p>
        </ns0:txBody>
      </ns0:sp>
    </ns0:spTree>
    <ns0:extLst>
      <ns0:ext uri="{BB962C8B-B14F-4D97-AF65-F5344CB8AC3E}">
        <ns3:creationId val="999602554"/>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7FAFC"/>
        </ns1:solidFill>
      </ns0:bgPr>
    </ns0:bg>
    <ns0:spTree>
      <ns0:nvGrpSpPr>
        <ns0:cNvPr id="1" name=""/>
        <ns0:cNvGrpSpPr/>
        <ns0:nvPr/>
      </ns0:nvGrpSpPr>
      <ns0:grpSpPr>
        <ns1:xfrm/>
      </ns0:grpSpPr>
      <ns0:sp>
        <ns0:nvSpPr>
          <ns0:cNvPr id="2" name="">
            <ns1:extLst>
              <ns1:ext uri="{FF2B5EF4-FFF2-40B4-BE49-F238E27FC236}">
                <ns2:creationId id="{BA646781-482A-4426-9CBA-8D82EF1E9AD6}"/>
              </ns1:ext>
            </ns1:extLst>
          </ns0:cNvPr>
          <ns0:cNvSpPr>
            <ns1:spLocks noGrp="1"/>
          </ns0:cNvSpPr>
          <ns0:nvPr/>
        </ns0:nvSpPr>
        <ns0:spPr>
          <ns1:xfrm>
            <ns1:off x="666750" y="400050"/>
            <ns1:ext cx="8572500" cy="333375"/>
          </ns1:xfrm>
          <ns1:prstGeom prst="rect">
            <ns1:avLst/>
          </ns1:prstGeom>
          <ns1:noFill/>
          <ns1:ln w="0">
            <ns1:noFill/>
          </ns1:ln>
        </ns0:spPr>
        <ns0:txBody>
          <ns1:bodyPr/>
          <ns1:lstStyle>
            <ns1:defPPr>
              <ns1:defRPr sz="1200" b="1">
                <ns1:solidFill>
                  <ns1:srgbClr val="087E95"/>
                </ns1:solidFill>
              </ns1:defRPr>
            </ns1:defPPr>
            <ns1:lvl1pPr>
              <ns1:defRPr sz="1200" b="1">
                <ns1:solidFill>
                  <ns1:srgbClr val="087E95"/>
                </ns1:solidFill>
              </ns1:defRPr>
            </ns1:lvl1pPr>
            <ns1:lvl2pPr>
              <ns1:defRPr sz="1200" b="1">
                <ns1:solidFill>
                  <ns1:srgbClr val="087E95"/>
                </ns1:solidFill>
              </ns1:defRPr>
            </ns1:lvl2pPr>
            <ns1:lvl3pPr>
              <ns1:defRPr sz="1200" b="1">
                <ns1:solidFill>
                  <ns1:srgbClr val="087E95"/>
                </ns1:solidFill>
              </ns1:defRPr>
            </ns1:lvl3pPr>
            <ns1:lvl4pPr>
              <ns1:defRPr sz="1200" b="1">
                <ns1:solidFill>
                  <ns1:srgbClr val="087E95"/>
                </ns1:solidFill>
              </ns1:defRPr>
            </ns1:lvl4pPr>
            <ns1:lvl5pPr>
              <ns1:defRPr sz="1200" b="1">
                <ns1:solidFill>
                  <ns1:srgbClr val="087E95"/>
                </ns1:solidFill>
              </ns1:defRPr>
            </ns1:lvl5pPr>
            <ns1:lvl6pPr>
              <ns1:defRPr sz="1200" b="1">
                <ns1:solidFill>
                  <ns1:srgbClr val="087E95"/>
                </ns1:solidFill>
              </ns1:defRPr>
            </ns1:lvl6pPr>
            <ns1:lvl7pPr>
              <ns1:defRPr sz="1200" b="1">
                <ns1:solidFill>
                  <ns1:srgbClr val="087E95"/>
                </ns1:solidFill>
              </ns1:defRPr>
            </ns1:lvl7pPr>
            <ns1:lvl8pPr>
              <ns1:defRPr sz="1200" b="1">
                <ns1:solidFill>
                  <ns1:srgbClr val="087E95"/>
                </ns1:solidFill>
              </ns1:defRPr>
            </ns1:lvl8pPr>
            <ns1:lvl9pPr>
              <ns1:defRPr sz="1200" b="1">
                <ns1:solidFill>
                  <ns1:srgbClr val="087E95"/>
                </ns1:solidFill>
              </ns1:defRPr>
            </ns1:lvl9pPr>
          </ns1:lstStyle>
          <ns1:p>
            <ns1:pPr>
              <ns1:defRPr sz="1400">
                <ns1:solidFill>
                  <ns1:srgbClr val="087E95"/>
                </ns1:solidFill>
                <ns1:latin typeface="Tahoma"/>
                <ns1:cs typeface="Tahoma"/>
              </ns1:defRPr>
            </ns1:pPr>
            <ns1:r>
              <ns1:t>SCOPEBOT  /  08   Live Demonstration</ns1:t>
            </ns1:r>
          </ns1:p>
        </ns0:txBody>
      </ns0:sp>
      <ns0:sp>
        <ns0:nvSpPr>
          <ns0:cNvPr id="3" name="">
            <ns1:extLst>
              <ns1:ext uri="{FF2B5EF4-FFF2-40B4-BE49-F238E27FC236}">
                <ns2:creationId id="{91C768CF-A4C9-48B2-8337-BB7B43E55E17}"/>
              </ns1:ext>
            </ns1:extLst>
          </ns0:cNvPr>
          <ns0:cNvSpPr>
            <ns1:spLocks noGrp="1"/>
          </ns0:cNvSpPr>
          <ns0:nvPr/>
        </ns0:nvSpPr>
        <ns0:spPr>
          <ns1:xfrm>
            <ns1:off x="666750" y="1095375"/>
            <ns1:ext cx="10668000" cy="952500"/>
          </ns1:xfrm>
          <ns1:prstGeom prst="rect">
            <ns1:avLst/>
          </ns1:prstGeom>
          <ns1:noFill/>
          <ns1:ln w="0">
            <ns1:noFill/>
          </ns1:ln>
        </ns0:spPr>
        <ns0:txBody>
          <ns1:bodyPr/>
          <ns1:lstStyle>
            <ns1:defPPr>
              <ns1:defRPr sz="3000" b="1">
                <ns1:solidFill>
                  <ns1:srgbClr val="142B42"/>
                </ns1:solidFill>
              </ns1:defRPr>
            </ns1:defPPr>
            <ns1:lvl1pPr>
              <ns1:defRPr sz="3000" b="1">
                <ns1:solidFill>
                  <ns1:srgbClr val="142B42"/>
                </ns1:solidFill>
              </ns1:defRPr>
            </ns1:lvl1pPr>
            <ns1:lvl2pPr>
              <ns1:defRPr sz="3000" b="1">
                <ns1:solidFill>
                  <ns1:srgbClr val="142B42"/>
                </ns1:solidFill>
              </ns1:defRPr>
            </ns1:lvl2pPr>
            <ns1:lvl3pPr>
              <ns1:defRPr sz="3000" b="1">
                <ns1:solidFill>
                  <ns1:srgbClr val="142B42"/>
                </ns1:solidFill>
              </ns1:defRPr>
            </ns1:lvl3pPr>
            <ns1:lvl4pPr>
              <ns1:defRPr sz="3000" b="1">
                <ns1:solidFill>
                  <ns1:srgbClr val="142B42"/>
                </ns1:solidFill>
              </ns1:defRPr>
            </ns1:lvl4pPr>
            <ns1:lvl5pPr>
              <ns1:defRPr sz="3000" b="1">
                <ns1:solidFill>
                  <ns1:srgbClr val="142B42"/>
                </ns1:solidFill>
              </ns1:defRPr>
            </ns1:lvl5pPr>
            <ns1:lvl6pPr>
              <ns1:defRPr sz="3000" b="1">
                <ns1:solidFill>
                  <ns1:srgbClr val="142B42"/>
                </ns1:solidFill>
              </ns1:defRPr>
            </ns1:lvl6pPr>
            <ns1:lvl7pPr>
              <ns1:defRPr sz="3000" b="1">
                <ns1:solidFill>
                  <ns1:srgbClr val="142B42"/>
                </ns1:solidFill>
              </ns1:defRPr>
            </ns1:lvl7pPr>
            <ns1:lvl8pPr>
              <ns1:defRPr sz="3000" b="1">
                <ns1:solidFill>
                  <ns1:srgbClr val="142B42"/>
                </ns1:solidFill>
              </ns1:defRPr>
            </ns1:lvl8pPr>
            <ns1:lvl9pPr>
              <ns1:defRPr sz="3000" b="1">
                <ns1:solidFill>
                  <ns1:srgbClr val="142B42"/>
                </ns1:solidFill>
              </ns1:defRPr>
            </ns1:lvl9pPr>
          </ns1:lstStyle>
          <ns1:p>
            <ns1:pPr>
              <ns1:defRPr sz="3000">
                <ns1:solidFill>
                  <ns1:srgbClr val="142B42"/>
                </ns1:solidFill>
                <ns1:latin typeface="Tahoma"/>
                <ns1:cs typeface="Tahoma"/>
              </ns1:defRPr>
            </ns1:pPr>
            <ns1:r>
              <ns1:t>สาธิตการใช้งานจริง</ns1:t>
            </ns1:r>
          </ns1:p>
        </ns0:txBody>
      </ns0:sp>
      <ns0:sp>
        <ns0:nvSpPr>
          <ns0:cNvPr id="4" name="">
            <ns1:extLst>
              <ns1:ext uri="{FF2B5EF4-FFF2-40B4-BE49-F238E27FC236}">
                <ns2:creationId id="{936C9BE5-1005-4FA7-85FB-447001EF4E95}"/>
              </ns1:ext>
            </ns1:extLst>
          </ns0:cNvPr>
          <ns0:cNvSpPr>
            <ns1:spLocks noGrp="1"/>
          </ns0:cNvSpPr>
          <ns0:nvPr/>
        </ns0:nvSpPr>
        <ns0:spPr>
          <ns1:xfrm>
            <ns1:off x="714375" y="2238375"/>
            <ns1:ext cx="6191250" cy="3905250"/>
          </ns1:xfrm>
          <ns1:prstGeom prst="rect">
            <ns1:avLst/>
          </ns1:prstGeom>
          <ns1:noFill/>
          <ns1:ln w="0">
            <ns1:noFill/>
          </ns1:ln>
        </ns0:spPr>
        <ns0:txBody>
          <ns1:bodyPr/>
          <ns1:lstStyle>
            <ns1:defPPr>
              <ns1:defRPr sz="1875" b="0">
                <ns1:solidFill>
                  <ns1:srgbClr val="294255"/>
                </ns1:solidFill>
              </ns1:defRPr>
            </ns1:defPPr>
            <ns1:lvl1pPr>
              <ns1:defRPr sz="1875" b="0">
                <ns1:solidFill>
                  <ns1:srgbClr val="294255"/>
                </ns1:solidFill>
              </ns1:defRPr>
            </ns1:lvl1pPr>
            <ns1:lvl2pPr>
              <ns1:defRPr sz="1875" b="0">
                <ns1:solidFill>
                  <ns1:srgbClr val="294255"/>
                </ns1:solidFill>
              </ns1:defRPr>
            </ns1:lvl2pPr>
            <ns1:lvl3pPr>
              <ns1:defRPr sz="1875" b="0">
                <ns1:solidFill>
                  <ns1:srgbClr val="294255"/>
                </ns1:solidFill>
              </ns1:defRPr>
            </ns1:lvl3pPr>
            <ns1:lvl4pPr>
              <ns1:defRPr sz="1875" b="0">
                <ns1:solidFill>
                  <ns1:srgbClr val="294255"/>
                </ns1:solidFill>
              </ns1:defRPr>
            </ns1:lvl4pPr>
            <ns1:lvl5pPr>
              <ns1:defRPr sz="1875" b="0">
                <ns1:solidFill>
                  <ns1:srgbClr val="294255"/>
                </ns1:solidFill>
              </ns1:defRPr>
            </ns1:lvl5pPr>
            <ns1:lvl6pPr>
              <ns1:defRPr sz="1875" b="0">
                <ns1:solidFill>
                  <ns1:srgbClr val="294255"/>
                </ns1:solidFill>
              </ns1:defRPr>
            </ns1:lvl6pPr>
            <ns1:lvl7pPr>
              <ns1:defRPr sz="1875" b="0">
                <ns1:solidFill>
                  <ns1:srgbClr val="294255"/>
                </ns1:solidFill>
              </ns1:defRPr>
            </ns1:lvl7pPr>
            <ns1:lvl8pPr>
              <ns1:defRPr sz="1875" b="0">
                <ns1:solidFill>
                  <ns1:srgbClr val="294255"/>
                </ns1:solidFill>
              </ns1:defRPr>
            </ns1:lvl8pPr>
            <ns1:lvl9pPr>
              <ns1:defRPr sz="1875" b="0">
                <ns1:solidFill>
                  <ns1:srgbClr val="294255"/>
                </ns1:solidFill>
              </ns1:defRPr>
            </ns1:lvl9pPr>
          </ns1:lstStyle>
          <ns1:p>
            <ns1:pPr>
              <ns1:defRPr sz="1900">
                <ns1:solidFill>
                  <ns1:srgbClr val="294255"/>
                </ns1:solidFill>
                <ns1:latin typeface="Tahoma"/>
                <ns1:cs typeface="Tahoma"/>
              </ns1:defRPr>
            </ns1:pPr>
            <ns1:r>
              <ns1:t>1  แสดงบอทและเอกสารที่พร้อมใช้</ns1:t>
            </ns1:r>
          </ns1:p>
          <ns1:p>
            <ns1:pPr>
              <ns1:defRPr sz="1900">
                <ns1:solidFill>
                  <ns1:srgbClr val="294255"/>
                </ns1:solidFill>
                <ns1:latin typeface="Tahoma"/>
                <ns1:cs typeface="Tahoma"/>
              </ns1:defRPr>
            </ns1:pPr>
            <ns1:r>
              <ns1:t>2  ถามคำถามและเปิดหลักฐานประกอบ</ns1:t>
            </ns1:r>
          </ns1:p>
          <ns1:p>
            <ns1:pPr>
              <ns1:defRPr sz="1900">
                <ns1:solidFill>
                  <ns1:srgbClr val="294255"/>
                </ns1:solidFill>
                <ns1:latin typeface="Tahoma"/>
                <ns1:cs typeface="Tahoma"/>
              </ns1:defRPr>
            </ns1:pPr>
            <ns1:r>
              <ns1:t>3  ขอคุยกับเจ้าของบอท</ns1:t>
            </ns1:r>
          </ns1:p>
          <ns1:p>
            <ns1:pPr>
              <ns1:defRPr sz="1900">
                <ns1:solidFill>
                  <ns1:srgbClr val="294255"/>
                </ns1:solidFill>
                <ns1:latin typeface="Tahoma"/>
                <ns1:cs typeface="Tahoma"/>
              </ns1:defRPr>
            </ns1:pPr>
            <ns1:r>
              <ns1:t>4  รับช่วงตอบและจบการสนทนา</ns1:t>
            </ns1:r>
          </ns1:p>
        </ns0:txBody>
      </ns0:sp>
      <ns0:sp>
        <ns0:nvSpPr>
          <ns0:cNvPr id="5" name="">
            <ns1:extLst>
              <ns1:ext uri="{FF2B5EF4-FFF2-40B4-BE49-F238E27FC236}">
                <ns2:creationId id="{D3606DFB-1FBF-400B-8B4F-185707CA1A87}"/>
              </ns1:ext>
            </ns1:extLst>
          </ns0:cNvPr>
          <ns0:cNvSpPr>
            <ns1:spLocks noGrp="1"/>
          </ns0:cNvSpPr>
          <ns0:nvPr/>
        </ns0:nvSpPr>
        <ns0:spPr>
          <ns1:xfrm>
            <ns1:off x="7477125" y="2333625"/>
            <ns1:ext cx="3905250" cy="2381250"/>
          </ns1:xfrm>
          <ns1:prstGeom prst="rect">
            <ns1:avLst/>
          </ns1:prstGeom>
          <ns1:solidFill>
            <ns1:srgbClr val="E7F2F5"/>
          </ns1:solidFill>
          <ns1:ln w="9525">
            <ns1:solidFill>
              <ns1:srgbClr val="B8D5DD"/>
            </ns1:solidFill>
          </ns1:ln>
        </ns0:spPr>
        <ns0:txBody>
          <ns1:bodyPr/>
          <ns1:lstStyle>
            <ns1:defPPr>
              <ns1:defRPr sz="1650">
                <ns1:solidFill>
                  <ns1:srgbClr val="38616B"/>
                </ns1:solidFill>
              </ns1:defRPr>
            </ns1:defPPr>
            <ns1:lvl1pPr>
              <ns1:defRPr sz="1650">
                <ns1:solidFill>
                  <ns1:srgbClr val="38616B"/>
                </ns1:solidFill>
              </ns1:defRPr>
            </ns1:lvl1pPr>
            <ns1:lvl2pPr>
              <ns1:defRPr sz="1650">
                <ns1:solidFill>
                  <ns1:srgbClr val="38616B"/>
                </ns1:solidFill>
              </ns1:defRPr>
            </ns1:lvl2pPr>
            <ns1:lvl3pPr>
              <ns1:defRPr sz="1650">
                <ns1:solidFill>
                  <ns1:srgbClr val="38616B"/>
                </ns1:solidFill>
              </ns1:defRPr>
            </ns1:lvl3pPr>
            <ns1:lvl4pPr>
              <ns1:defRPr sz="1650">
                <ns1:solidFill>
                  <ns1:srgbClr val="38616B"/>
                </ns1:solidFill>
              </ns1:defRPr>
            </ns1:lvl4pPr>
            <ns1:lvl5pPr>
              <ns1:defRPr sz="1650">
                <ns1:solidFill>
                  <ns1:srgbClr val="38616B"/>
                </ns1:solidFill>
              </ns1:defRPr>
            </ns1:lvl5pPr>
            <ns1:lvl6pPr>
              <ns1:defRPr sz="1650">
                <ns1:solidFill>
                  <ns1:srgbClr val="38616B"/>
                </ns1:solidFill>
              </ns1:defRPr>
            </ns1:lvl6pPr>
            <ns1:lvl7pPr>
              <ns1:defRPr sz="1650">
                <ns1:solidFill>
                  <ns1:srgbClr val="38616B"/>
                </ns1:solidFill>
              </ns1:defRPr>
            </ns1:lvl7pPr>
            <ns1:lvl8pPr>
              <ns1:defRPr sz="1650">
                <ns1:solidFill>
                  <ns1:srgbClr val="38616B"/>
                </ns1:solidFill>
              </ns1:defRPr>
            </ns1:lvl8pPr>
            <ns1:lvl9pPr>
              <ns1:defRPr sz="1650">
                <ns1:solidFill>
                  <ns1:srgbClr val="38616B"/>
                </ns1:solidFill>
              </ns1:defRPr>
            </ns1:lvl9pPr>
          </ns1:lstStyle>
          <ns1:p>
            <ns1:pPr>
              <ns1:defRPr sz="1500">
                <ns1:solidFill>
                  <ns1:srgbClr val="38616B"/>
                </ns1:solidFill>
                <ns1:latin typeface="Tahoma"/>
                <ns1:cs typeface="Tahoma"/>
              </ns1:defRPr>
            </ns1:pPr>
            <ns1:r>
              <ns1:t>ภาพที่แนะนำ</ns1:t>
            </ns1:r>
          </ns1:p>
          <ns1:p>
            <ns1:pPr>
              <ns1:defRPr sz="1500">
                <ns1:solidFill>
                  <ns1:srgbClr val="38616B"/>
                </ns1:solidFill>
                <ns1:latin typeface="Tahoma"/>
                <ns1:cs typeface="Tahoma"/>
              </ns1:defRPr>
            </ns1:pPr>
            <ns1:r>
              <ns1:t/>
            </ns1:r>
          </ns1:p>
          <ns1:p>
            <ns1:pPr>
              <ns1:defRPr sz="1500">
                <ns1:solidFill>
                  <ns1:srgbClr val="38616B"/>
                </ns1:solidFill>
                <ns1:latin typeface="Tahoma"/>
                <ns1:cs typeface="Tahoma"/>
              </ns1:defRPr>
            </ns1:pPr>
            <ns1:r>
              <ns1:t>ด้านขวา: ภาพหน้าจอบอทที่จะสาธิต</ns1:t>
            </ns1:r>
          </ns1:p>
          <ns1:p>
            <ns1:pPr>
              <ns1:defRPr sz="1500">
                <ns1:solidFill>
                  <ns1:srgbClr val="38616B"/>
                </ns1:solidFill>
                <ns1:latin typeface="Tahoma"/>
                <ns1:cs typeface="Tahoma"/>
              </ns1:defRPr>
            </ns1:pPr>
            <ns1:r>
              <ns1:t>สลับไปใช้ระบบจริงในช่วงนี้</ns1:t>
            </ns1:r>
          </ns1:p>
          <ns1:p>
            <ns1:pPr>
              <ns1:defRPr sz="1500">
                <ns1:solidFill>
                  <ns1:srgbClr val="38616B"/>
                </ns1:solidFill>
                <ns1:latin typeface="Tahoma"/>
                <ns1:cs typeface="Tahoma"/>
              </ns1:defRPr>
            </ns1:pPr>
            <ns1:r>
              <ns1:t>เตรียมวิดีโอจากการซ้อมเป็นแผนสำรอง</ns1:t>
            </ns1:r>
          </ns1:p>
        </ns0:txBody>
      </ns0:sp>
    </ns0:spTree>
    <ns0:extLst>
      <ns0:ext uri="{BB962C8B-B14F-4D97-AF65-F5344CB8AC3E}">
        <ns3:creationId val="1195438806"/>
      </ns0:ext>
    </ns0:extLst>
  </ns0:cSld>
</ns0:sld>
</file>

<file path=ppt/slides/slide9.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7FAFC"/>
        </ns1:solidFill>
      </ns0:bgPr>
    </ns0:bg>
    <ns0:spTree>
      <ns0:nvGrpSpPr>
        <ns0:cNvPr id="1" name=""/>
        <ns0:cNvGrpSpPr/>
        <ns0:nvPr/>
      </ns0:nvGrpSpPr>
      <ns0:grpSpPr>
        <ns1:xfrm/>
      </ns0:grpSpPr>
      <ns0:sp>
        <ns0:nvSpPr>
          <ns0:cNvPr id="2" name="">
            <ns1:extLst>
              <ns1:ext uri="{FF2B5EF4-FFF2-40B4-BE49-F238E27FC236}">
                <ns2:creationId id="{4A7EA5B3-A992-4DE9-9C86-61F9588D7912}"/>
              </ns1:ext>
            </ns1:extLst>
          </ns0:cNvPr>
          <ns0:cNvSpPr>
            <ns1:spLocks noGrp="1"/>
          </ns0:cNvSpPr>
          <ns0:nvPr/>
        </ns0:nvSpPr>
        <ns0:spPr>
          <ns1:xfrm>
            <ns1:off x="666750" y="400050"/>
            <ns1:ext cx="8572500" cy="333375"/>
          </ns1:xfrm>
          <ns1:prstGeom prst="rect">
            <ns1:avLst/>
          </ns1:prstGeom>
          <ns1:noFill/>
          <ns1:ln w="0">
            <ns1:noFill/>
          </ns1:ln>
        </ns0:spPr>
        <ns0:txBody>
          <ns1:bodyPr/>
          <ns1:lstStyle>
            <ns1:defPPr>
              <ns1:defRPr sz="1200" b="1">
                <ns1:solidFill>
                  <ns1:srgbClr val="087E95"/>
                </ns1:solidFill>
              </ns1:defRPr>
            </ns1:defPPr>
            <ns1:lvl1pPr>
              <ns1:defRPr sz="1200" b="1">
                <ns1:solidFill>
                  <ns1:srgbClr val="087E95"/>
                </ns1:solidFill>
              </ns1:defRPr>
            </ns1:lvl1pPr>
            <ns1:lvl2pPr>
              <ns1:defRPr sz="1200" b="1">
                <ns1:solidFill>
                  <ns1:srgbClr val="087E95"/>
                </ns1:solidFill>
              </ns1:defRPr>
            </ns1:lvl2pPr>
            <ns1:lvl3pPr>
              <ns1:defRPr sz="1200" b="1">
                <ns1:solidFill>
                  <ns1:srgbClr val="087E95"/>
                </ns1:solidFill>
              </ns1:defRPr>
            </ns1:lvl3pPr>
            <ns1:lvl4pPr>
              <ns1:defRPr sz="1200" b="1">
                <ns1:solidFill>
                  <ns1:srgbClr val="087E95"/>
                </ns1:solidFill>
              </ns1:defRPr>
            </ns1:lvl4pPr>
            <ns1:lvl5pPr>
              <ns1:defRPr sz="1200" b="1">
                <ns1:solidFill>
                  <ns1:srgbClr val="087E95"/>
                </ns1:solidFill>
              </ns1:defRPr>
            </ns1:lvl5pPr>
            <ns1:lvl6pPr>
              <ns1:defRPr sz="1200" b="1">
                <ns1:solidFill>
                  <ns1:srgbClr val="087E95"/>
                </ns1:solidFill>
              </ns1:defRPr>
            </ns1:lvl6pPr>
            <ns1:lvl7pPr>
              <ns1:defRPr sz="1200" b="1">
                <ns1:solidFill>
                  <ns1:srgbClr val="087E95"/>
                </ns1:solidFill>
              </ns1:defRPr>
            </ns1:lvl7pPr>
            <ns1:lvl8pPr>
              <ns1:defRPr sz="1200" b="1">
                <ns1:solidFill>
                  <ns1:srgbClr val="087E95"/>
                </ns1:solidFill>
              </ns1:defRPr>
            </ns1:lvl8pPr>
            <ns1:lvl9pPr>
              <ns1:defRPr sz="1200" b="1">
                <ns1:solidFill>
                  <ns1:srgbClr val="087E95"/>
                </ns1:solidFill>
              </ns1:defRPr>
            </ns1:lvl9pPr>
          </ns1:lstStyle>
          <ns1:p>
            <ns1:pPr>
              <ns1:defRPr sz="1400">
                <ns1:solidFill>
                  <ns1:srgbClr val="087E95"/>
                </ns1:solidFill>
                <ns1:latin typeface="Tahoma"/>
                <ns1:cs typeface="Tahoma"/>
              </ns1:defRPr>
            </ns1:pPr>
            <ns1:r>
              <ns1:t>SCOPEBOT  /  09   System Testing &amp; Reliability</ns1:t>
            </ns1:r>
          </ns1:p>
        </ns0:txBody>
      </ns0:sp>
      <ns0:sp>
        <ns0:nvSpPr>
          <ns0:cNvPr id="3" name="">
            <ns1:extLst>
              <ns1:ext uri="{FF2B5EF4-FFF2-40B4-BE49-F238E27FC236}">
                <ns2:creationId id="{A65EAA13-8B1E-4296-9C65-688F025FC01E}"/>
              </ns1:ext>
            </ns1:extLst>
          </ns0:cNvPr>
          <ns0:cNvSpPr>
            <ns1:spLocks noGrp="1"/>
          </ns0:cNvSpPr>
          <ns0:nvPr/>
        </ns0:nvSpPr>
        <ns0:spPr>
          <ns1:xfrm>
            <ns1:off x="666750" y="1095375"/>
            <ns1:ext cx="10668000" cy="952500"/>
          </ns1:xfrm>
          <ns1:prstGeom prst="rect">
            <ns1:avLst/>
          </ns1:prstGeom>
          <ns1:noFill/>
          <ns1:ln w="0">
            <ns1:noFill/>
          </ns1:ln>
        </ns0:spPr>
        <ns0:txBody>
          <ns1:bodyPr/>
          <ns1:lstStyle>
            <ns1:defPPr>
              <ns1:defRPr sz="3000" b="1">
                <ns1:solidFill>
                  <ns1:srgbClr val="142B42"/>
                </ns1:solidFill>
              </ns1:defRPr>
            </ns1:defPPr>
            <ns1:lvl1pPr>
              <ns1:defRPr sz="3000" b="1">
                <ns1:solidFill>
                  <ns1:srgbClr val="142B42"/>
                </ns1:solidFill>
              </ns1:defRPr>
            </ns1:lvl1pPr>
            <ns1:lvl2pPr>
              <ns1:defRPr sz="3000" b="1">
                <ns1:solidFill>
                  <ns1:srgbClr val="142B42"/>
                </ns1:solidFill>
              </ns1:defRPr>
            </ns1:lvl2pPr>
            <ns1:lvl3pPr>
              <ns1:defRPr sz="3000" b="1">
                <ns1:solidFill>
                  <ns1:srgbClr val="142B42"/>
                </ns1:solidFill>
              </ns1:defRPr>
            </ns1:lvl3pPr>
            <ns1:lvl4pPr>
              <ns1:defRPr sz="3000" b="1">
                <ns1:solidFill>
                  <ns1:srgbClr val="142B42"/>
                </ns1:solidFill>
              </ns1:defRPr>
            </ns1:lvl4pPr>
            <ns1:lvl5pPr>
              <ns1:defRPr sz="3000" b="1">
                <ns1:solidFill>
                  <ns1:srgbClr val="142B42"/>
                </ns1:solidFill>
              </ns1:defRPr>
            </ns1:lvl5pPr>
            <ns1:lvl6pPr>
              <ns1:defRPr sz="3000" b="1">
                <ns1:solidFill>
                  <ns1:srgbClr val="142B42"/>
                </ns1:solidFill>
              </ns1:defRPr>
            </ns1:lvl6pPr>
            <ns1:lvl7pPr>
              <ns1:defRPr sz="3000" b="1">
                <ns1:solidFill>
                  <ns1:srgbClr val="142B42"/>
                </ns1:solidFill>
              </ns1:defRPr>
            </ns1:lvl7pPr>
            <ns1:lvl8pPr>
              <ns1:defRPr sz="3000" b="1">
                <ns1:solidFill>
                  <ns1:srgbClr val="142B42"/>
                </ns1:solidFill>
              </ns1:defRPr>
            </ns1:lvl8pPr>
            <ns1:lvl9pPr>
              <ns1:defRPr sz="3000" b="1">
                <ns1:solidFill>
                  <ns1:srgbClr val="142B42"/>
                </ns1:solidFill>
              </ns1:defRPr>
            </ns1:lvl9pPr>
          </ns1:lstStyle>
          <ns1:p>
            <ns1:pPr>
              <ns1:defRPr sz="3000">
                <ns1:solidFill>
                  <ns1:srgbClr val="142B42"/>
                </ns1:solidFill>
                <ns1:latin typeface="Tahoma"/>
                <ns1:cs typeface="Tahoma"/>
              </ns1:defRPr>
            </ns1:pPr>
            <ns1:r>
              <ns1:t>การทดสอบและความน่าเชื่อถือ</ns1:t>
            </ns1:r>
          </ns1:p>
        </ns0:txBody>
      </ns0:sp>
      <ns0:sp>
        <ns0:nvSpPr>
          <ns0:cNvPr id="4" name="">
            <ns1:extLst>
              <ns1:ext uri="{FF2B5EF4-FFF2-40B4-BE49-F238E27FC236}">
                <ns2:creationId id="{256B3CF4-715A-4A3A-8873-70D4ED942F12}"/>
              </ns1:ext>
            </ns1:extLst>
          </ns0:cNvPr>
          <ns0:cNvSpPr>
            <ns1:spLocks noGrp="1"/>
          </ns0:cNvSpPr>
          <ns0:nvPr/>
        </ns0:nvSpPr>
        <ns0:spPr>
          <ns1:xfrm>
            <ns1:off x="714375" y="2238375"/>
            <ns1:ext cx="6191250" cy="3905250"/>
          </ns1:xfrm>
          <ns1:prstGeom prst="rect">
            <ns1:avLst/>
          </ns1:prstGeom>
          <ns1:noFill/>
          <ns1:ln w="0">
            <ns1:noFill/>
          </ns1:ln>
        </ns0:spPr>
        <ns0:txBody>
          <ns1:bodyPr/>
          <ns1:lstStyle>
            <ns1:defPPr>
              <ns1:defRPr sz="1875" b="0">
                <ns1:solidFill>
                  <ns1:srgbClr val="294255"/>
                </ns1:solidFill>
              </ns1:defRPr>
            </ns1:defPPr>
            <ns1:lvl1pPr>
              <ns1:defRPr sz="1875" b="0">
                <ns1:solidFill>
                  <ns1:srgbClr val="294255"/>
                </ns1:solidFill>
              </ns1:defRPr>
            </ns1:lvl1pPr>
            <ns1:lvl2pPr>
              <ns1:defRPr sz="1875" b="0">
                <ns1:solidFill>
                  <ns1:srgbClr val="294255"/>
                </ns1:solidFill>
              </ns1:defRPr>
            </ns1:lvl2pPr>
            <ns1:lvl3pPr>
              <ns1:defRPr sz="1875" b="0">
                <ns1:solidFill>
                  <ns1:srgbClr val="294255"/>
                </ns1:solidFill>
              </ns1:defRPr>
            </ns1:lvl3pPr>
            <ns1:lvl4pPr>
              <ns1:defRPr sz="1875" b="0">
                <ns1:solidFill>
                  <ns1:srgbClr val="294255"/>
                </ns1:solidFill>
              </ns1:defRPr>
            </ns1:lvl4pPr>
            <ns1:lvl5pPr>
              <ns1:defRPr sz="1875" b="0">
                <ns1:solidFill>
                  <ns1:srgbClr val="294255"/>
                </ns1:solidFill>
              </ns1:defRPr>
            </ns1:lvl5pPr>
            <ns1:lvl6pPr>
              <ns1:defRPr sz="1875" b="0">
                <ns1:solidFill>
                  <ns1:srgbClr val="294255"/>
                </ns1:solidFill>
              </ns1:defRPr>
            </ns1:lvl6pPr>
            <ns1:lvl7pPr>
              <ns1:defRPr sz="1875" b="0">
                <ns1:solidFill>
                  <ns1:srgbClr val="294255"/>
                </ns1:solidFill>
              </ns1:defRPr>
            </ns1:lvl7pPr>
            <ns1:lvl8pPr>
              <ns1:defRPr sz="1875" b="0">
                <ns1:solidFill>
                  <ns1:srgbClr val="294255"/>
                </ns1:solidFill>
              </ns1:defRPr>
            </ns1:lvl8pPr>
            <ns1:lvl9pPr>
              <ns1:defRPr sz="1875" b="0">
                <ns1:solidFill>
                  <ns1:srgbClr val="294255"/>
                </ns1:solidFill>
              </ns1:defRPr>
            </ns1:lvl9pPr>
          </ns1:lstStyle>
          <ns1:p>
            <ns1:pPr>
              <ns1:defRPr sz="1900">
                <ns1:solidFill>
                  <ns1:srgbClr val="294255"/>
                </ns1:solidFill>
                <ns1:latin typeface="Tahoma"/>
                <ns1:cs typeface="Tahoma"/>
              </ns1:defRPr>
            </ns1:pPr>
            <ns1:r>
              <ns1:t>เอกสารรายงาน backend ผ่าน 139 กรณี</ns1:t>
            </ns1:r>
          </ns1:p>
          <ns1:p>
            <ns1:pPr>
              <ns1:defRPr sz="1900">
                <ns1:solidFill>
                  <ns1:srgbClr val="294255"/>
                </ns1:solidFill>
                <ns1:latin typeface="Tahoma"/>
                <ns1:cs typeface="Tahoma"/>
              </ns1:defRPr>
            </ns1:pPr>
            <ns1:r>
              <ns1:t>ตรวจสิทธิ์ ข้อมูล และพฤติกรรม RAG</ns1:t>
            </ns1:r>
          </ns1:p>
          <ns1:p>
            <ns1:pPr>
              <ns1:defRPr sz="1900">
                <ns1:solidFill>
                  <ns1:srgbClr val="294255"/>
                </ns1:solidFill>
                <ns1:latin typeface="Tahoma"/>
                <ns1:cs typeface="Tahoma"/>
              </ns1:defRPr>
            </ns1:pPr>
            <ns1:r>
              <ns1:t>ตรวจเงื่อนไข ตัวเลข ตาราง และคำถามต่อเนื่อง</ns1:t>
            </ns1:r>
          </ns1:p>
          <ns1:p>
            <ns1:pPr>
              <ns1:defRPr sz="1900">
                <ns1:solidFill>
                  <ns1:srgbClr val="294255"/>
                </ns1:solidFill>
                <ns1:latin typeface="Tahoma"/>
                <ns1:cs typeface="Tahoma"/>
              </ns1:defRPr>
            </ns1:pPr>
            <ns1:r>
              <ns1:t>ต้องวัดคุณภาพโมเดลจริงและโหลดเพิ่มเติม</ns1:t>
            </ns1:r>
          </ns1:p>
        </ns0:txBody>
      </ns0:sp>
      <ns0:sp>
        <ns0:nvSpPr>
          <ns0:cNvPr id="5" name="">
            <ns1:extLst>
              <ns1:ext uri="{FF2B5EF4-FFF2-40B4-BE49-F238E27FC236}">
                <ns2:creationId id="{B6D0ED67-FFEE-4A00-B297-C38E96050BA5}"/>
              </ns1:ext>
            </ns1:extLst>
          </ns0:cNvPr>
          <ns0:cNvSpPr>
            <ns1:spLocks noGrp="1"/>
          </ns0:cNvSpPr>
          <ns0:nvPr/>
        </ns0:nvSpPr>
        <ns0:spPr>
          <ns1:xfrm>
            <ns1:off x="7477125" y="2333625"/>
            <ns1:ext cx="3905250" cy="2381250"/>
          </ns1:xfrm>
          <ns1:prstGeom prst="rect">
            <ns1:avLst/>
          </ns1:prstGeom>
          <ns1:solidFill>
            <ns1:srgbClr val="E7F2F5"/>
          </ns1:solidFill>
          <ns1:ln w="9525">
            <ns1:solidFill>
              <ns1:srgbClr val="B8D5DD"/>
            </ns1:solidFill>
          </ns1:ln>
        </ns0:spPr>
        <ns0:txBody>
          <ns1:bodyPr/>
          <ns1:lstStyle>
            <ns1:defPPr>
              <ns1:defRPr sz="1650">
                <ns1:solidFill>
                  <ns1:srgbClr val="38616B"/>
                </ns1:solidFill>
              </ns1:defRPr>
            </ns1:defPPr>
            <ns1:lvl1pPr>
              <ns1:defRPr sz="1650">
                <ns1:solidFill>
                  <ns1:srgbClr val="38616B"/>
                </ns1:solidFill>
              </ns1:defRPr>
            </ns1:lvl1pPr>
            <ns1:lvl2pPr>
              <ns1:defRPr sz="1650">
                <ns1:solidFill>
                  <ns1:srgbClr val="38616B"/>
                </ns1:solidFill>
              </ns1:defRPr>
            </ns1:lvl2pPr>
            <ns1:lvl3pPr>
              <ns1:defRPr sz="1650">
                <ns1:solidFill>
                  <ns1:srgbClr val="38616B"/>
                </ns1:solidFill>
              </ns1:defRPr>
            </ns1:lvl3pPr>
            <ns1:lvl4pPr>
              <ns1:defRPr sz="1650">
                <ns1:solidFill>
                  <ns1:srgbClr val="38616B"/>
                </ns1:solidFill>
              </ns1:defRPr>
            </ns1:lvl4pPr>
            <ns1:lvl5pPr>
              <ns1:defRPr sz="1650">
                <ns1:solidFill>
                  <ns1:srgbClr val="38616B"/>
                </ns1:solidFill>
              </ns1:defRPr>
            </ns1:lvl5pPr>
            <ns1:lvl6pPr>
              <ns1:defRPr sz="1650">
                <ns1:solidFill>
                  <ns1:srgbClr val="38616B"/>
                </ns1:solidFill>
              </ns1:defRPr>
            </ns1:lvl6pPr>
            <ns1:lvl7pPr>
              <ns1:defRPr sz="1650">
                <ns1:solidFill>
                  <ns1:srgbClr val="38616B"/>
                </ns1:solidFill>
              </ns1:defRPr>
            </ns1:lvl7pPr>
            <ns1:lvl8pPr>
              <ns1:defRPr sz="1650">
                <ns1:solidFill>
                  <ns1:srgbClr val="38616B"/>
                </ns1:solidFill>
              </ns1:defRPr>
            </ns1:lvl8pPr>
            <ns1:lvl9pPr>
              <ns1:defRPr sz="1650">
                <ns1:solidFill>
                  <ns1:srgbClr val="38616B"/>
                </ns1:solidFill>
              </ns1:defRPr>
            </ns1:lvl9pPr>
          </ns1:lstStyle>
          <ns1:p>
            <ns1:pPr>
              <ns1:defRPr sz="1500">
                <ns1:solidFill>
                  <ns1:srgbClr val="38616B"/>
                </ns1:solidFill>
                <ns1:latin typeface="Tahoma"/>
                <ns1:cs typeface="Tahoma"/>
              </ns1:defRPr>
            </ns1:pPr>
            <ns1:r>
              <ns1:t>ภาพที่แนะนำ</ns1:t>
            </ns1:r>
          </ns1:p>
          <ns1:p>
            <ns1:pPr>
              <ns1:defRPr sz="1500">
                <ns1:solidFill>
                  <ns1:srgbClr val="38616B"/>
                </ns1:solidFill>
                <ns1:latin typeface="Tahoma"/>
                <ns1:cs typeface="Tahoma"/>
              </ns1:defRPr>
            </ns1:pPr>
            <ns1:r>
              <ns1:t/>
            </ns1:r>
          </ns1:p>
          <ns1:p>
            <ns1:pPr>
              <ns1:defRPr sz="1500">
                <ns1:solidFill>
                  <ns1:srgbClr val="38616B"/>
                </ns1:solidFill>
                <ns1:latin typeface="Tahoma"/>
                <ns1:cs typeface="Tahoma"/>
              </ns1:defRPr>
            </ns1:pPr>
            <ns1:r>
              <ns1:t>ด้านขวา: ตารางกรณีทดสอบจากรายงานจริง</ns1:t>
            </ns1:r>
          </ns1:p>
          <ns1:p>
            <ns1:pPr>
              <ns1:defRPr sz="1500">
                <ns1:solidFill>
                  <ns1:srgbClr val="38616B"/>
                </ns1:solidFill>
                <ns1:latin typeface="Tahoma"/>
                <ns1:cs typeface="Tahoma"/>
              </ns1:defRPr>
            </ns1:pPr>
            <ns1:r>
              <ns1:t>แยก regression tests กับการใช้โมเดลจริง</ns1:t>
            </ns1:r>
          </ns1:p>
          <ns1:p>
            <ns1:pPr>
              <ns1:defRPr sz="1500">
                <ns1:solidFill>
                  <ns1:srgbClr val="38616B"/>
                </ns1:solidFill>
                <ns1:latin typeface="Tahoma"/>
                <ns1:cs typeface="Tahoma"/>
              </ns1:defRPr>
            </ns1:pPr>
            <ns1:r>
              <ns1:t>ระบุวันที่และชุดทดสอบ</ns1:t>
            </ns1:r>
          </ns1:p>
          <ns1:p>
            <ns1:pPr>
              <ns1:defRPr sz="1500">
                <ns1:solidFill>
                  <ns1:srgbClr val="38616B"/>
                </ns1:solidFill>
                <ns1:latin typeface="Tahoma"/>
                <ns1:cs typeface="Tahoma"/>
              </ns1:defRPr>
            </ns1:pPr>
            <ns1:r>
              <ns1:t>ไม่ใช้ 139 กรณีเป็นค่าความแม่นยำ AI</ns1:t>
            </ns1:r>
          </ns1:p>
        </ns0:txBody>
      </ns0:sp>
    </ns0:spTree>
    <ns0:extLst>
      <ns0:ext uri="{BB962C8B-B14F-4D97-AF65-F5344CB8AC3E}">
        <ns3:creationId val="560381410"/>
      </ns0:ext>
    </ns0:extLst>
  </ns0:cSld>
</ns0:sld>
</file>

<file path=ppt/slides/slide10.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7FAFC"/>
        </ns1:solidFill>
      </ns0:bgPr>
    </ns0:bg>
    <ns0:spTree>
      <ns0:nvGrpSpPr>
        <ns0:cNvPr id="1" name=""/>
        <ns0:cNvGrpSpPr/>
        <ns0:nvPr/>
      </ns0:nvGrpSpPr>
      <ns0:grpSpPr>
        <ns1:xfrm/>
      </ns0:grpSpPr>
      <ns0:sp>
        <ns0:nvSpPr>
          <ns0:cNvPr id="2" name="">
            <ns1:extLst>
              <ns1:ext uri="{FF2B5EF4-FFF2-40B4-BE49-F238E27FC236}">
                <ns2:creationId id="{7DB62717-3A95-4D83-B874-4330F4994702}"/>
              </ns1:ext>
            </ns1:extLst>
          </ns0:cNvPr>
          <ns0:cNvSpPr>
            <ns1:spLocks noGrp="1"/>
          </ns0:cNvSpPr>
          <ns0:nvPr/>
        </ns0:nvSpPr>
        <ns0:spPr>
          <ns1:xfrm>
            <ns1:off x="666750" y="400050"/>
            <ns1:ext cx="8572500" cy="333375"/>
          </ns1:xfrm>
          <ns1:prstGeom prst="rect">
            <ns1:avLst/>
          </ns1:prstGeom>
          <ns1:noFill/>
          <ns1:ln w="0">
            <ns1:noFill/>
          </ns1:ln>
        </ns0:spPr>
        <ns0:txBody>
          <ns1:bodyPr/>
          <ns1:lstStyle>
            <ns1:defPPr>
              <ns1:defRPr sz="1200" b="1">
                <ns1:solidFill>
                  <ns1:srgbClr val="087E95"/>
                </ns1:solidFill>
              </ns1:defRPr>
            </ns1:defPPr>
            <ns1:lvl1pPr>
              <ns1:defRPr sz="1200" b="1">
                <ns1:solidFill>
                  <ns1:srgbClr val="087E95"/>
                </ns1:solidFill>
              </ns1:defRPr>
            </ns1:lvl1pPr>
            <ns1:lvl2pPr>
              <ns1:defRPr sz="1200" b="1">
                <ns1:solidFill>
                  <ns1:srgbClr val="087E95"/>
                </ns1:solidFill>
              </ns1:defRPr>
            </ns1:lvl2pPr>
            <ns1:lvl3pPr>
              <ns1:defRPr sz="1200" b="1">
                <ns1:solidFill>
                  <ns1:srgbClr val="087E95"/>
                </ns1:solidFill>
              </ns1:defRPr>
            </ns1:lvl3pPr>
            <ns1:lvl4pPr>
              <ns1:defRPr sz="1200" b="1">
                <ns1:solidFill>
                  <ns1:srgbClr val="087E95"/>
                </ns1:solidFill>
              </ns1:defRPr>
            </ns1:lvl4pPr>
            <ns1:lvl5pPr>
              <ns1:defRPr sz="1200" b="1">
                <ns1:solidFill>
                  <ns1:srgbClr val="087E95"/>
                </ns1:solidFill>
              </ns1:defRPr>
            </ns1:lvl5pPr>
            <ns1:lvl6pPr>
              <ns1:defRPr sz="1200" b="1">
                <ns1:solidFill>
                  <ns1:srgbClr val="087E95"/>
                </ns1:solidFill>
              </ns1:defRPr>
            </ns1:lvl6pPr>
            <ns1:lvl7pPr>
              <ns1:defRPr sz="1200" b="1">
                <ns1:solidFill>
                  <ns1:srgbClr val="087E95"/>
                </ns1:solidFill>
              </ns1:defRPr>
            </ns1:lvl7pPr>
            <ns1:lvl8pPr>
              <ns1:defRPr sz="1200" b="1">
                <ns1:solidFill>
                  <ns1:srgbClr val="087E95"/>
                </ns1:solidFill>
              </ns1:defRPr>
            </ns1:lvl8pPr>
            <ns1:lvl9pPr>
              <ns1:defRPr sz="1200" b="1">
                <ns1:solidFill>
                  <ns1:srgbClr val="087E95"/>
                </ns1:solidFill>
              </ns1:defRPr>
            </ns1:lvl9pPr>
          </ns1:lstStyle>
          <ns1:p>
            <ns1:pPr>
              <ns1:defRPr sz="1400">
                <ns1:solidFill>
                  <ns1:srgbClr val="087E95"/>
                </ns1:solidFill>
                <ns1:latin typeface="Tahoma"/>
                <ns1:cs typeface="Tahoma"/>
              </ns1:defRPr>
            </ns1:pPr>
            <ns1:r>
              <ns1:t>SCOPEBOT  /  10   Limitations &amp; Future Work</ns1:t>
            </ns1:r>
          </ns1:p>
        </ns0:txBody>
      </ns0:sp>
      <ns0:sp>
        <ns0:nvSpPr>
          <ns0:cNvPr id="3" name="">
            <ns1:extLst>
              <ns1:ext uri="{FF2B5EF4-FFF2-40B4-BE49-F238E27FC236}">
                <ns2:creationId id="{81CAFA57-2675-47CE-AE3D-C2DBEF304BD1}"/>
              </ns1:ext>
            </ns1:extLst>
          </ns0:cNvPr>
          <ns0:cNvSpPr>
            <ns1:spLocks noGrp="1"/>
          </ns0:cNvSpPr>
          <ns0:nvPr/>
        </ns0:nvSpPr>
        <ns0:spPr>
          <ns1:xfrm>
            <ns1:off x="666750" y="1095375"/>
            <ns1:ext cx="10668000" cy="952500"/>
          </ns1:xfrm>
          <ns1:prstGeom prst="rect">
            <ns1:avLst/>
          </ns1:prstGeom>
          <ns1:noFill/>
          <ns1:ln w="0">
            <ns1:noFill/>
          </ns1:ln>
        </ns0:spPr>
        <ns0:txBody>
          <ns1:bodyPr/>
          <ns1:lstStyle>
            <ns1:defPPr>
              <ns1:defRPr sz="3000" b="1">
                <ns1:solidFill>
                  <ns1:srgbClr val="142B42"/>
                </ns1:solidFill>
              </ns1:defRPr>
            </ns1:defPPr>
            <ns1:lvl1pPr>
              <ns1:defRPr sz="3000" b="1">
                <ns1:solidFill>
                  <ns1:srgbClr val="142B42"/>
                </ns1:solidFill>
              </ns1:defRPr>
            </ns1:lvl1pPr>
            <ns1:lvl2pPr>
              <ns1:defRPr sz="3000" b="1">
                <ns1:solidFill>
                  <ns1:srgbClr val="142B42"/>
                </ns1:solidFill>
              </ns1:defRPr>
            </ns1:lvl2pPr>
            <ns1:lvl3pPr>
              <ns1:defRPr sz="3000" b="1">
                <ns1:solidFill>
                  <ns1:srgbClr val="142B42"/>
                </ns1:solidFill>
              </ns1:defRPr>
            </ns1:lvl3pPr>
            <ns1:lvl4pPr>
              <ns1:defRPr sz="3000" b="1">
                <ns1:solidFill>
                  <ns1:srgbClr val="142B42"/>
                </ns1:solidFill>
              </ns1:defRPr>
            </ns1:lvl4pPr>
            <ns1:lvl5pPr>
              <ns1:defRPr sz="3000" b="1">
                <ns1:solidFill>
                  <ns1:srgbClr val="142B42"/>
                </ns1:solidFill>
              </ns1:defRPr>
            </ns1:lvl5pPr>
            <ns1:lvl6pPr>
              <ns1:defRPr sz="3000" b="1">
                <ns1:solidFill>
                  <ns1:srgbClr val="142B42"/>
                </ns1:solidFill>
              </ns1:defRPr>
            </ns1:lvl6pPr>
            <ns1:lvl7pPr>
              <ns1:defRPr sz="3000" b="1">
                <ns1:solidFill>
                  <ns1:srgbClr val="142B42"/>
                </ns1:solidFill>
              </ns1:defRPr>
            </ns1:lvl7pPr>
            <ns1:lvl8pPr>
              <ns1:defRPr sz="3000" b="1">
                <ns1:solidFill>
                  <ns1:srgbClr val="142B42"/>
                </ns1:solidFill>
              </ns1:defRPr>
            </ns1:lvl8pPr>
            <ns1:lvl9pPr>
              <ns1:defRPr sz="3000" b="1">
                <ns1:solidFill>
                  <ns1:srgbClr val="142B42"/>
                </ns1:solidFill>
              </ns1:defRPr>
            </ns1:lvl9pPr>
          </ns1:lstStyle>
          <ns1:p>
            <ns1:pPr>
              <ns1:defRPr sz="3000">
                <ns1:solidFill>
                  <ns1:srgbClr val="142B42"/>
                </ns1:solidFill>
                <ns1:latin typeface="Tahoma"/>
                <ns1:cs typeface="Tahoma"/>
              </ns1:defRPr>
            </ns1:pPr>
            <ns1:r>
              <ns1:t>ข้อจำกัดและการพัฒนาต่อ</ns1:t>
            </ns1:r>
          </ns1:p>
        </ns0:txBody>
      </ns0:sp>
      <ns0:sp>
        <ns0:nvSpPr>
          <ns0:cNvPr id="4" name="">
            <ns1:extLst>
              <ns1:ext uri="{FF2B5EF4-FFF2-40B4-BE49-F238E27FC236}">
                <ns2:creationId id="{EA3750FF-D1D8-414A-B720-3E4B2A653F2F}"/>
              </ns1:ext>
            </ns1:extLst>
          </ns0:cNvPr>
          <ns0:cNvSpPr>
            <ns1:spLocks noGrp="1"/>
          </ns0:cNvSpPr>
          <ns0:nvPr/>
        </ns0:nvSpPr>
        <ns0:spPr>
          <ns1:xfrm>
            <ns1:off x="714375" y="2238375"/>
            <ns1:ext cx="6191250" cy="3905250"/>
          </ns1:xfrm>
          <ns1:prstGeom prst="rect">
            <ns1:avLst/>
          </ns1:prstGeom>
          <ns1:noFill/>
          <ns1:ln w="0">
            <ns1:noFill/>
          </ns1:ln>
        </ns0:spPr>
        <ns0:txBody>
          <ns1:bodyPr/>
          <ns1:lstStyle>
            <ns1:defPPr>
              <ns1:defRPr sz="1875" b="0">
                <ns1:solidFill>
                  <ns1:srgbClr val="294255"/>
                </ns1:solidFill>
              </ns1:defRPr>
            </ns1:defPPr>
            <ns1:lvl1pPr>
              <ns1:defRPr sz="1875" b="0">
                <ns1:solidFill>
                  <ns1:srgbClr val="294255"/>
                </ns1:solidFill>
              </ns1:defRPr>
            </ns1:lvl1pPr>
            <ns1:lvl2pPr>
              <ns1:defRPr sz="1875" b="0">
                <ns1:solidFill>
                  <ns1:srgbClr val="294255"/>
                </ns1:solidFill>
              </ns1:defRPr>
            </ns1:lvl2pPr>
            <ns1:lvl3pPr>
              <ns1:defRPr sz="1875" b="0">
                <ns1:solidFill>
                  <ns1:srgbClr val="294255"/>
                </ns1:solidFill>
              </ns1:defRPr>
            </ns1:lvl3pPr>
            <ns1:lvl4pPr>
              <ns1:defRPr sz="1875" b="0">
                <ns1:solidFill>
                  <ns1:srgbClr val="294255"/>
                </ns1:solidFill>
              </ns1:defRPr>
            </ns1:lvl4pPr>
            <ns1:lvl5pPr>
              <ns1:defRPr sz="1875" b="0">
                <ns1:solidFill>
                  <ns1:srgbClr val="294255"/>
                </ns1:solidFill>
              </ns1:defRPr>
            </ns1:lvl5pPr>
            <ns1:lvl6pPr>
              <ns1:defRPr sz="1875" b="0">
                <ns1:solidFill>
                  <ns1:srgbClr val="294255"/>
                </ns1:solidFill>
              </ns1:defRPr>
            </ns1:lvl6pPr>
            <ns1:lvl7pPr>
              <ns1:defRPr sz="1875" b="0">
                <ns1:solidFill>
                  <ns1:srgbClr val="294255"/>
                </ns1:solidFill>
              </ns1:defRPr>
            </ns1:lvl7pPr>
            <ns1:lvl8pPr>
              <ns1:defRPr sz="1875" b="0">
                <ns1:solidFill>
                  <ns1:srgbClr val="294255"/>
                </ns1:solidFill>
              </ns1:defRPr>
            </ns1:lvl8pPr>
            <ns1:lvl9pPr>
              <ns1:defRPr sz="1875" b="0">
                <ns1:solidFill>
                  <ns1:srgbClr val="294255"/>
                </ns1:solidFill>
              </ns1:defRPr>
            </ns1:lvl9pPr>
          </ns1:lstStyle>
          <ns1:p>
            <ns1:pPr>
              <ns1:defRPr sz="1900">
                <ns1:solidFill>
                  <ns1:srgbClr val="294255"/>
                </ns1:solidFill>
                <ns1:latin typeface="Tahoma"/>
                <ns1:cs typeface="Tahoma"/>
              </ns1:defRPr>
            </ns1:pPr>
            <ns1:r>
              <ns1:t>คุณภาพเอกสารมีผลต่อการค้นคำตอบ</ns1:t>
            </ns1:r>
          </ns1:p>
          <ns1:p>
            <ns1:pPr>
              <ns1:defRPr sz="1900">
                <ns1:solidFill>
                  <ns1:srgbClr val="294255"/>
                </ns1:solidFill>
                <ns1:latin typeface="Tahoma"/>
                <ns1:cs typeface="Tahoma"/>
              </ns1:defRPr>
            </ns1:pPr>
            <ns1:r>
              <ns1:t>โมเดลและทรัพยากรเครื่องมีผลต่อเวลา</ns1:t>
            </ns1:r>
          </ns1:p>
          <ns1:p>
            <ns1:pPr>
              <ns1:defRPr sz="1900">
                <ns1:solidFill>
                  <ns1:srgbClr val="294255"/>
                </ns1:solidFill>
                <ns1:latin typeface="Tahoma"/>
                <ns1:cs typeface="Tahoma"/>
              </ns1:defRPr>
            </ns1:pPr>
            <ns1:r>
              <ns1:t>ทำ UAT และประเมินคำถามภาษาไทยจริง</ns1:t>
            </ns1:r>
          </ns1:p>
          <ns1:p>
            <ns1:pPr>
              <ns1:defRPr sz="1900">
                <ns1:solidFill>
                  <ns1:srgbClr val="294255"/>
                </ns1:solidFill>
                <ns1:latin typeface="Tahoma"/>
                <ns1:cs typeface="Tahoma"/>
              </ns1:defRPr>
            </ns1:pPr>
            <ns1:r>
              <ns1:t>ทดสอบโหลด สำรองข้อมูล และติดตามบริการ</ns1:t>
            </ns1:r>
          </ns1:p>
        </ns0:txBody>
      </ns0:sp>
      <ns0:sp>
        <ns0:nvSpPr>
          <ns0:cNvPr id="5" name="">
            <ns1:extLst>
              <ns1:ext uri="{FF2B5EF4-FFF2-40B4-BE49-F238E27FC236}">
                <ns2:creationId id="{9183EEB3-6654-436D-A38E-E7F8C21170DC}"/>
              </ns1:ext>
            </ns1:extLst>
          </ns0:cNvPr>
          <ns0:cNvSpPr>
            <ns1:spLocks noGrp="1"/>
          </ns0:cNvSpPr>
          <ns0:nvPr/>
        </ns0:nvSpPr>
        <ns0:spPr>
          <ns1:xfrm>
            <ns1:off x="7477125" y="2333625"/>
            <ns1:ext cx="3905250" cy="2381250"/>
          </ns1:xfrm>
          <ns1:prstGeom prst="rect">
            <ns1:avLst/>
          </ns1:prstGeom>
          <ns1:solidFill>
            <ns1:srgbClr val="E7F2F5"/>
          </ns1:solidFill>
          <ns1:ln w="9525">
            <ns1:solidFill>
              <ns1:srgbClr val="B8D5DD"/>
            </ns1:solidFill>
          </ns1:ln>
        </ns0:spPr>
        <ns0:txBody>
          <ns1:bodyPr/>
          <ns1:lstStyle>
            <ns1:defPPr>
              <ns1:defRPr sz="1650">
                <ns1:solidFill>
                  <ns1:srgbClr val="38616B"/>
                </ns1:solidFill>
              </ns1:defRPr>
            </ns1:defPPr>
            <ns1:lvl1pPr>
              <ns1:defRPr sz="1650">
                <ns1:solidFill>
                  <ns1:srgbClr val="38616B"/>
                </ns1:solidFill>
              </ns1:defRPr>
            </ns1:lvl1pPr>
            <ns1:lvl2pPr>
              <ns1:defRPr sz="1650">
                <ns1:solidFill>
                  <ns1:srgbClr val="38616B"/>
                </ns1:solidFill>
              </ns1:defRPr>
            </ns1:lvl2pPr>
            <ns1:lvl3pPr>
              <ns1:defRPr sz="1650">
                <ns1:solidFill>
                  <ns1:srgbClr val="38616B"/>
                </ns1:solidFill>
              </ns1:defRPr>
            </ns1:lvl3pPr>
            <ns1:lvl4pPr>
              <ns1:defRPr sz="1650">
                <ns1:solidFill>
                  <ns1:srgbClr val="38616B"/>
                </ns1:solidFill>
              </ns1:defRPr>
            </ns1:lvl4pPr>
            <ns1:lvl5pPr>
              <ns1:defRPr sz="1650">
                <ns1:solidFill>
                  <ns1:srgbClr val="38616B"/>
                </ns1:solidFill>
              </ns1:defRPr>
            </ns1:lvl5pPr>
            <ns1:lvl6pPr>
              <ns1:defRPr sz="1650">
                <ns1:solidFill>
                  <ns1:srgbClr val="38616B"/>
                </ns1:solidFill>
              </ns1:defRPr>
            </ns1:lvl6pPr>
            <ns1:lvl7pPr>
              <ns1:defRPr sz="1650">
                <ns1:solidFill>
                  <ns1:srgbClr val="38616B"/>
                </ns1:solidFill>
              </ns1:defRPr>
            </ns1:lvl7pPr>
            <ns1:lvl8pPr>
              <ns1:defRPr sz="1650">
                <ns1:solidFill>
                  <ns1:srgbClr val="38616B"/>
                </ns1:solidFill>
              </ns1:defRPr>
            </ns1:lvl8pPr>
            <ns1:lvl9pPr>
              <ns1:defRPr sz="1650">
                <ns1:solidFill>
                  <ns1:srgbClr val="38616B"/>
                </ns1:solidFill>
              </ns1:defRPr>
            </ns1:lvl9pPr>
          </ns1:lstStyle>
          <ns1:p>
            <ns1:pPr>
              <ns1:defRPr sz="1500">
                <ns1:solidFill>
                  <ns1:srgbClr val="38616B"/>
                </ns1:solidFill>
                <ns1:latin typeface="Tahoma"/>
                <ns1:cs typeface="Tahoma"/>
              </ns1:defRPr>
            </ns1:pPr>
            <ns1:r>
              <ns1:t>ภาพที่แนะนำ</ns1:t>
            </ns1:r>
          </ns1:p>
          <ns1:p>
            <ns1:pPr>
              <ns1:defRPr sz="1500">
                <ns1:solidFill>
                  <ns1:srgbClr val="38616B"/>
                </ns1:solidFill>
                <ns1:latin typeface="Tahoma"/>
                <ns1:cs typeface="Tahoma"/>
              </ns1:defRPr>
            </ns1:pPr>
            <ns1:r>
              <ns1:t/>
            </ns1:r>
          </ns1:p>
          <ns1:p>
            <ns1:pPr>
              <ns1:defRPr sz="1500">
                <ns1:solidFill>
                  <ns1:srgbClr val="38616B"/>
                </ns1:solidFill>
                <ns1:latin typeface="Tahoma"/>
                <ns1:cs typeface="Tahoma"/>
              </ns1:defRPr>
            </ns1:pPr>
            <ns1:r>
              <ns1:t>ด้านขวา: แผนพัฒนา 3 ระยะ</ns1:t>
            </ns1:r>
          </ns1:p>
          <ns1:p>
            <ns1:pPr>
              <ns1:defRPr sz="1500">
                <ns1:solidFill>
                  <ns1:srgbClr val="38616B"/>
                </ns1:solidFill>
                <ns1:latin typeface="Tahoma"/>
                <ns1:cs typeface="Tahoma"/>
              </ns1:defRPr>
            </ns1:pPr>
            <ns1:r>
              <ns1:t>ประเมินคำตอบ → ทดลองใช้ → เตรียมใช้งาน</ns1:t>
            </ns1:r>
          </ns1:p>
          <ns1:p>
            <ns1:pPr>
              <ns1:defRPr sz="1500">
                <ns1:solidFill>
                  <ns1:srgbClr val="38616B"/>
                </ns1:solidFill>
                <ns1:latin typeface="Tahoma"/>
                <ns1:cs typeface="Tahoma"/>
              </ns1:defRPr>
            </ns1:pPr>
            <ns1:r>
              <ns1:t>ติดป้ายว่าเป็นแผนงาน</ns1:t>
            </ns1:r>
          </ns1:p>
          <ns1:p>
            <ns1:pPr>
              <ns1:defRPr sz="1500">
                <ns1:solidFill>
                  <ns1:srgbClr val="38616B"/>
                </ns1:solidFill>
                <ns1:latin typeface="Tahoma"/>
                <ns1:cs typeface="Tahoma"/>
              </ns1:defRPr>
            </ns1:pPr>
            <ns1:r>
              <ns1:t>ไม่ใส่ผล UAT ที่ยังไม่ได้ยืนยัน</ns1:t>
            </ns1:r>
          </ns1:p>
        </ns0:txBody>
      </ns0:sp>
    </ns0:spTree>
    <ns0:extLst>
      <ns0:ext uri="{BB962C8B-B14F-4D97-AF65-F5344CB8AC3E}">
        <ns3:creationId val="217619157"/>
      </ns0:ext>
    </ns0:extLst>
  </ns0:cSld>
</ns0:sld>
</file>

<file path=ppt/slides/slide1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7FAFC"/>
        </ns1:solidFill>
      </ns0:bgPr>
    </ns0:bg>
    <ns0:spTree>
      <ns0:nvGrpSpPr>
        <ns0:cNvPr id="1" name=""/>
        <ns0:cNvGrpSpPr/>
        <ns0:nvPr/>
      </ns0:nvGrpSpPr>
      <ns0:grpSpPr>
        <ns1:xfrm/>
      </ns0:grpSpPr>
      <ns0:sp>
        <ns0:nvSpPr>
          <ns0:cNvPr id="2" name="">
            <ns1:extLst>
              <ns1:ext uri="{FF2B5EF4-FFF2-40B4-BE49-F238E27FC236}">
                <ns2:creationId id="{B66957BF-081C-4871-ACC0-35762224C9AA}"/>
              </ns1:ext>
            </ns1:extLst>
          </ns0:cNvPr>
          <ns0:cNvSpPr>
            <ns1:spLocks noGrp="1"/>
          </ns0:cNvSpPr>
          <ns0:nvPr/>
        </ns0:nvSpPr>
        <ns0:spPr>
          <ns1:xfrm>
            <ns1:off x="666750" y="400050"/>
            <ns1:ext cx="8572500" cy="333375"/>
          </ns1:xfrm>
          <ns1:prstGeom prst="rect">
            <ns1:avLst/>
          </ns1:prstGeom>
          <ns1:noFill/>
          <ns1:ln w="0">
            <ns1:noFill/>
          </ns1:ln>
        </ns0:spPr>
        <ns0:txBody>
          <ns1:bodyPr/>
          <ns1:lstStyle>
            <ns1:defPPr>
              <ns1:defRPr sz="1200" b="1">
                <ns1:solidFill>
                  <ns1:srgbClr val="087E95"/>
                </ns1:solidFill>
              </ns1:defRPr>
            </ns1:defPPr>
            <ns1:lvl1pPr>
              <ns1:defRPr sz="1200" b="1">
                <ns1:solidFill>
                  <ns1:srgbClr val="087E95"/>
                </ns1:solidFill>
              </ns1:defRPr>
            </ns1:lvl1pPr>
            <ns1:lvl2pPr>
              <ns1:defRPr sz="1200" b="1">
                <ns1:solidFill>
                  <ns1:srgbClr val="087E95"/>
                </ns1:solidFill>
              </ns1:defRPr>
            </ns1:lvl2pPr>
            <ns1:lvl3pPr>
              <ns1:defRPr sz="1200" b="1">
                <ns1:solidFill>
                  <ns1:srgbClr val="087E95"/>
                </ns1:solidFill>
              </ns1:defRPr>
            </ns1:lvl3pPr>
            <ns1:lvl4pPr>
              <ns1:defRPr sz="1200" b="1">
                <ns1:solidFill>
                  <ns1:srgbClr val="087E95"/>
                </ns1:solidFill>
              </ns1:defRPr>
            </ns1:lvl4pPr>
            <ns1:lvl5pPr>
              <ns1:defRPr sz="1200" b="1">
                <ns1:solidFill>
                  <ns1:srgbClr val="087E95"/>
                </ns1:solidFill>
              </ns1:defRPr>
            </ns1:lvl5pPr>
            <ns1:lvl6pPr>
              <ns1:defRPr sz="1200" b="1">
                <ns1:solidFill>
                  <ns1:srgbClr val="087E95"/>
                </ns1:solidFill>
              </ns1:defRPr>
            </ns1:lvl6pPr>
            <ns1:lvl7pPr>
              <ns1:defRPr sz="1200" b="1">
                <ns1:solidFill>
                  <ns1:srgbClr val="087E95"/>
                </ns1:solidFill>
              </ns1:defRPr>
            </ns1:lvl7pPr>
            <ns1:lvl8pPr>
              <ns1:defRPr sz="1200" b="1">
                <ns1:solidFill>
                  <ns1:srgbClr val="087E95"/>
                </ns1:solidFill>
              </ns1:defRPr>
            </ns1:lvl8pPr>
            <ns1:lvl9pPr>
              <ns1:defRPr sz="1200" b="1">
                <ns1:solidFill>
                  <ns1:srgbClr val="087E95"/>
                </ns1:solidFill>
              </ns1:defRPr>
            </ns1:lvl9pPr>
          </ns1:lstStyle>
          <ns1:p>
            <ns1:pPr>
              <ns1:defRPr sz="1400">
                <ns1:solidFill>
                  <ns1:srgbClr val="087E95"/>
                </ns1:solidFill>
                <ns1:latin typeface="Tahoma"/>
                <ns1:cs typeface="Tahoma"/>
              </ns1:defRPr>
            </ns1:pPr>
            <ns1:r>
              <ns1:t>SCOPEBOT  /  11   สรุป</ns1:t>
            </ns1:r>
          </ns1:p>
        </ns0:txBody>
      </ns0:sp>
      <ns0:sp>
        <ns0:nvSpPr>
          <ns0:cNvPr id="3" name="">
            <ns1:extLst>
              <ns1:ext uri="{FF2B5EF4-FFF2-40B4-BE49-F238E27FC236}">
                <ns2:creationId id="{00B70C52-4D63-4128-B582-90C40FD84419}"/>
              </ns1:ext>
            </ns1:extLst>
          </ns0:cNvPr>
          <ns0:cNvSpPr>
            <ns1:spLocks noGrp="1"/>
          </ns0:cNvSpPr>
          <ns0:nvPr/>
        </ns0:nvSpPr>
        <ns0:spPr>
          <ns1:xfrm>
            <ns1:off x="666750" y="1095375"/>
            <ns1:ext cx="10668000" cy="952500"/>
          </ns1:xfrm>
          <ns1:prstGeom prst="rect">
            <ns1:avLst/>
          </ns1:prstGeom>
          <ns1:noFill/>
          <ns1:ln w="0">
            <ns1:noFill/>
          </ns1:ln>
        </ns0:spPr>
        <ns0:txBody>
          <ns1:bodyPr/>
          <ns1:lstStyle>
            <ns1:defPPr>
              <ns1:defRPr sz="3000" b="1">
                <ns1:solidFill>
                  <ns1:srgbClr val="142B42"/>
                </ns1:solidFill>
              </ns1:defRPr>
            </ns1:defPPr>
            <ns1:lvl1pPr>
              <ns1:defRPr sz="3000" b="1">
                <ns1:solidFill>
                  <ns1:srgbClr val="142B42"/>
                </ns1:solidFill>
              </ns1:defRPr>
            </ns1:lvl1pPr>
            <ns1:lvl2pPr>
              <ns1:defRPr sz="3000" b="1">
                <ns1:solidFill>
                  <ns1:srgbClr val="142B42"/>
                </ns1:solidFill>
              </ns1:defRPr>
            </ns1:lvl2pPr>
            <ns1:lvl3pPr>
              <ns1:defRPr sz="3000" b="1">
                <ns1:solidFill>
                  <ns1:srgbClr val="142B42"/>
                </ns1:solidFill>
              </ns1:defRPr>
            </ns1:lvl3pPr>
            <ns1:lvl4pPr>
              <ns1:defRPr sz="3000" b="1">
                <ns1:solidFill>
                  <ns1:srgbClr val="142B42"/>
                </ns1:solidFill>
              </ns1:defRPr>
            </ns1:lvl4pPr>
            <ns1:lvl5pPr>
              <ns1:defRPr sz="3000" b="1">
                <ns1:solidFill>
                  <ns1:srgbClr val="142B42"/>
                </ns1:solidFill>
              </ns1:defRPr>
            </ns1:lvl5pPr>
            <ns1:lvl6pPr>
              <ns1:defRPr sz="3000" b="1">
                <ns1:solidFill>
                  <ns1:srgbClr val="142B42"/>
                </ns1:solidFill>
              </ns1:defRPr>
            </ns1:lvl6pPr>
            <ns1:lvl7pPr>
              <ns1:defRPr sz="3000" b="1">
                <ns1:solidFill>
                  <ns1:srgbClr val="142B42"/>
                </ns1:solidFill>
              </ns1:defRPr>
            </ns1:lvl7pPr>
            <ns1:lvl8pPr>
              <ns1:defRPr sz="3000" b="1">
                <ns1:solidFill>
                  <ns1:srgbClr val="142B42"/>
                </ns1:solidFill>
              </ns1:defRPr>
            </ns1:lvl8pPr>
            <ns1:lvl9pPr>
              <ns1:defRPr sz="3000" b="1">
                <ns1:solidFill>
                  <ns1:srgbClr val="142B42"/>
                </ns1:solidFill>
              </ns1:defRPr>
            </ns1:lvl9pPr>
          </ns1:lstStyle>
          <ns1:p>
            <ns1:pPr>
              <ns1:defRPr sz="3000">
                <ns1:solidFill>
                  <ns1:srgbClr val="142B42"/>
                </ns1:solidFill>
                <ns1:latin typeface="Tahoma"/>
                <ns1:cs typeface="Tahoma"/>
              </ns1:defRPr>
            </ns1:pPr>
            <ns1:r>
              <ns1:t>ScopeBot</ns1:t>
            </ns1:r>
          </ns1:p>
        </ns0:txBody>
      </ns0:sp>
      <ns0:sp>
        <ns0:nvSpPr>
          <ns0:cNvPr id="4" name="">
            <ns1:extLst>
              <ns1:ext uri="{FF2B5EF4-FFF2-40B4-BE49-F238E27FC236}">
                <ns2:creationId id="{E18258B5-05D9-498E-823C-12C4EB5F912E}"/>
              </ns1:ext>
            </ns1:extLst>
          </ns0:cNvPr>
          <ns0:cNvSpPr>
            <ns1:spLocks noGrp="1"/>
          </ns0:cNvSpPr>
          <ns0:nvPr/>
        </ns0:nvSpPr>
        <ns0:spPr>
          <ns1:xfrm>
            <ns1:off x="714375" y="2238375"/>
            <ns1:ext cx="6191250" cy="3905250"/>
          </ns1:xfrm>
          <ns1:prstGeom prst="rect">
            <ns1:avLst/>
          </ns1:prstGeom>
          <ns1:noFill/>
          <ns1:ln w="0">
            <ns1:noFill/>
          </ns1:ln>
        </ns0:spPr>
        <ns0:txBody>
          <ns1:bodyPr/>
          <ns1:lstStyle>
            <ns1:defPPr>
              <ns1:defRPr sz="1875" b="0">
                <ns1:solidFill>
                  <ns1:srgbClr val="294255"/>
                </ns1:solidFill>
              </ns1:defRPr>
            </ns1:defPPr>
            <ns1:lvl1pPr>
              <ns1:defRPr sz="1875" b="0">
                <ns1:solidFill>
                  <ns1:srgbClr val="294255"/>
                </ns1:solidFill>
              </ns1:defRPr>
            </ns1:lvl1pPr>
            <ns1:lvl2pPr>
              <ns1:defRPr sz="1875" b="0">
                <ns1:solidFill>
                  <ns1:srgbClr val="294255"/>
                </ns1:solidFill>
              </ns1:defRPr>
            </ns1:lvl2pPr>
            <ns1:lvl3pPr>
              <ns1:defRPr sz="1875" b="0">
                <ns1:solidFill>
                  <ns1:srgbClr val="294255"/>
                </ns1:solidFill>
              </ns1:defRPr>
            </ns1:lvl3pPr>
            <ns1:lvl4pPr>
              <ns1:defRPr sz="1875" b="0">
                <ns1:solidFill>
                  <ns1:srgbClr val="294255"/>
                </ns1:solidFill>
              </ns1:defRPr>
            </ns1:lvl4pPr>
            <ns1:lvl5pPr>
              <ns1:defRPr sz="1875" b="0">
                <ns1:solidFill>
                  <ns1:srgbClr val="294255"/>
                </ns1:solidFill>
              </ns1:defRPr>
            </ns1:lvl5pPr>
            <ns1:lvl6pPr>
              <ns1:defRPr sz="1875" b="0">
                <ns1:solidFill>
                  <ns1:srgbClr val="294255"/>
                </ns1:solidFill>
              </ns1:defRPr>
            </ns1:lvl6pPr>
            <ns1:lvl7pPr>
              <ns1:defRPr sz="1875" b="0">
                <ns1:solidFill>
                  <ns1:srgbClr val="294255"/>
                </ns1:solidFill>
              </ns1:defRPr>
            </ns1:lvl7pPr>
            <ns1:lvl8pPr>
              <ns1:defRPr sz="1875" b="0">
                <ns1:solidFill>
                  <ns1:srgbClr val="294255"/>
                </ns1:solidFill>
              </ns1:defRPr>
            </ns1:lvl8pPr>
            <ns1:lvl9pPr>
              <ns1:defRPr sz="1875" b="0">
                <ns1:solidFill>
                  <ns1:srgbClr val="294255"/>
                </ns1:solidFill>
              </ns1:defRPr>
            </ns1:lvl9pPr>
          </ns1:lstStyle>
          <ns1:p>
            <ns1:pPr>
              <ns1:defRPr sz="1900">
                <ns1:solidFill>
                  <ns1:srgbClr val="294255"/>
                </ns1:solidFill>
                <ns1:latin typeface="Tahoma"/>
                <ns1:cs typeface="Tahoma"/>
              </ns1:defRPr>
            </ns1:pPr>
            <ns1:r>
              <ns1:t>นำความรู้ในเอกสารมาใช้ผ่านการสนทนา</ns1:t>
            </ns1:r>
          </ns1:p>
          <ns1:p>
            <ns1:pPr>
              <ns1:defRPr sz="1900">
                <ns1:solidFill>
                  <ns1:srgbClr val="294255"/>
                </ns1:solidFill>
                <ns1:latin typeface="Tahoma"/>
                <ns1:cs typeface="Tahoma"/>
              </ns1:defRPr>
            </ns1:pPr>
            <ns1:r>
              <ns1:t>รองรับหลายบอทและช่องทาง Web / LINE</ns1:t>
            </ns1:r>
          </ns1:p>
          <ns1:p>
            <ns1:pPr>
              <ns1:defRPr sz="1900">
                <ns1:solidFill>
                  <ns1:srgbClr val="294255"/>
                </ns1:solidFill>
                <ns1:latin typeface="Tahoma"/>
                <ns1:cs typeface="Tahoma"/>
              </ns1:defRPr>
            </ns1:pPr>
            <ns1:r>
              <ns1:t>มีหลักฐานประกอบและให้คนรับช่วงได้</ns1:t>
            </ns1:r>
          </ns1:p>
          <ns1:p>
            <ns1:pPr>
              <ns1:defRPr sz="1900">
                <ns1:solidFill>
                  <ns1:srgbClr val="294255"/>
                </ns1:solidFill>
                <ns1:latin typeface="Tahoma"/>
                <ns1:cs typeface="Tahoma"/>
              </ns1:defRPr>
            </ns1:pPr>
            <ns1:r>
              <ns1:t>ขั้นต่อไป: ประเมินกับผู้ใช้และงานจริง</ns1:t>
            </ns1:r>
          </ns1:p>
        </ns0:txBody>
      </ns0:sp>
      <ns0:sp>
        <ns0:nvSpPr>
          <ns0:cNvPr id="5" name="">
            <ns1:extLst>
              <ns1:ext uri="{FF2B5EF4-FFF2-40B4-BE49-F238E27FC236}">
                <ns2:creationId id="{F79C26B8-C4B2-4BA1-A8CE-8B08C422D195}"/>
              </ns1:ext>
            </ns1:extLst>
          </ns0:cNvPr>
          <ns0:cNvSpPr>
            <ns1:spLocks noGrp="1"/>
          </ns0:cNvSpPr>
          <ns0:nvPr/>
        </ns0:nvSpPr>
        <ns0:spPr>
          <ns1:xfrm>
            <ns1:off x="7477125" y="2333625"/>
            <ns1:ext cx="3905250" cy="2381250"/>
          </ns1:xfrm>
          <ns1:prstGeom prst="rect">
            <ns1:avLst/>
          </ns1:prstGeom>
          <ns1:solidFill>
            <ns1:srgbClr val="E7F2F5"/>
          </ns1:solidFill>
          <ns1:ln w="9525">
            <ns1:solidFill>
              <ns1:srgbClr val="B8D5DD"/>
            </ns1:solidFill>
          </ns1:ln>
        </ns0:spPr>
        <ns0:txBody>
          <ns1:bodyPr/>
          <ns1:lstStyle>
            <ns1:defPPr>
              <ns1:defRPr sz="1650">
                <ns1:solidFill>
                  <ns1:srgbClr val="38616B"/>
                </ns1:solidFill>
              </ns1:defRPr>
            </ns1:defPPr>
            <ns1:lvl1pPr>
              <ns1:defRPr sz="1650">
                <ns1:solidFill>
                  <ns1:srgbClr val="38616B"/>
                </ns1:solidFill>
              </ns1:defRPr>
            </ns1:lvl1pPr>
            <ns1:lvl2pPr>
              <ns1:defRPr sz="1650">
                <ns1:solidFill>
                  <ns1:srgbClr val="38616B"/>
                </ns1:solidFill>
              </ns1:defRPr>
            </ns1:lvl2pPr>
            <ns1:lvl3pPr>
              <ns1:defRPr sz="1650">
                <ns1:solidFill>
                  <ns1:srgbClr val="38616B"/>
                </ns1:solidFill>
              </ns1:defRPr>
            </ns1:lvl3pPr>
            <ns1:lvl4pPr>
              <ns1:defRPr sz="1650">
                <ns1:solidFill>
                  <ns1:srgbClr val="38616B"/>
                </ns1:solidFill>
              </ns1:defRPr>
            </ns1:lvl4pPr>
            <ns1:lvl5pPr>
              <ns1:defRPr sz="1650">
                <ns1:solidFill>
                  <ns1:srgbClr val="38616B"/>
                </ns1:solidFill>
              </ns1:defRPr>
            </ns1:lvl5pPr>
            <ns1:lvl6pPr>
              <ns1:defRPr sz="1650">
                <ns1:solidFill>
                  <ns1:srgbClr val="38616B"/>
                </ns1:solidFill>
              </ns1:defRPr>
            </ns1:lvl6pPr>
            <ns1:lvl7pPr>
              <ns1:defRPr sz="1650">
                <ns1:solidFill>
                  <ns1:srgbClr val="38616B"/>
                </ns1:solidFill>
              </ns1:defRPr>
            </ns1:lvl7pPr>
            <ns1:lvl8pPr>
              <ns1:defRPr sz="1650">
                <ns1:solidFill>
                  <ns1:srgbClr val="38616B"/>
                </ns1:solidFill>
              </ns1:defRPr>
            </ns1:lvl8pPr>
            <ns1:lvl9pPr>
              <ns1:defRPr sz="1650">
                <ns1:solidFill>
                  <ns1:srgbClr val="38616B"/>
                </ns1:solidFill>
              </ns1:defRPr>
            </ns1:lvl9pPr>
          </ns1:lstStyle>
          <ns1:p>
            <ns1:pPr>
              <ns1:defRPr sz="1500">
                <ns1:solidFill>
                  <ns1:srgbClr val="38616B"/>
                </ns1:solidFill>
                <ns1:latin typeface="Tahoma"/>
                <ns1:cs typeface="Tahoma"/>
              </ns1:defRPr>
            </ns1:pPr>
            <ns1:r>
              <ns1:t>ภาพที่แนะนำ</ns1:t>
            </ns1:r>
          </ns1:p>
          <ns1:p>
            <ns1:pPr>
              <ns1:defRPr sz="1500">
                <ns1:solidFill>
                  <ns1:srgbClr val="38616B"/>
                </ns1:solidFill>
                <ns1:latin typeface="Tahoma"/>
                <ns1:cs typeface="Tahoma"/>
              </ns1:defRPr>
            </ns1:pPr>
            <ns1:r>
              <ns1:t/>
            </ns1:r>
          </ns1:p>
          <ns1:p>
            <ns1:pPr>
              <ns1:defRPr sz="1500">
                <ns1:solidFill>
                  <ns1:srgbClr val="38616B"/>
                </ns1:solidFill>
                <ns1:latin typeface="Tahoma"/>
                <ns1:cs typeface="Tahoma"/>
              </ns1:defRPr>
            </ns1:pPr>
            <ns1:r>
              <ns1:t>ด้านขวา: โลโก้หรือภาพทีมผู้จัดทำ</ns1:t>
            </ns1:r>
          </ns1:p>
          <ns1:p>
            <ns1:pPr>
              <ns1:defRPr sz="1500">
                <ns1:solidFill>
                  <ns1:srgbClr val="38616B"/>
                </ns1:solidFill>
                <ns1:latin typeface="Tahoma"/>
                <ns1:cs typeface="Tahoma"/>
              </ns1:defRPr>
            </ns1:pPr>
            <ns1:r>
              <ns1:t>เพิ่มชื่อสมาชิกและช่องทางติดต่อจริง</ns1:t>
            </ns1:r>
          </ns1:p>
          <ns1:p>
            <ns1:pPr>
              <ns1:defRPr sz="1500">
                <ns1:solidFill>
                  <ns1:srgbClr val="38616B"/>
                </ns1:solidFill>
                <ns1:latin typeface="Tahoma"/>
                <ns1:cs typeface="Tahoma"/>
              </ns1:defRPr>
            </ns1:pPr>
            <ns1:r>
              <ns1:t>พื้นที่ท้ายหน้า: Q&amp;A</ns1:t>
            </ns1:r>
          </ns1:p>
        </ns0:txBody>
      </ns0:sp>
    </ns0:spTree>
    <ns0:extLst>
      <ns0:ext uri="{BB962C8B-B14F-4D97-AF65-F5344CB8AC3E}">
        <ns3:creationId val="167846991"/>
      </ns0:ext>
    </ns0:extLst>
  </ns0:cSld>
</ns0: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66957BF-081C-4871-ACC0-35762224C9AA}"/>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12</a:t>
            </a:r>
          </a:p>
        </p:txBody>
      </p:sp>
      <p:sp>
        <p:nvSpPr>
          <p:cNvPr id="3" name="">
            <a:extLst xmlns:a="http://schemas.openxmlformats.org/drawingml/2006/main">
              <a:ext uri="{FF2B5EF4-FFF2-40B4-BE49-F238E27FC236}">
                <a16:creationId xmlns:a16="http://schemas.microsoft.com/office/drawing/2014/main" id="{00B70C52-4D63-4128-B582-90C40FD84419}"/>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B42"/>
                </a:solidFill>
              </a:defRPr>
            </a:defPPr>
            <a:lvl1pPr>
              <a:defRPr sz="3000" b="1">
                <a:solidFill>
                  <a:srgbClr val="142B42"/>
                </a:solidFill>
              </a:defRPr>
            </a:lvl1pPr>
            <a:lvl2pPr>
              <a:defRPr sz="3000" b="1">
                <a:solidFill>
                  <a:srgbClr val="142B42"/>
                </a:solidFill>
              </a:defRPr>
            </a:lvl2pPr>
            <a:lvl3pPr>
              <a:defRPr sz="3000" b="1">
                <a:solidFill>
                  <a:srgbClr val="142B42"/>
                </a:solidFill>
              </a:defRPr>
            </a:lvl3pPr>
            <a:lvl4pPr>
              <a:defRPr sz="3000" b="1">
                <a:solidFill>
                  <a:srgbClr val="142B42"/>
                </a:solidFill>
              </a:defRPr>
            </a:lvl4pPr>
            <a:lvl5pPr>
              <a:defRPr sz="3000" b="1">
                <a:solidFill>
                  <a:srgbClr val="142B42"/>
                </a:solidFill>
              </a:defRPr>
            </a:lvl5pPr>
            <a:lvl6pPr>
              <a:defRPr sz="3000" b="1">
                <a:solidFill>
                  <a:srgbClr val="142B42"/>
                </a:solidFill>
              </a:defRPr>
            </a:lvl6pPr>
            <a:lvl7pPr>
              <a:defRPr sz="3000" b="1">
                <a:solidFill>
                  <a:srgbClr val="142B42"/>
                </a:solidFill>
              </a:defRPr>
            </a:lvl7pPr>
            <a:lvl8pPr>
              <a:defRPr sz="3000" b="1">
                <a:solidFill>
                  <a:srgbClr val="142B42"/>
                </a:solidFill>
              </a:defRPr>
            </a:lvl8pPr>
            <a:lvl9pPr>
              <a:defRPr sz="3000" b="1">
                <a:solidFill>
                  <a:srgbClr val="142B42"/>
                </a:solidFill>
              </a:defRPr>
            </a:lvl9pPr>
          </a:lstStyle>
          <a:p xmlns:a="http://schemas.openxmlformats.org/drawingml/2006/main">
            <a:pPr>
              <a:defRPr sz="3000" b="1">
                <a:solidFill>
                  <a:srgbClr val="142B42"/>
                </a:solidFill>
              </a:defRPr>
            </a:pPr>
            <a:r>
              <a:rPr sz="3000" b="1">
                <a:solidFill>
                  <a:srgbClr val="142B42"/>
                </a:solidFill>
              </a:rPr>
              <a:t>สรุปและคำถาม</a:t>
            </a:r>
          </a:p>
        </p:txBody>
      </p:sp>
      <p:sp>
        <p:nvSpPr>
          <p:cNvPr id="4" name="">
            <a:extLst xmlns:a="http://schemas.openxmlformats.org/drawingml/2006/main">
              <a:ext uri="{FF2B5EF4-FFF2-40B4-BE49-F238E27FC236}">
                <a16:creationId xmlns:a16="http://schemas.microsoft.com/office/drawing/2014/main" id="{E18258B5-05D9-498E-823C-12C4EB5F912E}"/>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เอกสารองค์กรเป็นแหล่งความรู้</a:t>
            </a:r>
          </a:p>
          <a:p xmlns:a="http://schemas.openxmlformats.org/drawingml/2006/main">
            <a:pPr>
              <a:defRPr sz="1875" b="0">
                <a:solidFill>
                  <a:srgbClr val="294255"/>
                </a:solidFill>
              </a:defRPr>
            </a:pPr>
            <a:r>
              <a:t>RAG ช่วยค้นข้อมูลประกอบคำตอบ</a:t>
            </a:r>
          </a:p>
          <a:p xmlns:a="http://schemas.openxmlformats.org/drawingml/2006/main">
            <a:pPr>
              <a:defRPr sz="1875" b="0">
                <a:solidFill>
                  <a:srgbClr val="294255"/>
                </a:solidFill>
              </a:defRPr>
            </a:pPr>
            <a:r>
              <a:rPr sz="1875" b="0">
                <a:solidFill>
                  <a:srgbClr val="294255"/>
                </a:solidFill>
              </a:rPr>
              <a:t>Web และ LINE เป็นช่องทางใช้งาน</a:t>
            </a:r>
          </a:p>
          <a:p xmlns:a="http://schemas.openxmlformats.org/drawingml/2006/main">
            <a:pPr>
              <a:defRPr sz="1875" b="0">
                <a:solidFill>
                  <a:srgbClr val="294255"/>
                </a:solidFill>
              </a:defRPr>
            </a:pPr>
            <a:r>
              <a:t>เจ้าของบอทรับช่วงเมื่อผู้ใช้ต้องการ</a:t>
            </a:r>
          </a:p>
        </p:txBody>
      </p:sp>
      <p:sp>
        <p:nvSpPr>
          <p:cNvPr id="5" name="">
            <a:extLst xmlns:a="http://schemas.openxmlformats.org/drawingml/2006/main">
              <a:ext uri="{FF2B5EF4-FFF2-40B4-BE49-F238E27FC236}">
                <a16:creationId xmlns:a16="http://schemas.microsoft.com/office/drawing/2014/main" id="{F79C26B8-C4B2-4BA1-A8CE-8B08C422D195}"/>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โลโก้ ScopeBot หรือภาพทีม</a:t>
            </a:r>
          </a:p>
          <a:p xmlns:a="http://schemas.openxmlformats.org/drawingml/2006/main">
            <a:pPr>
              <a:defRPr sz="1650">
                <a:solidFill>
                  <a:srgbClr val="38616B"/>
                </a:solidFill>
              </a:defRPr>
            </a:pPr>
            <a:r>
              <a:rPr sz="1650">
                <a:solidFill>
                  <a:srgbClr val="38616B"/>
                </a:solidFill>
              </a:rPr>
              <a:t>วางด้านขวา เพิ่มชื่อสมาชิกจริงได้</a:t>
            </a:r>
          </a:p>
          <a:p xmlns:a="http://schemas.openxmlformats.org/drawingml/2006/main">
            <a:pPr>
              <a:defRPr sz="1650">
                <a:solidFill>
                  <a:srgbClr val="38616B"/>
                </a:solidFill>
              </a:defRPr>
            </a:pPr>
            <a:r>
              <a:rPr sz="1650">
                <a:solidFill>
                  <a:srgbClr val="38616B"/>
                </a:solidFill>
              </a:rPr>
              <a:t>ตรวจชื่อและช่องทางติดต่อก่อนเผยแพร่</a:t>
            </a:r>
          </a:p>
        </p:txBody>
      </p:sp>
    </p:spTree>
    <p:extLst>
      <p:ext uri="{BB962C8B-B14F-4D97-AF65-F5344CB8AC3E}">
        <p14:creationId xmlns:p14="http://schemas.microsoft.com/office/powerpoint/2010/main" val="1678469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2026-10-28T20:32:24.7940000Z</dcterms:created>
  <dcterms:modified xsi:type="dcterms:W3CDTF">2026-10-28T20:32:24.7940000Z</dcterms:modified>
</coreProperties>
</file>