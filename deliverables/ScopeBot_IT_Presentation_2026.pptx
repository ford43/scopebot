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fb184f137a4c69" /><Relationship Type="http://schemas.openxmlformats.org/officeDocument/2006/relationships/extended-properties" Target="/docProps/app.xml" Id="Rc723b1ecf9a44cbb" /><Relationship Type="http://schemas.openxmlformats.org/officeDocument/2006/relationships/officeDocument" Target="/ppt/presentation.xml" Id="Ra7e12bea272b4f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9a05de63b64352"/>
  </p:sldMasterIdLst>
  <p:notesMasterIdLst>
    <p:notesMasterId xmlns:r="http://schemas.openxmlformats.org/officeDocument/2006/relationships" r:id="R1bf6dd006be44cce"/>
  </p:notesMasterIdLst>
  <p:sldIdLst>
    <p:sldId xmlns:r="http://schemas.openxmlformats.org/officeDocument/2006/relationships" id="256" r:id="Rf9f5008465d647be"/>
    <p:sldId xmlns:r="http://schemas.openxmlformats.org/officeDocument/2006/relationships" id="257" r:id="R9ade4fafa7d3493d"/>
    <p:sldId xmlns:r="http://schemas.openxmlformats.org/officeDocument/2006/relationships" id="258" r:id="R216c1a3266f845ab"/>
    <p:sldId xmlns:r="http://schemas.openxmlformats.org/officeDocument/2006/relationships" id="259" r:id="R0f75b32412d948fa"/>
    <p:sldId xmlns:r="http://schemas.openxmlformats.org/officeDocument/2006/relationships" id="260" r:id="R927b20ec5d334923"/>
    <p:sldId xmlns:r="http://schemas.openxmlformats.org/officeDocument/2006/relationships" id="261" r:id="R72a9f6bc26aa4fd9"/>
    <p:sldId xmlns:r="http://schemas.openxmlformats.org/officeDocument/2006/relationships" id="262" r:id="Ra05061da8b854c1c"/>
    <p:sldId xmlns:r="http://schemas.openxmlformats.org/officeDocument/2006/relationships" id="263" r:id="R5397630889a546f5"/>
    <p:sldId xmlns:r="http://schemas.openxmlformats.org/officeDocument/2006/relationships" id="264" r:id="R173a2b9c4acb43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0749c2dd8d4687" /><Relationship Type="http://schemas.openxmlformats.org/officeDocument/2006/relationships/slideMaster" Target="/ppt/slideMasters/slideMaster1.xml" Id="R9f9a05de63b64352" /><Relationship Type="http://schemas.openxmlformats.org/officeDocument/2006/relationships/notesMaster" Target="/ppt/notesMasters/notesMaster1.xml" Id="R1bf6dd006be44cce" /><Relationship Type="http://schemas.openxmlformats.org/officeDocument/2006/relationships/presProps" Target="/ppt/presProps.xml" Id="R23f2614ef62848df" /><Relationship Type="http://schemas.openxmlformats.org/officeDocument/2006/relationships/tableStyles" Target="/ppt/tableStyles.xml" Id="R88b5f38b4c224066" /><Relationship Type="http://schemas.openxmlformats.org/officeDocument/2006/relationships/slide" Target="/ppt/slides/slide1.xml" Id="Rf9f5008465d647be" /><Relationship Type="http://schemas.openxmlformats.org/officeDocument/2006/relationships/slide" Target="/ppt/slides/slide2.xml" Id="R9ade4fafa7d3493d" /><Relationship Type="http://schemas.openxmlformats.org/officeDocument/2006/relationships/slide" Target="/ppt/slides/slide3.xml" Id="R216c1a3266f845ab" /><Relationship Type="http://schemas.openxmlformats.org/officeDocument/2006/relationships/slide" Target="/ppt/slides/slide4.xml" Id="R0f75b32412d948fa" /><Relationship Type="http://schemas.openxmlformats.org/officeDocument/2006/relationships/slide" Target="/ppt/slides/slide5.xml" Id="R927b20ec5d334923" /><Relationship Type="http://schemas.openxmlformats.org/officeDocument/2006/relationships/slide" Target="/ppt/slides/slide6.xml" Id="R72a9f6bc26aa4fd9" /><Relationship Type="http://schemas.openxmlformats.org/officeDocument/2006/relationships/slide" Target="/ppt/slides/slide7.xml" Id="Ra05061da8b854c1c" /><Relationship Type="http://schemas.openxmlformats.org/officeDocument/2006/relationships/slide" Target="/ppt/slides/slide8.xml" Id="R5397630889a546f5" /><Relationship Type="http://schemas.openxmlformats.org/officeDocument/2006/relationships/slide" Target="/ppt/slides/slide9.xml" Id="R173a2b9c4acb43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c119cb1e6a45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415a131547440a" /><Relationship Type="http://schemas.openxmlformats.org/officeDocument/2006/relationships/notesMaster" Target="/ppt/notesMasters/notesMaster1.xml" Id="Rd40ed0fbb02e47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ef005136a0448c" /><Relationship Type="http://schemas.openxmlformats.org/officeDocument/2006/relationships/notesMaster" Target="/ppt/notesMasters/notesMaster1.xml" Id="Rf3d4a4e9b7ec4d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767da1a34444bd" /><Relationship Type="http://schemas.openxmlformats.org/officeDocument/2006/relationships/notesMaster" Target="/ppt/notesMasters/notesMaster1.xml" Id="Rcb01974cfa2a43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52d61853fd43f5" /><Relationship Type="http://schemas.openxmlformats.org/officeDocument/2006/relationships/notesMaster" Target="/ppt/notesMasters/notesMaster1.xml" Id="R8000106ab3464a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af6341c31f4ea9" /><Relationship Type="http://schemas.openxmlformats.org/officeDocument/2006/relationships/notesMaster" Target="/ppt/notesMasters/notesMaster1.xml" Id="Rd1275bbed6c742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5da11df3f644a1" /><Relationship Type="http://schemas.openxmlformats.org/officeDocument/2006/relationships/notesMaster" Target="/ppt/notesMasters/notesMaster1.xml" Id="R76bccf593bec48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7628e9f7d8444a" /><Relationship Type="http://schemas.openxmlformats.org/officeDocument/2006/relationships/notesMaster" Target="/ppt/notesMasters/notesMaster1.xml" Id="R114e486102554f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8f9795db534566" /><Relationship Type="http://schemas.openxmlformats.org/officeDocument/2006/relationships/notesMaster" Target="/ppt/notesMasters/notesMaster1.xml" Id="Re99955ec01614d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d2f4d880cd46ac" /><Relationship Type="http://schemas.openxmlformats.org/officeDocument/2006/relationships/notesMaster" Target="/ppt/notesMasters/notesMaster1.xml" Id="Re120881e7e4a49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Scopebot README.md; .env.example; user-supplied ScopeBot.pdf.pdf used only as visual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Features and project structure; repository source under src/app, api, rag.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Tech Stack and Docker deployment section; docker-compose.yml; .env.example.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.env.example values TOP_K=5, CHUNK_SIZE=1000, CHUNK_OVERLAP=200, EMBEDDING_MODEL=BAAI/bge-m3; api/routers/documents.py; README.md regression-test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Features; api/routers/live_chat.py; api/chat_history.py; src/app/components/admin/SearchHistory.tsx.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Features and production checklist; .env.example JWT/CORS/DEBUG settings; api/auth.py.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Deploy with Docker + Cloudflare Tunnel; Production checklist; .env.example OLLAMA_HOST.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Company pilot checklist and production checklist; .env.example.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all content derived from Scopebot repository files and user-supplied PDF visual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77dadb01a47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73759f748a456c" /><Relationship Type="http://schemas.openxmlformats.org/officeDocument/2006/relationships/slideLayout" Target="/ppt/slideLayouts/slideLayout1.xml" Id="R4dee0ef8eace41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ee0ef8eace41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d3532b9464950" /><Relationship Type="http://schemas.openxmlformats.org/officeDocument/2006/relationships/notesSlide" Target="/ppt/notesSlides/notesSlide1.xml" Id="Rfe17b839126943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01c253a7a4cc6" /><Relationship Type="http://schemas.openxmlformats.org/officeDocument/2006/relationships/notesSlide" Target="/ppt/notesSlides/notesSlide2.xml" Id="R3f6d9ed4bef448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d5857c5b1441f" /><Relationship Type="http://schemas.openxmlformats.org/officeDocument/2006/relationships/notesSlide" Target="/ppt/notesSlides/notesSlide3.xml" Id="Rc10ebd9c697f4d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5a4103bf14f65" /><Relationship Type="http://schemas.openxmlformats.org/officeDocument/2006/relationships/notesSlide" Target="/ppt/notesSlides/notesSlide4.xml" Id="R10278f334fd546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3dd21b0e44edd" /><Relationship Type="http://schemas.openxmlformats.org/officeDocument/2006/relationships/notesSlide" Target="/ppt/notesSlides/notesSlide5.xml" Id="R4ffd66cb09ce4a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490dd9a2c494f" /><Relationship Type="http://schemas.openxmlformats.org/officeDocument/2006/relationships/notesSlide" Target="/ppt/notesSlides/notesSlide6.xml" Id="R75158fdda45c4c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1518ade274638" /><Relationship Type="http://schemas.openxmlformats.org/officeDocument/2006/relationships/notesSlide" Target="/ppt/notesSlides/notesSlide7.xml" Id="Re1cfa7b618e445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7713d241f4390" /><Relationship Type="http://schemas.openxmlformats.org/officeDocument/2006/relationships/notesSlide" Target="/ppt/notesSlides/notesSlide8.xml" Id="R92c7ca19766b45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340573d894cb7" /><Relationship Type="http://schemas.openxmlformats.org/officeDocument/2006/relationships/notesSlide" Target="/ppt/notesSlides/notesSlide9.xml" Id="Rbaa6d88b466e42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6A655-21E4-45EE-B3D9-0AC23E75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654E5-EF60-4553-9F83-CEECB43C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6D06E-3DCC-484E-835E-7398FB17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71550"/>
            <a:ext cx="1752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DDAC5-BC6B-41F6-B45B-E1A8535E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0B12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080B12"/>
                </a:solidFill>
                <a:latin typeface="Leelawadee UI"/>
                <a:ea typeface="Leelawadee UI"/>
                <a:cs typeface="Leelawadee UI"/>
              </a:rPr>
              <a:t>IT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F6F9B-8987-4CEC-B297-D8EC9388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defRPr>
            </a:pPr>
            <a:r>
              <a:rPr sz="49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rPr>
              <a:t>ScopeBot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42DE8-EA4F-41A7-B987-E340F1F2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666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270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แพลตฟอร์ม AI Chatbot</a:t>
            </a:r>
          </a:p>
          <a:p xmlns:a="http://schemas.openxmlformats.org/drawingml/2006/main">
            <a:pPr algn="l">
              <a:defRPr sz="270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270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สำหรับความรู้ภายในองค์กร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4CC0B-EE0E-4E9D-AABD-027C1D8E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เอกสารองค์กร  •  คำตอบด้วย RAG  •  ส่งต่อเจ้าหน้าที่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565B7-F94D-4AD7-92D8-E5E88F79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095375"/>
            <a:ext cx="24574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FA699-1179-4DA2-9F36-D1929B8D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00175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44"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A45AF4"/>
                </a:solidFill>
                <a:latin typeface="Leelawadee UI"/>
                <a:ea typeface="Leelawadee UI"/>
                <a:cs typeface="Leelawadee UI"/>
              </a:defRPr>
            </a:pPr>
            <a:r>
              <a:rPr sz="4500" b="1">
                <a:solidFill>
                  <a:srgbClr val="A45AF4"/>
                </a:solidFill>
                <a:latin typeface="Leelawadee UI"/>
                <a:ea typeface="Leelawadee UI"/>
                <a:cs typeface="Leelawadee UI"/>
              </a:rPr>
              <a:t>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77EAA-4564-4B12-B2E2-0CA8CBC3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247900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rPr>
              <a:t>Knowledge</a:t>
            </a:r>
          </a:p>
          <a:p xmlns:a="http://schemas.openxmlformats.org/drawingml/2006/main">
            <a:pPr algn="ctr">
              <a:defRPr sz="19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rPr>
              <a:t>Assistant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8A0BF-D0F1-4893-B929-10918B64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339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63304-FB44-42F2-B721-89C072B7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สรุปสำหรับฝ่ายเทคโนโลยีสารสนเทศ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C5B93-6598-4D83-83C0-675D2678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8578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17 กันยายน 2569</a:t>
            </a:r>
          </a:p>
        </p:txBody>
      </p:sp>
    </p:spTree>
    <p:extLst>
      <p:ext uri="{BB962C8B-B14F-4D97-AF65-F5344CB8AC3E}">
        <p14:creationId xmlns:p14="http://schemas.microsoft.com/office/powerpoint/2010/main" val="1229528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AD2A5F-3C22-4954-A96D-F8E497C4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rPr>
              <a:t>ขอบเขตของ ScopeBot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FB56D-D49D-409D-BE54-FBD99125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ระบบตอบคำถามจากเอกสารองค์กร พร้อมช่องทางสนทนาและการส่งต่อเจ้าหน้าที่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C1245-39AC-4836-92E2-3830A1E4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09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E7528-29B8-4ECB-ACA1-58395091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5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ScopeBot  |  IT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A3928-DC90-4901-A52A-B85C925B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49AE0-BE00-4732-B16D-3231D743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D021A-1291-4D13-9C37-9A42F0DD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2838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Knowledge chatbot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796A5-0901-4D9B-B3BB-E6C69E75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838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สร้างบอทได้หลายตัว และผูกเอกสารความรู้ให้แต่ละบอท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57628-FE60-4DF0-BF1C-069AE3D1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66900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0CF0B-E056-4CEC-A1DB-86FCCD0F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669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BF339-B96E-4155-8E37-9134910A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57400"/>
            <a:ext cx="2838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RAG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527A3-85B3-4793-92B7-1C89C745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19350"/>
            <a:ext cx="2838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แยกข้อความจากเอกสาร สร้าง embedding ค้นหาส่วนที่เกี่ยวข้อง แล้วส่งบริบทให้โมเดล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E688A-3509-47C7-B7FE-D4BEE40E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66900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447C4-5DA5-4B5A-B166-574E0D77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669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546C7-707B-4A7A-82C8-2B92FB63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2838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Live 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8BB63-625A-47BA-B600-9346DEE5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2838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ส่งต่อบทสนทนาให้เจ้าหน้าที่เมื่อผู้ใช้ขอความช่วยเหลือหรือบอทตอบไม่ได้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AA795-CBF5-46A0-AD53-AC4A7C8B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7442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BFF12-C6A5-4BFC-BF5B-A68EB4BB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29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rPr>
              <a:t>ช่องทางที่รองรับ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112A5-2C61-4B47-8EB3-6A9D308B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182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Web chat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984E3-7591-475A-9DDE-F712F910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LINE webhook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6C39D-05BF-45CE-8E99-61DF2D4A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1485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Admin workspace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82AC6F-EB3C-456E-97DA-4B1C2D09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ระบบมี dashboard, การจัดการบอท, เอกสาร, ผู้ใช้ และประวัติสนทนา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4E1A75-B849-4019-9C60-208BBCD4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F69A2F-CB73-4E95-8C50-4ABE64E6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389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rPr>
              <a:t>ข้อมูลจากโค้ดและคู่มือโปรเจค ScopeBot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BC27D2-399C-4390-8FF8-ECB4113B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389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0457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745F67-463D-4EA1-BBE3-31CC481D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rPr>
              <a:t>สถาปัตยกรรมปัจจุบัน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B0EE6-4541-479D-942E-4BFAE8C2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องค์ประกอบที่ตรวจพบในโปรเจคและเส้นทางข้อมูลหลัก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A9F27-A031-45E7-9A4C-106BE282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09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7A397-5BA5-4EA3-866F-0101C5B6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5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ScopeBot  |  IT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492B0-11FF-483D-B193-89CBA2C3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ACF61-3D48-44BC-8E8A-511975BA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91039-579A-4218-AF95-ED55F2EE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86000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Web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C29AB-47BC-4DBA-A90A-C54D7B37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198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React + Vite</a:t>
            </a:r>
          </a:p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Tailwind CSS, shadcn/Radix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7423B-1C3E-4694-B8D3-27EDAAB3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53722-C1F4-4780-AA9B-56F97922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8F1E6-05A1-44C8-A5C3-958C682C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86000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API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E7EEE-E546-4813-9193-7AE322F6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47950"/>
            <a:ext cx="198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FastAPI</a:t>
            </a:r>
          </a:p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SQLAlchemy + Alembic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40C2C-3EDB-4F2D-B8CF-604140D8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3B2B3-526E-4876-A1A2-E829871D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976B9-7825-4173-9C64-90BD9BC6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RAG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8FD1B-4C5D-46F9-B284-6E860829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47950"/>
            <a:ext cx="198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Ollama + BGE-M3</a:t>
            </a:r>
          </a:p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ChromaDB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5CE28-5169-47AC-8BEA-BBAC4686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0D969F-6827-441C-9278-81468908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B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1B164-D257-4831-8C27-40D25386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86000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Data store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ED0F1-0898-4702-8B5E-8C075A52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47950"/>
            <a:ext cx="1600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PostgreSQL</a:t>
            </a:r>
          </a:p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บัญชี บอท เอกสาร ประวัติ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270792-2484-454F-8182-1D50C8D7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Web chat และ 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527585-20F8-47DD-B1B3-ADEC30E4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19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ตรวจสิทธิ์และประมวลผล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769EE1-CF5E-4481-BDE4-A66016ED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9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ค้นหาเอกสารและสร้างคำตอบ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46C8B1-5471-49E2-8A23-FAA28BA1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195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บันทึกสถานะและประวัติ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78FB4D-9B10-490A-B588-D8E712F0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57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2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AB2308-C911-4D66-B1F5-394DE13C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การเชื่อมต่อภายนอก: LINE ส่ง event เข้า webhook ของบอท และ Ollama ทำงานเป็น service แยกที่ API เข้าถึงได้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A7CFE3-1DB9-4589-A47C-C3C103DE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E64CC6-EEF0-4F22-BD8E-0BFAA8C3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389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rPr>
              <a:t>ข้อมูลจากโค้ดและคู่มือโปรเจค ScopeBot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BBDCDA-629D-4C35-A207-657C8C95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389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39667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AEE333-457E-499A-8944-37795FCE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rPr>
              <a:t>การจัดการเอกสารและ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7FD95-7A24-44A3-B13B-B95DCCB9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ค่าเริ่มต้นปัจจุบันกำหนดให้ค้นหา 5 ส่วนของเอกสารต่อคำถาม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263B4-AA14-44E9-8C1D-6EE1F422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09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6C043-DF60-4EE9-BD2B-11B7AECA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5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ScopeBot  |  IT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53732-AFBE-4D39-AC86-DC76D090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2266950" cy="23241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9E431-000F-432D-B386-CDB80CD6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003A9-7B56-44BF-8FAE-855DBD05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อัปโหลด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9F729-B25E-47D8-982E-8DDB6692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PDF, DOCX, TXT, CSV</a:t>
            </a:r>
          </a:p>
          <a:p xmlns:a="http://schemas.openxmlformats.org/drawingml/2006/main">
            <a:pPr algn="l">
              <a:def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ขนาดสูงสุด 10 MB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20A7B-C54E-4F19-AF18-820BCA3C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19300"/>
            <a:ext cx="2266950" cy="23241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B9781-6054-4A3B-AB97-7A4E9C37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907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45AF4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A45AF4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BE4BE-C6F3-4500-994C-33B43B9B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479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แบ่งเนื้อหา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2D105-658F-445C-B68A-90E618E0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81350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Chunk 1,000 ตัวอักษร</a:t>
            </a:r>
          </a:p>
          <a:p xmlns:a="http://schemas.openxmlformats.org/drawingml/2006/main">
            <a:pPr algn="l">
              <a:def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ซ้อนทับ 200 ตัวอักษร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B84C9-7031-44B0-A2E9-4598CD27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9300"/>
            <a:ext cx="2266950" cy="23241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3771F-ECBB-4FB0-B8E3-461A84D1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34AAC-36A1-4984-AA4C-BBE7CA7B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สร้างดัชนี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9F0D1-132B-4BE4-B7A5-A0376556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BGE-M3 สร้าง embedding</a:t>
            </a:r>
          </a:p>
          <a:p xmlns:a="http://schemas.openxmlformats.org/drawingml/2006/main">
            <a:pPr algn="l">
              <a:def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เก็บใน ChromaDB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070BC-C8EE-4CE5-966B-BC3F9FB6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019300"/>
            <a:ext cx="2266950" cy="23241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18728-B2F0-40C6-89D4-6DF1D444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907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45AF4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A45AF4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28FF2-3136-4E03-AF54-7775A5C9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479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ตอบคำถาม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8F1BDB-2FBC-4BFB-9962-EEF03AE8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81350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ค้นหา Top K = 5</a:t>
            </a:r>
          </a:p>
          <a:p xmlns:a="http://schemas.openxmlformats.org/drawingml/2006/main">
            <a:pPr algn="l">
              <a:def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ส่งบริบทเข้า Ollama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87738-A4B7-4B4E-8264-25E14D72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10210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C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581730-AC00-4219-8B8E-95C44B10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2445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6FBF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D6FBFA"/>
                </a:solidFill>
                <a:latin typeface="Leelawadee UI"/>
                <a:ea typeface="Leelawadee UI"/>
                <a:cs typeface="Leelawadee UI"/>
              </a:rPr>
              <a:t>เมื่อมีเอกสารชื่อซ้ำ ระบบขอการยืนยันก่อนแทนที่ และประมวลผลใหม่ให้ทุกบอทที่ผูกกับเอกสารนั้น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10B296-EEA0-4411-90CE-92418D46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1798B-F725-4F4E-BFF7-6F07676A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389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rPr>
              <a:t>ข้อมูลจากโค้ดและคู่มือโปรเจค ScopeBot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1248A0-D249-46A8-BB87-0ADC5003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389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34228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0C5FC-306D-48E9-A536-50574489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rPr>
              <a:t>การใช้งานและการส่งต่อเจ้าหน้าที่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30F45-A1D6-4014-A3D4-7F949582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บอทตอบคำถามตามความรู้ที่กำหนด และส่งงานให้ทีม support เมื่อจำเป็น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A1FE5-03AD-4B97-AA69-B012051A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09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754BE-0BF7-40CB-B153-6A95E9C8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5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ScopeBot  |  IT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EC85B-AF2F-4975-BDC6-1E871ABC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857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432BF-7856-4442-BBAF-04AA4D23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E6E60-609F-4633-AB3A-B500BE26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2457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ผู้ใช้งาน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CEB50-C974-41EF-ADE4-3C460760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24574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ถามคำถามผ่านหน้า web chat หรือ 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69817-F899-4064-97DE-9DFF5FFF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00250"/>
            <a:ext cx="2857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637C9-D0F6-401D-8EE7-70D9BC72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002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7D48B-BF8E-46C1-8D4A-0D998BA4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90750"/>
            <a:ext cx="2457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ScopeBot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C8436-C122-432E-A5A5-8E16D3E6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52700"/>
            <a:ext cx="24574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ตรวจสิทธิ์ ดึงบริบทจากเอกสาร และสร้างคำตอบ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421CA-8A51-4FCF-9677-C21A3CDB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2857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6876E-7EFF-4446-99B5-9156F877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320D4-329D-4BD3-A99E-C4347811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457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เจ้าหน้าที่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20A27-E151-4BA8-B30E-E3BB1E53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52700"/>
            <a:ext cx="24574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รับช่วงสนทนาและให้คำตอบเพิ่มเติมใน live chat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19786-E405-41A5-872F-5443E331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03632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D9BC2-77B6-444C-AD11-9AE2B833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529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29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rPr>
              <a:t>ประวัติการสนทนา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5FCD9B-D0F3-4BC1-B99E-CAED503B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91050"/>
            <a:ext cx="957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ระบบเก็บประวัติบอทและเจ้าหน้าที่ในบริบทเดียวกัน เพื่อให้เจ้าหน้าที่เห็นสิ่งที่ผู้ใช้ถามและคำตอบก่อนหน้า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320B0-C1BB-486C-80E0-4480F2D6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DEC3C-3FE4-460A-9DED-EC6F84C5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389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rPr>
              <a:t>ข้อมูลจากโค้ดและคู่มือโปรเจค ScopeBot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3F1464-BBA9-4A6C-9CAC-7C5DAF91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389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27666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DAF04-DA64-4D7F-AB5B-4AFEA80C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rPr>
              <a:t>สิทธิ์ผู้ใช้และการควบคุม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62292-ABE9-40E5-97FB-34A4E335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การเข้าถึงแยกตามบทบาท และระบบตรวจสถานะบัญชีในคำขอที่ต้องยืนยันตัวตน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22A58-0321-416B-87B1-5FD0F0FB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09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7A40E-078E-46EE-8FDC-400AB7C8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5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ScopeBot  |  IT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F2C25-DD1B-4F66-BDBA-1FAD2A55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32385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79C82-BBF7-456E-84DE-F56E2818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571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1F4AA-594E-4A62-B39B-506C72AC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2838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Admin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A2678-5310-4965-BB79-8DEDB542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จัดการบอท เอกสาร ผู้ใช้ การอนุมัติ และ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04CEC-7B1B-4E7B-AACE-1C7D6AEA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81200"/>
            <a:ext cx="32385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213CE-BB5F-43FF-BDA9-FE430AD5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81200"/>
            <a:ext cx="571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F18D0-2574-4D09-BFD4-FD5DEB14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71700"/>
            <a:ext cx="2838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262B4-F915-4B3E-959F-A609DBA3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33650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ดูและรับช่วงบทสนทนาที่ส่งต่อจากบอท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06F4D-392F-480B-9530-DF4F3273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81200"/>
            <a:ext cx="32385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0DB57-B957-4B19-BD24-337DFF56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81200"/>
            <a:ext cx="571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97F8C7-1A37-4919-AF76-18171B53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71700"/>
            <a:ext cx="2838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User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6D19A-966F-48F0-AEF0-F8DFC0F8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33650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ใช้งานบอทตามสิทธิ์ หลังผู้ดูแลอนุมัติบัญชี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18506-16E8-4C6B-89EC-BBE9AA8B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5537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02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2F012-E349-4AB0-AB47-B33DC935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rPr>
              <a:t>Controls ที่ต้องตั้งค่าใน pilot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C8948-91F6-45B0-ACA5-9A3E41BE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985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SECRET_KEY เฉพาะสภาพแวดล้อมจริง   /   จำกัด CORS เฉพาะโดเมนที่ใช้   /   ปิด DEBUG ก่อนเปิดใช้งาน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FC2D0-C1F8-42B6-BD87-2F2EB665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B2F9C9-5DE1-4749-85B6-C27DFAED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389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rPr>
              <a:t>ข้อมูลจากโค้ดและคู่มือโปรเจค ScopeBot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F2EA9-F035-422E-8AFC-B2FDC6BE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389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574544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13B17D-869F-4D1C-9EDE-C1BE4472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rPr>
              <a:t>แนวทางติดตั้งสำหรับ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1EA82-9BF3-4744-B4EE-61661854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โปรเจครองรับ Docker Compose และ Cloudflare Tunnel สำหรับโดเมน HTTPS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5EDC2-9348-43DD-9496-1A004895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09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D222C-E30D-454C-BBFD-9C59D0C9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5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ScopeBot  |  IT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E73D3-82AA-4C44-8236-AEA3A8E3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8B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E76E7-F5E2-4F8C-BE9A-AAFE4147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0B12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080B12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97A0A-CB88-4B5D-A8CF-AB39AE8B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เตรียม environment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CC400-A3FC-4562-843F-6C7DB4B6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PostgreSQL, Ollama, secrets และ URL ที่อนุญาต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91F96-F246-4509-BF9E-00B5846C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00250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7CD17-CF55-499A-A7EE-105BF731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19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0B12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080B12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AA108-06F3-4646-BF5A-504A2191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241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เริ่มบริการ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60DE3-C825-4FB1-82B4-CF004888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3850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Frontend, API และ database ด้วย Docker Compose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2B7DB-8761-40D7-88E7-D82A175B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8B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974BB-2C5E-4138-85A6-C1BACCD7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19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0B12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080B12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F5FA7-B176-4704-A3F7-81C6C67F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241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เปิดช่องทางภายนอก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20C61-382F-4731-8118-14131014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ตั้ง HTTPS และ update LINE webhook หากใช้ 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0EE04-6100-4CD0-8784-DE244A07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00250"/>
            <a:ext cx="400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37877-3BF6-46EC-BC0D-06164635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19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0B12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080B12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14E49E-EE53-4103-AF59-287CFCA4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241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ทดสอบก่อนเปิดใช้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5593C6-BCC5-41E5-939C-405568F1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3850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Smoke test, ทดสอบ reset password และ user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AB17A-021E-4780-A3B8-FFACE908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104298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2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D227F-C2F7-4784-8D46-B96D040B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1007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CB44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FFCB44"/>
                </a:solidFill>
                <a:latin typeface="Leelawadee UI"/>
                <a:ea typeface="Leelawadee UI"/>
                <a:cs typeface="Leelawadee UI"/>
              </a:rPr>
              <a:t>ข้อจำกัดที่ต้องรับรู้: RAG ใช้ไม่ได้หาก API ติดต่อ Ollama ไม่ได้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594F7F-AD35-4E6B-BAE4-B004614F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B24756-66A4-4A04-A247-8315185E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389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rPr>
              <a:t>ข้อมูลจากโค้ดและคู่มือโปรเจค ScopeBot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551C87-D4DB-4D78-A8F7-9787E5C1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389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20325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818C40-D091-4E61-994B-731EE91D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rPr>
              <a:t>สิ่งที่ฝ่าย IT ควรกำหนดก่อนเริ่ม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CD8EA-6345-4220-A548-38A32CBD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รายการนี้อ้างอิงจากการตั้งค่าและขั้นตอน deploy ที่มีอยู่ในโปรเจค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82228-8813-4C81-A777-6F68E160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09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FE89C-20DB-4423-B2F3-5A1014C5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5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ScopeBot  |  IT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14B06-DBDF-4A4C-BE78-A0B1B45A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D8981-58B4-4F90-B48B-11A51BEE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89AA5-F30F-491A-9CA6-097532FE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4552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สภาพแวดล้อม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B22EF-76BA-48CB-9E2F-1977CD1C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455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เลือกที่ตั้งของ PostgreSQL, Ollama และที่เก็บ backup ของฐานข้อมูล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ECDD0-DB5C-462A-BC75-BA398864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EC58B-E6BF-47DF-9B0D-81B1965F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89730-EBAB-47C5-9182-74F1B5B4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552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โดเมนและเครือข่าย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80274-F8BE-4643-B240-B01ACF45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55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กำหนด HTTPS, CORS, firewall/VPN และ URL ของ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58D87-EDEC-4118-B4D0-8023F93C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F5A53-5C5F-4BC1-9DC3-6BADA98D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14DD9-87F8-43D6-AB4C-2649A3E6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4552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บัญชีและผู้รับผิดชอบ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F7D2B-DFBE-4EC2-9F39-ABC62771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455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กำหนด admin, support, SMTP และขั้นตอนอนุมัติผู้ใช้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805E6-F935-4898-AA4C-3EE0D81B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95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C2B"/>
          </a:solidFill>
          <a:ln xmlns:a="http://schemas.openxmlformats.org/drawingml/2006/main" w="9525">
            <a:solidFill>
              <a:srgbClr val="2541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B6813-C2B3-4C63-BEBB-57B5950A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B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B7ED5-A033-4A59-A0C7-BDA8A614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4552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ชุดเอกสารเริ่มต้น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17233-BD6C-43ED-A345-96C909FC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455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คัดเลือกเอกสารฉบับควบคุมเวอร์ชันสำหรับทดสอบความถูกต้องของคำตอบ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B1D45-17BA-46C0-BF2E-7EE949AB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7D93F-284B-4F47-98EC-3600BFA8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389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rPr>
              <a:t>ข้อมูลจากโค้ดและคู่มือโปรเจค ScopeBot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BFC182-FA83-430E-B618-9E7BC245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3892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9CB7D8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66258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2FC0B-E0D0-421A-8330-D81D20B1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23FC7-5D4A-4084-8EF5-9D5B9280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6941A-C25F-4866-B295-E7252D55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81100"/>
            <a:ext cx="676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defRPr>
            </a:pPr>
            <a:r>
              <a:rPr sz="4500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rPr>
              <a:t>ScopeBot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B5AE3-BEB4-486B-B42D-2AF5B3BD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752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29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พร้อมสำหรับการประเมิน Pilot</a:t>
            </a:r>
          </a:p>
          <a:p xmlns:a="http://schemas.openxmlformats.org/drawingml/2006/main">
            <a:pPr algn="l">
              <a:defRPr sz="29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defRPr>
            </a:pPr>
            <a:r>
              <a:rPr sz="2925" b="1">
                <a:solidFill>
                  <a:srgbClr val="F4F7FF"/>
                </a:solidFill>
                <a:latin typeface="Leelawadee UI"/>
                <a:ea typeface="Leelawadee UI"/>
                <a:cs typeface="Leelawadee UI"/>
              </a:rPr>
              <a:t>ในสภาพแวดล้อมของบริษัท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FF4EF-7015-4B15-ACAE-D04925B2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90975"/>
            <a:ext cx="685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A7A04-2C19-4FCD-8649-269686B3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28B7F2"/>
                </a:solidFill>
                <a:latin typeface="Leelawadee UI"/>
                <a:ea typeface="Leelawadee UI"/>
                <a:cs typeface="Leelawadee UI"/>
              </a:rPr>
              <a:t>หัวข้อสำหรับการประชุมถัดไป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26C4C-E10E-4EB8-B830-60246BC6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ขอบเขตเอกสาร  •  สภาพแวดล้อมติดตั้ง  •  ผู้รับผิดชอบการทดสอบ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55DDC-9188-4C17-99A5-DE7C48F9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86300"/>
            <a:ext cx="1314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A45A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0BD25-3B67-4A53-8DE2-6775232D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053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0B12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080B12"/>
                </a:solidFill>
                <a:latin typeface="Leelawadee UI"/>
                <a:ea typeface="Leelawadee UI"/>
                <a:cs typeface="Leelawadee UI"/>
              </a:rPr>
              <a:t>Q&amp;A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246E6-1FD5-4DE4-99ED-3B91CF28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48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>
                <a:solidFill>
                  <a:srgbClr val="B7C5D8"/>
                </a:solidFill>
                <a:latin typeface="Leelawadee UI"/>
                <a:ea typeface="Leelawadee UI"/>
                <a:cs typeface="Leelawadee UI"/>
              </a:rPr>
              <a:t>ScopeBot IT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9114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2026-09-17T02:41:18.8310000Z</dcterms:created>
  <dcterms:modified xsi:type="dcterms:W3CDTF">2026-09-17T02:41:18.8310000Z</dcterms:modified>
</coreProperties>
</file>