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e8ca90e19741a5" /><Relationship Type="http://schemas.openxmlformats.org/officeDocument/2006/relationships/extended-properties" Target="/docProps/app.xml" Id="Raab72a8ab3ed4c13" /><Relationship Type="http://schemas.openxmlformats.org/officeDocument/2006/relationships/officeDocument" Target="/ppt/presentation.xml" Id="R07c6a4836f9549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b3059032884668"/>
  </p:sldMasterIdLst>
  <p:notesMasterIdLst>
    <p:notesMasterId xmlns:r="http://schemas.openxmlformats.org/officeDocument/2006/relationships" r:id="Rae9da6462c324014"/>
  </p:notesMasterIdLst>
  <p:sldIdLst>
    <p:sldId xmlns:r="http://schemas.openxmlformats.org/officeDocument/2006/relationships" id="256" r:id="R1038070bd07747a7"/>
    <p:sldId xmlns:r="http://schemas.openxmlformats.org/officeDocument/2006/relationships" id="257" r:id="R98aac92b067b4f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4b3295d1b844a8" /><Relationship Type="http://schemas.openxmlformats.org/officeDocument/2006/relationships/slideMaster" Target="/ppt/slideMasters/slideMaster1.xml" Id="Rd8b3059032884668" /><Relationship Type="http://schemas.openxmlformats.org/officeDocument/2006/relationships/notesMaster" Target="/ppt/notesMasters/notesMaster1.xml" Id="Rae9da6462c324014" /><Relationship Type="http://schemas.openxmlformats.org/officeDocument/2006/relationships/presProps" Target="/ppt/presProps.xml" Id="R971475c862fa4ff9" /><Relationship Type="http://schemas.openxmlformats.org/officeDocument/2006/relationships/tableStyles" Target="/ppt/tableStyles.xml" Id="Re3173a5e331647a9" /><Relationship Type="http://schemas.openxmlformats.org/officeDocument/2006/relationships/slide" Target="/ppt/slides/slide1.xml" Id="R1038070bd07747a7" /><Relationship Type="http://schemas.openxmlformats.org/officeDocument/2006/relationships/slide" Target="/ppt/slides/slide2.xml" Id="R98aac92b067b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4555271ec9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16def2ad84eed" /><Relationship Type="http://schemas.openxmlformats.org/officeDocument/2006/relationships/notesMaster" Target="/ppt/notesMasters/notesMaster1.xml" Id="Rc7fa5e62f5d143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47cc0584d745da" /><Relationship Type="http://schemas.openxmlformats.org/officeDocument/2006/relationships/notesMaster" Target="/ppt/notesMasters/notesMaster1.xml" Id="Rdee73e96d18c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45–60 วินาที</a:t>
            </a:r>
          </a:p>
          <a:p xmlns:a="http://schemas.openxmlformats.org/drawingml/2006/main">
            <a:r>
              <a:t>สรุปว่า ScopeBot นำความรู้จากเอกสารมาใช้ตอบคำถามผ่าน RAG โดยมีแหล่งอ้างอิงให้ตรวจบนเว็บ ผู้ดูแลจัดการบอทหลายตัวและความรู้ของแต่ละงานได้ รองรับ Web และ LINE และส่งต่อให้เจ้าของบอทรับช่วงได้เมื่อจำเป็น ด้านสิทธิ์ ระบบตรวจบัญชี บทบาท และความเป็นเจ้าของในงานจัดการ จุดที่ต้องพัฒนาต่อคือประเมินคุณภาพคำตอบกับคำถามและผู้ใช้จริง รวมถึงทดสอบเวลาและโหลดในสภาพแวดล้อมที่จะใช้งาน</a:t>
            </a:r>
          </a:p>
          <a:p xmlns:a="http://schemas.openxmlformats.org/drawingml/2006/main">
            <a:r>
              <a:t>ประโยคเชื่อม: ทั้งหมดนี้คือภาพรวมของ ScopeBot ขอบคุณทุกท่าน และยินดีรับคำถาม</a:t>
            </a:r>
          </a:p>
          <a:p xmlns:a="http://schemas.openxmlformats.org/drawingml/2006/main">
            <a:r>
              <a:t>อ้างอิง: README.md; api/auth.py; docs/semantic-search.md; docs/rag-correctness.md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ขอบคุณคณะอาจารย์และทีมไอทีที่รับฟังครับ/ค่ะ ยินดีตอบคำถามและรับข้อเสนอแนะเกี่ยวกับการออกแบบระบบ การตอบคำถามจากเอกสาร และแนวทางนำไปใช้งานจริง</a:t>
            </a:r>
          </a:p>
          <a:p xmlns:a="http://schemas.openxmlformats.org/drawingml/2006/main">
            <a:r>
              <a:t>ระหว่างถามตอบเปิดค้างหน้านี้ และย้อนกลับไปยังแผนภาพหรือเดโมเมื่อจำเป็น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d17bdf81a4e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32699e72a4e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67fe49faf49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6156a003440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364e31b2b4d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0be30e903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5CD978-397C-476B-9E72-E5B200C06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93FA75-01B5-45C9-8989-D05A753DDC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4AFDBB-EBD3-4571-9FB8-1994A4F4E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C04BA8-0A0E-4024-B347-8081907C4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5DF1E8-6EAD-4F0B-B6E2-8707D54043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A67BB8-29BB-4184-A700-7965CA10B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3BB08E-FAA0-4193-89D3-22CB193822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F1AFE2-B938-44DB-A0A1-C862D4AC97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13F339-3B49-438F-8DD2-A743B9FA18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364FE8-D189-4D46-9C4B-73451B3965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281b639d3f4548" /><Relationship Type="http://schemas.openxmlformats.org/officeDocument/2006/relationships/slideLayout" Target="/ppt/slideLayouts/slideLayout1.xml" Id="R52d5ea8b2573475f" /><Relationship Type="http://schemas.openxmlformats.org/officeDocument/2006/relationships/slideLayout" Target="/ppt/slideLayouts/slideLayout2.xml" Id="R59982074598f433f" /><Relationship Type="http://schemas.openxmlformats.org/officeDocument/2006/relationships/slideLayout" Target="/ppt/slideLayouts/slideLayout3.xml" Id="R46d32eef35f749d5" /><Relationship Type="http://schemas.openxmlformats.org/officeDocument/2006/relationships/slideLayout" Target="/ppt/slideLayouts/slideLayout4.xml" Id="R2b1b6dc090494a3b" /><Relationship Type="http://schemas.openxmlformats.org/officeDocument/2006/relationships/slideLayout" Target="/ppt/slideLayouts/slideLayout5.xml" Id="R96afd37e1d2443f5" /><Relationship Type="http://schemas.openxmlformats.org/officeDocument/2006/relationships/slideLayout" Target="/ppt/slideLayouts/slideLayout6.xml" Id="R2bff0cdd50824b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d5ea8b2573475f"/>
    <p:sldLayoutId xmlns:r="http://schemas.openxmlformats.org/officeDocument/2006/relationships" id="2147483650" r:id="R59982074598f433f"/>
    <p:sldLayoutId xmlns:r="http://schemas.openxmlformats.org/officeDocument/2006/relationships" id="2147483651" r:id="R46d32eef35f749d5"/>
    <p:sldLayoutId xmlns:r="http://schemas.openxmlformats.org/officeDocument/2006/relationships" id="2147483652" r:id="R2b1b6dc090494a3b"/>
    <p:sldLayoutId xmlns:r="http://schemas.openxmlformats.org/officeDocument/2006/relationships" id="2147483653" r:id="R96afd37e1d2443f5"/>
    <p:sldLayoutId xmlns:r="http://schemas.openxmlformats.org/officeDocument/2006/relationships" id="2147483654" r:id="R2bff0cdd50824b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3571cfd5d44ca" /><Relationship Type="http://schemas.openxmlformats.org/officeDocument/2006/relationships/notesSlide" Target="/ppt/notesSlides/notesSlide1.xml" Id="R73f3fe823d8641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15c797ba9413a" /><Relationship Type="http://schemas.openxmlformats.org/officeDocument/2006/relationships/notesSlide" Target="/ppt/notesSlides/notesSlide2.xml" Id="Rfaf6bf1f5e1043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755A4-66E9-4EE3-A3C4-B669437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4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6ED6F-1C7E-4072-84C2-EF7E882C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CF50B-1DD2-4988-999A-E4221FD3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สรุป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7CDB3-3880-467A-819E-95B45AA1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50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BF357-A962-4FB9-9C98-CED70D3F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43250"/>
            <a:ext cx="2838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นำความรู้จากเอกสาร</a:t>
            </a:r>
          </a:p>
          <a:p xmlns:a="http://schemas.openxmlformats.org/drawingml/2006/main">
            <a:pPr>
              <a:defRPr sz="21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มาใช้ผ่านการสนทนา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E32F6-5845-4ED7-A256-E34593F5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864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แพลตฟอร์มสำหรับองค์กร</a:t>
            </a:r>
          </a:p>
          <a:p xmlns:a="http://schemas.openxmlformats.org/drawingml/2006/main">
            <a:pPr>
              <a:defRPr sz="1425" b="0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โดยใช้ร้านค้าเป็นกรณีศึกษา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B0056-2E5B-456A-B847-30329142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857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841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0EE8C-75BA-4659-8120-0C0E2C87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7200"/>
            <a:ext cx="661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คำตอบจากความรู้ในเอกสาร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55957-6B9C-4585-AB1F-CAB33DC0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923925"/>
            <a:ext cx="661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D6169"/>
                </a:solidFill>
                <a:latin typeface="Tahoma"/>
                <a:ea typeface="Tahoma"/>
                <a:cs typeface="Tahoma"/>
              </a:rPr>
              <a:t>RAG ค้นหลักฐานประกอบคำตอบ</a:t>
            </a:r>
          </a:p>
          <a:p xmlns:a="http://schemas.openxmlformats.org/drawingml/2006/main">
            <a: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D6169"/>
                </a:solidFill>
                <a:latin typeface="Tahoma"/>
                <a:ea typeface="Tahoma"/>
                <a:cs typeface="Tahoma"/>
              </a:rPr>
              <a:t>พร้อมแหล่งอ้างอิงบนเว็บ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45684-E724-486A-BB0C-3CED2CB5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8775"/>
            <a:ext cx="728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1520D-0D4D-4D10-A6B4-B95403D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79070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841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F13CE-E800-4228-9E25-15A1E98F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62125"/>
            <a:ext cx="661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หลายบอทและหลายช่องทาง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7DC19-3C55-467A-81CE-762A08AF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28850"/>
            <a:ext cx="661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D6169"/>
                </a:solidFill>
                <a:latin typeface="Tahoma"/>
                <a:ea typeface="Tahoma"/>
                <a:cs typeface="Tahoma"/>
              </a:rPr>
              <a:t>จัดการความรู้แยกตามบอท</a:t>
            </a:r>
          </a:p>
          <a:p xmlns:a="http://schemas.openxmlformats.org/drawingml/2006/main">
            <a: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D6169"/>
                </a:solidFill>
                <a:latin typeface="Tahoma"/>
                <a:ea typeface="Tahoma"/>
                <a:cs typeface="Tahoma"/>
              </a:rPr>
              <a:t>รองรับการใช้งานผ่าน Web และ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D309C-58F1-44D0-A376-210B76B3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728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FC173-A709-464A-BF1C-958594A6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95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841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44813-539B-4EF3-8F82-4AF3A142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661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บอททำงานร่วมกับคน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75E53-0F6A-48B3-BA90-C4FFBE00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33775"/>
            <a:ext cx="661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D6169"/>
                </a:solidFill>
                <a:latin typeface="Tahoma"/>
                <a:ea typeface="Tahoma"/>
                <a:cs typeface="Tahoma"/>
              </a:rPr>
              <a:t>เจ้าของบอทรับช่วงสนทนา</a:t>
            </a:r>
          </a:p>
          <a:p xmlns:a="http://schemas.openxmlformats.org/drawingml/2006/main">
            <a: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D6169"/>
                </a:solidFill>
                <a:latin typeface="Tahoma"/>
                <a:ea typeface="Tahoma"/>
                <a:cs typeface="Tahoma"/>
              </a:rPr>
              <a:t>เมื่อผู้ใช้ต้องการความช่วยเหลือ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16B65-1EC4-4A86-9370-8A082068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38625"/>
            <a:ext cx="728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2F95E-13F1-417E-BBE3-F81B0DA0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005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defPPr>
            <a:lvl1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1pPr>
            <a:lvl2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2pPr>
            <a:lvl3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3pPr>
            <a:lvl4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4pPr>
            <a:lvl5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5pPr>
            <a:lvl6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6pPr>
            <a:lvl7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7pPr>
            <a:lvl8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8pPr>
            <a:lvl9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841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5F50A-C1AD-42E1-993F-5F8DEA57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71975"/>
            <a:ext cx="661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ควบคุมการเข้าถึงข้อมูล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8D44C-E505-4881-B35D-77094571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38700"/>
            <a:ext cx="661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defPPr>
            <a:lvl1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1pPr>
            <a:lvl2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2pPr>
            <a:lvl3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3pPr>
            <a:lvl4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4pPr>
            <a:lvl5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5pPr>
            <a:lvl6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6pPr>
            <a:lvl7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7pPr>
            <a:lvl8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8pPr>
            <a:lvl9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D6169"/>
                </a:solidFill>
                <a:latin typeface="Tahoma"/>
                <a:ea typeface="Tahoma"/>
                <a:cs typeface="Tahoma"/>
              </a:rPr>
              <a:t>ตรวจตัวตน บทบาท และเจ้าของบอท</a:t>
            </a:r>
          </a:p>
          <a:p xmlns:a="http://schemas.openxmlformats.org/drawingml/2006/main">
            <a:pPr>
              <a:defRPr sz="1650" b="0">
                <a:solidFill>
                  <a:srgbClr val="5D61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D6169"/>
                </a:solidFill>
                <a:latin typeface="Tahoma"/>
                <a:ea typeface="Tahoma"/>
                <a:cs typeface="Tahoma"/>
              </a:rPr>
              <a:t>ก่อนเข้าถึงงานจัดการที่เกี่ยวข้อง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2A0E2-E9B1-4B8B-92DB-BB0B6FEA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857875"/>
            <a:ext cx="728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41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C64B2-62CB-4B83-AFCF-31FC7FCA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038850"/>
            <a:ext cx="728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defPPr>
            <a:lvl1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1pPr>
            <a:lvl2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2pPr>
            <a:lvl3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3pPr>
            <a:lvl4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4pPr>
            <a:lvl5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5pPr>
            <a:lvl6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6pPr>
            <a:lvl7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7pPr>
            <a:lvl8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8pPr>
            <a:lvl9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181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7181E"/>
                </a:solidFill>
                <a:latin typeface="Tahoma"/>
                <a:ea typeface="Tahoma"/>
                <a:cs typeface="Tahoma"/>
              </a:rPr>
              <a:t>ขั้นต่อไป: ประเมินกับผู้ใช้จริง และทดสอบประสิทธิภาพระบบ</a:t>
            </a:r>
          </a:p>
        </p:txBody>
      </p:sp>
    </p:spTree>
    <p:extLst>
      <p:ext uri="{BB962C8B-B14F-4D97-AF65-F5344CB8AC3E}">
        <p14:creationId xmlns:p14="http://schemas.microsoft.com/office/powerpoint/2010/main" val="1153282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8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94294-0439-4B81-86EF-8F635DE6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defPPr>
            <a:lvl1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1pPr>
            <a:lvl2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2pPr>
            <a:lvl3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3pPr>
            <a:lvl4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4pPr>
            <a:lvl5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5pPr>
            <a:lvl6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6pPr>
            <a:lvl7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7pPr>
            <a:lvl8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8pPr>
            <a:lvl9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841F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0B09E-95F3-428F-82C3-0698A0B8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defPPr>
            <a:lvl1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1pPr>
            <a:lvl2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2pPr>
            <a:lvl3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3pPr>
            <a:lvl4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4pPr>
            <a:lvl5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5pPr>
            <a:lvl6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6pPr>
            <a:lvl7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7pPr>
            <a:lvl8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8pPr>
            <a:lvl9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5175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pPr>
            <a:r>
              <a:rPr sz="5175" b="1">
                <a:solidFill>
                  <a:srgbClr val="FAF9F5"/>
                </a:solidFill>
                <a:latin typeface="Tahoma"/>
                <a:ea typeface="Tahoma"/>
                <a:cs typeface="Tahoma"/>
              </a:rPr>
              <a:t>ขอบคุณครับ / ค่ะ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6E877-0874-42F9-8C06-8215E8A8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05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defPPr>
            <a:lvl1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1pPr>
            <a:lvl2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2pPr>
            <a:lvl3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3pPr>
            <a:lvl4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4pPr>
            <a:lvl5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5pPr>
            <a:lvl6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6pPr>
            <a:lvl7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7pPr>
            <a:lvl8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8pPr>
            <a:lvl9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D7D8DC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D7D8DC"/>
                </a:solidFill>
                <a:latin typeface="Tahoma"/>
                <a:ea typeface="Tahoma"/>
                <a:cs typeface="Tahoma"/>
              </a:rPr>
              <a:t>ยินดีรับคำถามและข้อเสนอแนะ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77E06-DAEB-4EE7-A032-BC2E247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62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defPPr>
            <a:lvl1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1pPr>
            <a:lvl2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2pPr>
            <a:lvl3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3pPr>
            <a:lvl4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4pPr>
            <a:lvl5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5pPr>
            <a:lvl6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6pPr>
            <a:lvl7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7pPr>
            <a:lvl8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8pPr>
            <a:lvl9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8250" b="1">
                <a:solidFill>
                  <a:srgbClr val="FF841F"/>
                </a:solidFill>
                <a:latin typeface="Tahoma"/>
                <a:ea typeface="Tahoma"/>
                <a:cs typeface="Tahoma"/>
              </a:defRPr>
            </a:pPr>
            <a:r>
              <a:rPr sz="8250" b="1">
                <a:solidFill>
                  <a:srgbClr val="FF841F"/>
                </a:solidFill>
                <a:latin typeface="Tahoma"/>
                <a:ea typeface="Tahoma"/>
                <a:cs typeface="Tahoma"/>
              </a:rPr>
              <a:t>Q &amp;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8EB5F-4DBE-4CA7-A362-A9CC2405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defPPr>
            <a:lvl1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1pPr>
            <a:lvl2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2pPr>
            <a:lvl3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3pPr>
            <a:lvl4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4pPr>
            <a:lvl5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5pPr>
            <a:lvl6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6pPr>
            <a:lvl7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7pPr>
            <a:lvl8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8pPr>
            <a:lvl9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AF9F5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AF9F5"/>
                </a:solidFill>
                <a:latin typeface="Tahoma"/>
                <a:ea typeface="Tahoma"/>
                <a:cs typeface="Tahoma"/>
              </a:rPr>
              <a:t>ScopeBot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3F8B9-78C4-48F2-B7FC-37F60BC4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0674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defPPr>
            <a:lvl1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1pPr>
            <a:lvl2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2pPr>
            <a:lvl3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3pPr>
            <a:lvl4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4pPr>
            <a:lvl5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5pPr>
            <a:lvl6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6pPr>
            <a:lvl7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7pPr>
            <a:lvl8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8pPr>
            <a:lvl9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9BBC2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B9BBC2"/>
                </a:solidFill>
                <a:latin typeface="Tahoma"/>
                <a:ea typeface="Tahoma"/>
                <a:cs typeface="Tahoma"/>
              </a:rPr>
              <a:t>แพลตฟอร์มแชตบอตจากเอกสารสำหรับองค์กร</a:t>
            </a:r>
          </a:p>
        </p:txBody>
      </p:sp>
    </p:spTree>
    <p:extLst>
      <p:ext uri="{BB962C8B-B14F-4D97-AF65-F5344CB8AC3E}">
        <p14:creationId xmlns:p14="http://schemas.microsoft.com/office/powerpoint/2010/main" val="820748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2026-10-29T21:36:32.6640000Z</dcterms:created>
  <dcterms:modified xsi:type="dcterms:W3CDTF">2026-10-29T21:36:32.6640000Z</dcterms:modified>
</coreProperties>
</file>