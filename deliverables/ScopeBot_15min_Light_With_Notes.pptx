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37e609854ed4ee9" /><Relationship Type="http://schemas.openxmlformats.org/officeDocument/2006/relationships/extended-properties" Target="/docProps/app.xml" Id="Rb94db91b840c47a5" /><Relationship Type="http://schemas.openxmlformats.org/officeDocument/2006/relationships/officeDocument" Target="/ppt/presentation.xml" Id="R288eda8adfae405a" /></Relationships>
</file>

<file path=ppt/presentation.xml><?xml version="1.0" encoding="utf-8"?>
<p:presentation xmlns:p="http://schemas.openxmlformats.org/presentationml/2006/main">
  <p:sldMasterIdLst>
    <p:sldMasterId xmlns:r="http://schemas.openxmlformats.org/officeDocument/2006/relationships" id="2147483648" r:id="R30a5af8fd4dd4680"/>
  </p:sldMasterIdLst>
  <p:notesMasterIdLst>
    <p:notesMasterId xmlns:r="http://schemas.openxmlformats.org/officeDocument/2006/relationships" r:id="Rbf77de0b1c684670"/>
  </p:notesMasterIdLst>
  <p:sldIdLst>
    <p:sldId xmlns:r="http://schemas.openxmlformats.org/officeDocument/2006/relationships" id="256" r:id="R244c47757598425c"/>
    <p:sldId xmlns:r="http://schemas.openxmlformats.org/officeDocument/2006/relationships" id="257" r:id="R0c2cb6c44ba146ca"/>
    <p:sldId xmlns:r="http://schemas.openxmlformats.org/officeDocument/2006/relationships" id="258" r:id="R659c30139be249b5"/>
    <p:sldId xmlns:r="http://schemas.openxmlformats.org/officeDocument/2006/relationships" id="259" r:id="Rcbf1d8cd19d04610"/>
    <p:sldId xmlns:r="http://schemas.openxmlformats.org/officeDocument/2006/relationships" id="260" r:id="R22add00820074ee7"/>
    <p:sldId xmlns:r="http://schemas.openxmlformats.org/officeDocument/2006/relationships" id="261" r:id="R30635b60b9ff4167"/>
    <p:sldId xmlns:r="http://schemas.openxmlformats.org/officeDocument/2006/relationships" id="262" r:id="R08548f25535d4789"/>
    <p:sldId xmlns:r="http://schemas.openxmlformats.org/officeDocument/2006/relationships" id="263" r:id="R9644325c0a544e4e"/>
    <p:sldId xmlns:r="http://schemas.openxmlformats.org/officeDocument/2006/relationships" id="264" r:id="R14b61648eda84be2"/>
    <p:sldId xmlns:r="http://schemas.openxmlformats.org/officeDocument/2006/relationships" id="265" r:id="R7319a3e569c943e9"/>
    <p:sldId xmlns:r="http://schemas.openxmlformats.org/officeDocument/2006/relationships" id="266" r:id="R172480c46230499c"/>
    <p:sldId xmlns:r="http://schemas.openxmlformats.org/officeDocument/2006/relationships" id="267" r:id="R2ed744faa1c1430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09cf342a2c142c8" /><Relationship Type="http://schemas.openxmlformats.org/officeDocument/2006/relationships/slideMaster" Target="/ppt/slideMasters/slideMaster1.xml" Id="R30a5af8fd4dd4680" /><Relationship Type="http://schemas.openxmlformats.org/officeDocument/2006/relationships/notesMaster" Target="/ppt/notesMasters/notesMaster1.xml" Id="Rbf77de0b1c684670" /><Relationship Type="http://schemas.openxmlformats.org/officeDocument/2006/relationships/presProps" Target="/ppt/presProps.xml" Id="Rfd6ab12135824461" /><Relationship Type="http://schemas.openxmlformats.org/officeDocument/2006/relationships/tableStyles" Target="/ppt/tableStyles.xml" Id="R5d5c2cf05bdd4e19" /><Relationship Type="http://schemas.openxmlformats.org/officeDocument/2006/relationships/slide" Target="/ppt/slides/slide1.xml" Id="R244c47757598425c" /><Relationship Type="http://schemas.openxmlformats.org/officeDocument/2006/relationships/slide" Target="/ppt/slides/slide2.xml" Id="R0c2cb6c44ba146ca" /><Relationship Type="http://schemas.openxmlformats.org/officeDocument/2006/relationships/slide" Target="/ppt/slides/slide3.xml" Id="R659c30139be249b5" /><Relationship Type="http://schemas.openxmlformats.org/officeDocument/2006/relationships/slide" Target="/ppt/slides/slide4.xml" Id="Rcbf1d8cd19d04610" /><Relationship Type="http://schemas.openxmlformats.org/officeDocument/2006/relationships/slide" Target="/ppt/slides/slide5.xml" Id="R22add00820074ee7" /><Relationship Type="http://schemas.openxmlformats.org/officeDocument/2006/relationships/slide" Target="/ppt/slides/slide6.xml" Id="R30635b60b9ff4167" /><Relationship Type="http://schemas.openxmlformats.org/officeDocument/2006/relationships/slide" Target="/ppt/slides/slide7.xml" Id="R08548f25535d4789" /><Relationship Type="http://schemas.openxmlformats.org/officeDocument/2006/relationships/slide" Target="/ppt/slides/slide8.xml" Id="R9644325c0a544e4e" /><Relationship Type="http://schemas.openxmlformats.org/officeDocument/2006/relationships/slide" Target="/ppt/slides/slide9.xml" Id="R14b61648eda84be2" /><Relationship Type="http://schemas.openxmlformats.org/officeDocument/2006/relationships/slide" Target="/ppt/slides/slide10.xml" Id="R7319a3e569c943e9" /><Relationship Type="http://schemas.openxmlformats.org/officeDocument/2006/relationships/slide" Target="/ppt/slides/slide11.xml" Id="R172480c46230499c" /><Relationship Type="http://schemas.openxmlformats.org/officeDocument/2006/relationships/slide" Target="/ppt/slides/slide12.xml" Id="R2ed744faa1c1430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c411f9350fb429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9efdcb63b434cfb" /><Relationship Type="http://schemas.openxmlformats.org/officeDocument/2006/relationships/notesMaster" Target="/ppt/notesMasters/notesMaster1.xml" Id="R8a628b52e8e24014" /></Relationships>
</file>

<file path=ppt/notesSlides/_rels/notesSlide2.xml.rels>&#65279;<?xml version="1.0" encoding="utf-8"?><Relationships xmlns="http://schemas.openxmlformats.org/package/2006/relationships"><Relationship Type="http://schemas.openxmlformats.org/officeDocument/2006/relationships/slide" Target="/ppt/slides/slide2.xml" Id="Rce14b71888c14453" /><Relationship Type="http://schemas.openxmlformats.org/officeDocument/2006/relationships/notesMaster" Target="/ppt/notesMasters/notesMaster1.xml" Id="R5286015fd7db4e0d" /></Relationships>
</file>

<file path=ppt/notesSlides/_rels/notesSlide3.xml.rels>&#65279;<?xml version="1.0" encoding="utf-8"?><Relationships xmlns="http://schemas.openxmlformats.org/package/2006/relationships"><Relationship Type="http://schemas.openxmlformats.org/officeDocument/2006/relationships/slide" Target="/ppt/slides/slide3.xml" Id="R440cfc6baeb34ccf" /><Relationship Type="http://schemas.openxmlformats.org/officeDocument/2006/relationships/notesMaster" Target="/ppt/notesMasters/notesMaster1.xml" Id="R69c62afad8274265" /></Relationships>
</file>

<file path=ppt/notesSlides/_rels/notesSlide4.xml.rels>&#65279;<?xml version="1.0" encoding="utf-8"?><Relationships xmlns="http://schemas.openxmlformats.org/package/2006/relationships"><Relationship Type="http://schemas.openxmlformats.org/officeDocument/2006/relationships/slide" Target="/ppt/slides/slide4.xml" Id="R8ce2ce364dbf408a" /><Relationship Type="http://schemas.openxmlformats.org/officeDocument/2006/relationships/notesMaster" Target="/ppt/notesMasters/notesMaster1.xml" Id="Rd6ca334b91434730" /></Relationships>
</file>

<file path=ppt/notesSlides/_rels/notesSlide5.xml.rels>&#65279;<?xml version="1.0" encoding="utf-8"?><Relationships xmlns="http://schemas.openxmlformats.org/package/2006/relationships"><Relationship Type="http://schemas.openxmlformats.org/officeDocument/2006/relationships/slide" Target="/ppt/slides/slide5.xml" Id="R3d827e30108b4172" /><Relationship Type="http://schemas.openxmlformats.org/officeDocument/2006/relationships/notesMaster" Target="/ppt/notesMasters/notesMaster1.xml" Id="Raa9c2f6c14a7466c" /></Relationships>
</file>

<file path=ppt/notesSlides/_rels/notesSlide6.xml.rels>&#65279;<?xml version="1.0" encoding="utf-8"?><Relationships xmlns="http://schemas.openxmlformats.org/package/2006/relationships"><Relationship Type="http://schemas.openxmlformats.org/officeDocument/2006/relationships/slide" Target="/ppt/slides/slide6.xml" Id="Ra19d0fdbf3564493" /><Relationship Type="http://schemas.openxmlformats.org/officeDocument/2006/relationships/notesMaster" Target="/ppt/notesMasters/notesMaster1.xml" Id="R439ac59d810e4bc4" /></Relationships>
</file>

<file path=ppt/notesSlides/_rels/notesSlide7.xml.rels>&#65279;<?xml version="1.0" encoding="utf-8"?><Relationships xmlns="http://schemas.openxmlformats.org/package/2006/relationships"><Relationship Type="http://schemas.openxmlformats.org/officeDocument/2006/relationships/slide" Target="/ppt/slides/slide7.xml" Id="Re3d0fe2746a04427" /><Relationship Type="http://schemas.openxmlformats.org/officeDocument/2006/relationships/notesMaster" Target="/ppt/notesMasters/notesMaster1.xml" Id="Rff1eb5340ab24e7e" /></Relationships>
</file>

<file path=ppt/notesSlides/_rels/notesSlide8.xml.rels>&#65279;<?xml version="1.0" encoding="utf-8"?><Relationships xmlns="http://schemas.openxmlformats.org/package/2006/relationships"><Relationship Type="http://schemas.openxmlformats.org/officeDocument/2006/relationships/slide" Target="/ppt/slides/slide8.xml" Id="R57ea6d102e6c412f" /><Relationship Type="http://schemas.openxmlformats.org/officeDocument/2006/relationships/notesMaster" Target="/ppt/notesMasters/notesMaster1.xml" Id="Rda017342b2f544f5" /></Relationships>
</file>

<file path=ppt/notesSlides/_rels/notesSlide9.xml.rels>&#65279;<?xml version="1.0" encoding="utf-8"?><Relationships xmlns="http://schemas.openxmlformats.org/package/2006/relationships"><Relationship Type="http://schemas.openxmlformats.org/officeDocument/2006/relationships/slide" Target="/ppt/slides/slide9.xml" Id="Rd2b13ee169f24451" /><Relationship Type="http://schemas.openxmlformats.org/officeDocument/2006/relationships/notesMaster" Target="/ppt/notesMasters/notesMaster1.xml" Id="Rb5b02892bcec4d3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ee71221fe104ec4" /><Relationship Type="http://schemas.openxmlformats.org/officeDocument/2006/relationships/notesMaster" Target="/ppt/notesMasters/notesMaster1.xml" Id="Re5e1b70211b9437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fb28ce49ce443a9" /><Relationship Type="http://schemas.openxmlformats.org/officeDocument/2006/relationships/notesMaster" Target="/ppt/notesMasters/notesMaster1.xml" Id="Rbf27b5fb6053417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ceffded83dc4c42" /><Relationship Type="http://schemas.openxmlformats.org/officeDocument/2006/relationships/notesMaster" Target="/ppt/notesMasters/notesMaster1.xml" Id="R571b78b535ac4fe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30 วินาที</a:t>
            </a:r>
          </a:p>
          <a:p xmlns:a="http://schemas.openxmlformats.org/drawingml/2006/main">
            <a:r>
              <a:t/>
            </a:r>
          </a:p>
          <a:p xmlns:a="http://schemas.openxmlformats.org/drawingml/2006/main">
            <a:r>
              <a:t>บทพูด</a:t>
            </a:r>
          </a:p>
          <a:p xmlns:a="http://schemas.openxmlformats.org/drawingml/2006/main">
            <a:r>
              <a:t>สวัสดีคณะอาจารย์และทีมไอทีทุกท่าน วันนี้ขอนำเสนอ ScopeBot ระบบแชตบอตสำหรับองค์กรที่นำเอกสารมาใช้เป็นแหล่งความรู้ในการตอบคำถาม ผู้ดูแลสามารถสร้างบอทและกำหนดเอกสารให้เหมาะกับงานได้ ระบบรองรับการสนทนาผ่านเว็บและ LINE รวมถึงการให้เจ้าหน้าที่รับช่วงต่อ การนำเสนอจะเริ่มจากปัญหา ภาพรวมทางเทคนิค และการสาธิต ก่อนสรุปผลทดสอบกับข้อจำกัดของระบบ</a:t>
            </a:r>
          </a:p>
          <a:p xmlns:a="http://schemas.openxmlformats.org/drawingml/2006/main">
            <a:r>
              <a:t/>
            </a:r>
          </a:p>
          <a:p xmlns:a="http://schemas.openxmlformats.org/drawingml/2006/main">
            <a:r>
              <a:t>ประโยคเชื่อม: เริ่มจากปัญหาที่เราต้องการแก้ก่อน</a:t>
            </a:r>
          </a:p>
          <a:p xmlns:a="http://schemas.openxmlformats.org/drawingml/2006/main">
            <a:r>
              <a:t/>
            </a:r>
          </a:p>
          <a:p xmlns:a="http://schemas.openxmlformats.org/drawingml/2006/main">
            <a:r>
              <a:t>ภาพ: โลโก้ ScopeBot หรือภาพหน้าจอหลัก</a:t>
            </a:r>
          </a:p>
          <a:p xmlns:a="http://schemas.openxmlformats.org/drawingml/2006/main">
            <a:r>
              <a:t>วางด้านขวา ให้เห็นชื่อบอทและช่องสนทนา</a:t>
            </a:r>
          </a:p>
          <a:p xmlns:a="http://schemas.openxmlformats.org/drawingml/2006/main">
            <a:r>
              <a:t/>
            </a:r>
          </a:p>
          <a:p xmlns:a="http://schemas.openxmlformats.org/drawingml/2006/main">
            <a:r>
              <a:t>แหล่งข้อมูล: README.md; deliverables/ScopeBot_Presenter_Guide_TH.md; docs/rag-correctness.md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60 วินาที</a:t>
            </a:r>
          </a:p>
          <a:p xmlns:a="http://schemas.openxmlformats.org/drawingml/2006/main">
            <a:r>
              <a:t/>
            </a:r>
          </a:p>
          <a:p xmlns:a="http://schemas.openxmlformats.org/drawingml/2006/main">
            <a:r>
              <a:t>บทพูด</a:t>
            </a:r>
          </a:p>
          <a:p xmlns:a="http://schemas.openxmlformats.org/drawingml/2006/main">
            <a:r>
              <a:t>ปัญหาที่โครงงานนี้มุ่งแก้คือ ผู้ใช้อาจมีคำถามสั้น ๆ แต่ข้อมูลคำตอบอยู่ในเอกสารหลายหน้า หรือกระจายอยู่หลายไฟล์ จึงต้องรู้ก่อนว่าควรเปิดเอกสารไหนและอ่านตรงส่วนใด ขณะเดียวกันเจ้าหน้าที่อาจต้องตอบคำถามลักษณะเดิมอยู่บ่อยครั้ง ตัวอย่างสถานการณ์สมมติคือ ผู้ใช้ถามว่าต้องเตรียมเอกสารอะไรบ้างสำหรับขั้นตอนหนึ่ง คำตอบอาจอยู่ในคู่มือ แต่ผู้ใช้ไม่รู้ชื่อไฟล์ ScopeBot จึงออกแบบให้ผู้ใช้ถามเป็นภาษาปกติ แล้วระบบค้นข้อความที่เกี่ยวข้องมาช่วยตอบ เป้าหมายของเราคือทำให้เข้าถึงข้อมูลสะดวกขึ้น ส่วนการลดเวลาหรือภาระงานเป็นประโยชน์ที่ต้องวัดกับการใช้งานจริงต่อไป</a:t>
            </a:r>
          </a:p>
          <a:p xmlns:a="http://schemas.openxmlformats.org/drawingml/2006/main">
            <a:r>
              <a:t/>
            </a:r>
          </a:p>
          <a:p xmlns:a="http://schemas.openxmlformats.org/drawingml/2006/main">
            <a:r>
              <a:t>ประโยคเชื่อม: จากปัญหานี้ เรากำหนดขอบเขตของระบบไว้ดังนี้</a:t>
            </a:r>
          </a:p>
          <a:p xmlns:a="http://schemas.openxmlformats.org/drawingml/2006/main">
            <a:r>
              <a:t/>
            </a:r>
          </a:p>
          <a:p xmlns:a="http://schemas.openxmlformats.org/drawingml/2006/main">
            <a:r>
              <a:t>ภาพ: ภาพเอกสารและคำถามตัวอย่าง</a:t>
            </a:r>
          </a:p>
          <a:p xmlns:a="http://schemas.openxmlformats.org/drawingml/2006/main">
            <a:r>
              <a:t>เช่น “ต้องเตรียมเอกสารอะไรบ้าง”</a:t>
            </a:r>
          </a:p>
          <a:p xmlns:a="http://schemas.openxmlformats.org/drawingml/2006/main">
            <a:r>
              <a:t>ใช้ข้อมูลสมมติหรือข้อมูลที่เผยแพร่ได้</a:t>
            </a:r>
          </a:p>
          <a:p xmlns:a="http://schemas.openxmlformats.org/drawingml/2006/main">
            <a:r>
              <a:t/>
            </a:r>
          </a:p>
          <a:p xmlns:a="http://schemas.openxmlformats.org/drawingml/2006/main">
            <a:r>
              <a:t>แหล่งข้อมูล: README.md; deliverables/ScopeBot_Presenter_Guide_TH.md; docs/rag-correctness.md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50 วินาที</a:t>
            </a:r>
          </a:p>
          <a:p xmlns:a="http://schemas.openxmlformats.org/drawingml/2006/main">
            <a:r>
              <a:t/>
            </a:r>
          </a:p>
          <a:p xmlns:a="http://schemas.openxmlformats.org/drawingml/2006/main">
            <a:r>
              <a:t>บทพูด</a:t>
            </a:r>
          </a:p>
          <a:p xmlns:a="http://schemas.openxmlformats.org/drawingml/2006/main">
            <a:r>
              <a:t>ScopeBot เป็นแพลตฟอร์มที่รองรับบอทได้หลายตัว จึงสามารถจัดความรู้ให้ตรงกับแต่ละงานได้ เจ้าของบอทเป็นผู้จัดการบอท เอกสาร และรับช่วงสนทนาของบอทตนเอง ส่วนผู้สนทนาเข้าถึงบริการผ่านเว็บหรือ LINE ในระดับแพลตฟอร์มมี Admin และ Support ช่วยดูแลบัญชี โดยคำว่า Support ในระบบนี้เป็นบทบาทดูแลบัญชี ผู้ที่ตอบแชทสดคือเจ้าของบอท ระบบยังรองรับเอกสารหลายรูปแบบ เช่น PDF, DOCX, TXT และ CSV ขอบเขตหลักของโครงงานจึงครอบคลุมทั้งการจัดการความรู้ การตอบคำถาม และการส่งต่อให้คน</a:t>
            </a:r>
          </a:p>
          <a:p xmlns:a="http://schemas.openxmlformats.org/drawingml/2006/main">
            <a:r>
              <a:t/>
            </a:r>
          </a:p>
          <a:p xmlns:a="http://schemas.openxmlformats.org/drawingml/2006/main">
            <a:r>
              <a:t>ประโยคเชื่อม: ต่อไปจะดูการใช้งานหนึ่งรอบตั้งแต่เตรียมบอทจนถึงการตอบ</a:t>
            </a:r>
          </a:p>
          <a:p xmlns:a="http://schemas.openxmlformats.org/drawingml/2006/main">
            <a:r>
              <a:t/>
            </a:r>
          </a:p>
          <a:p xmlns:a="http://schemas.openxmlformats.org/drawingml/2006/main">
            <a:r>
              <a:t>ภาพ: ภาพหน้า Bots Page</a:t>
            </a:r>
          </a:p>
          <a:p xmlns:a="http://schemas.openxmlformats.org/drawingml/2006/main">
            <a:r>
              <a:t>วางด้านขวา ครอปให้เห็นรายชื่อบอท</a:t>
            </a:r>
          </a:p>
          <a:p xmlns:a="http://schemas.openxmlformats.org/drawingml/2006/main">
            <a:r>
              <a:t>ไฟล์ต้นทาง: src/imports/Bots_Page.png</a:t>
            </a:r>
          </a:p>
          <a:p xmlns:a="http://schemas.openxmlformats.org/drawingml/2006/main">
            <a:r>
              <a:t/>
            </a:r>
          </a:p>
          <a:p xmlns:a="http://schemas.openxmlformats.org/drawingml/2006/main">
            <a:r>
              <a:t>แหล่งข้อมูล: README.md; deliverables/ScopeBot_Presenter_Guide_TH.md; docs/rag-correctness.md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50 วินาที</a:t>
            </a:r>
          </a:p>
          <a:p xmlns:a="http://schemas.openxmlformats.org/drawingml/2006/main">
            <a:r>
              <a:t/>
            </a:r>
          </a:p>
          <a:p xmlns:a="http://schemas.openxmlformats.org/drawingml/2006/main">
            <a:r>
              <a:t>บทพูด</a:t>
            </a:r>
          </a:p>
          <a:p xmlns:a="http://schemas.openxmlformats.org/drawingml/2006/main">
            <a:r>
              <a:t>การใช้งานแบ่งเป็นสองช่วง ช่วงแรกเจ้าของบอทเตรียมบอทและเอกสาร ระบบต้องประมวลผลความรู้ให้พร้อมก่อน ผู้ใช้จึงจะถามข้อมูลจากเอกสารนั้นได้ ช่วงที่สองคือการสนทนา เมื่อมีคำถาม ระบบค้นข้อมูลของบอทที่เลือกแล้วสร้างคำตอบ หากข้อมูลไม่เพียงพอหรือผู้ใช้ต้องการความช่วยเหลือ ก็เข้าสู่ขั้นตอนติดต่อเจ้าของบอท จุดที่ต้องเข้าใจคือการอัปโหลดไฟล์กับความพร้อมของดัชนีค้นหาเป็นคนละขั้นตอน เราจึงต้องตรวจให้แน่ใจว่าความรู้ประมวลผลแล้วก่อนเริ่มสาธิต</a:t>
            </a:r>
          </a:p>
          <a:p xmlns:a="http://schemas.openxmlformats.org/drawingml/2006/main">
            <a:r>
              <a:t/>
            </a:r>
          </a:p>
          <a:p xmlns:a="http://schemas.openxmlformats.org/drawingml/2006/main">
            <a:r>
              <a:t>ประโยคเชื่อม: เมื่อเห็นการใช้งานแล้ว มาดูว่าส่วนต่าง ๆ ภายในระบบทำงานร่วมกันอย่างไร</a:t>
            </a:r>
          </a:p>
          <a:p xmlns:a="http://schemas.openxmlformats.org/drawingml/2006/main">
            <a:r>
              <a:t/>
            </a:r>
          </a:p>
          <a:p xmlns:a="http://schemas.openxmlformats.org/drawingml/2006/main">
            <a:r>
              <a:t>ภาพ: ภาพหน้าจอสร้างบอทหรือเพิ่มเอกสาร</a:t>
            </a:r>
          </a:p>
          <a:p xmlns:a="http://schemas.openxmlformats.org/drawingml/2006/main">
            <a:r>
              <a:t>วางด้านขวา เน้นเมนูที่ต้องกดจริง</a:t>
            </a:r>
          </a:p>
          <a:p xmlns:a="http://schemas.openxmlformats.org/drawingml/2006/main">
            <a:r>
              <a:t>ไฟล์ต้นทาง: src/imports/Create_Bots_Page.png</a:t>
            </a:r>
          </a:p>
          <a:p xmlns:a="http://schemas.openxmlformats.org/drawingml/2006/main">
            <a:r>
              <a:t/>
            </a:r>
          </a:p>
          <a:p xmlns:a="http://schemas.openxmlformats.org/drawingml/2006/main">
            <a:r>
              <a:t>แหล่งข้อมูล: README.md; deliverables/ScopeBot_Presenter_Guide_TH.md; docs/rag-correctness.md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90 วินาที</a:t>
            </a:r>
          </a:p>
          <a:p xmlns:a="http://schemas.openxmlformats.org/drawingml/2006/main">
            <a:r>
              <a:t/>
            </a:r>
          </a:p>
          <a:p xmlns:a="http://schemas.openxmlformats.org/drawingml/2006/main">
            <a:r>
              <a:t>บทพูด</a:t>
            </a:r>
          </a:p>
          <a:p xmlns:a="http://schemas.openxmlformats.org/drawingml/2006/main">
            <a:r>
              <a:t>ในด้านสถาปัตยกรรม ฝั่งเว็บพัฒนาด้วย React เป็นส่วนที่ผู้ใช้เห็นและใช้จัดการบอท เมื่อผู้ใช้ส่งคำขอ Frontend จะติดต่อ FastAPI ซึ่งเป็นศูนย์กลางการประมวลผล Backend ตรวจตัวตนและสิทธิ์ก่อนเข้าถึงข้อมูล จากนั้นจึงเลือกว่าจะอ่านหรือเขียนฐานข้อมูล หรือเรียกกระบวนการ RAG สำหรับตอบคำถาม PostgreSQL เก็บข้อมูลที่มีโครงสร้าง เช่น บัญชี บอท และประวัติการสนทนา ส่วนข้อความจากเอกสารและ embeddings สำหรับค้นหาอยู่ใน ChromaDB จากนั้น Ollama ทำหน้าที่ให้บริการโมเดลภาษา สำหรับ LINE คำขอเข้าผ่าน webhook ที่ Backend และมีการตรวจ signature ตามช่องทางนั้น ในรูปแบบการติดตั้งที่มีในโครงการ Nginx ให้บริการหน้าเว็บและส่งคำขอ API ไปที่ FastAPI มี Docker Compose ช่วยจัดบริการ ส่วน Ollama รันบนเครื่อง host ตามการตั้งค่า compose ความสามารถรองรับโหลดจริงยังต้องประเมินตามเครื่องและโมเดลที่เลือก</a:t>
            </a:r>
          </a:p>
          <a:p xmlns:a="http://schemas.openxmlformats.org/drawingml/2006/main">
            <a:r>
              <a:t/>
            </a:r>
          </a:p>
          <a:p xmlns:a="http://schemas.openxmlformats.org/drawingml/2006/main">
            <a:r>
              <a:t>ประโยคเชื่อม: ส่วนที่ทำให้คำตอบเชื่อมโยงกับเอกสารคือกระบวนการ RAG</a:t>
            </a:r>
          </a:p>
          <a:p xmlns:a="http://schemas.openxmlformats.org/drawingml/2006/main">
            <a:r>
              <a:t/>
            </a:r>
          </a:p>
          <a:p xmlns:a="http://schemas.openxmlformats.org/drawingml/2006/main">
            <a:r>
              <a:t>ภาพ: แผนภาพสถาปัตยกรรมแบบย่อ</a:t>
            </a:r>
          </a:p>
          <a:p xmlns:a="http://schemas.openxmlformats.org/drawingml/2006/main">
            <a:r>
              <a:t>Web / LINE → FastAPI</a:t>
            </a:r>
          </a:p>
          <a:p xmlns:a="http://schemas.openxmlformats.org/drawingml/2006/main">
            <a:r>
              <a:t>แยกแขนงไป PostgreSQL และ RAG → Ollama</a:t>
            </a:r>
          </a:p>
          <a:p xmlns:a="http://schemas.openxmlformats.org/drawingml/2006/main">
            <a:r>
              <a:t>ใส่ Storage / ChromaDB ในส่วน RAG</a:t>
            </a:r>
          </a:p>
          <a:p xmlns:a="http://schemas.openxmlformats.org/drawingml/2006/main">
            <a:r>
              <a:t/>
            </a:r>
          </a:p>
          <a:p xmlns:a="http://schemas.openxmlformats.org/drawingml/2006/main">
            <a:r>
              <a:t>แหล่งข้อมูล: README.md; deliverables/ScopeBot_Presenter_Guide_TH.md; docs/rag-correctness.md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120 วินาที</a:t>
            </a:r>
          </a:p>
          <a:p xmlns:a="http://schemas.openxmlformats.org/drawingml/2006/main">
            <a:r>
              <a:t/>
            </a:r>
          </a:p>
          <a:p xmlns:a="http://schemas.openxmlformats.org/drawingml/2006/main">
            <a:r>
              <a:t>บทพูด</a:t>
            </a:r>
          </a:p>
          <a:p xmlns:a="http://schemas.openxmlformats.org/drawingml/2006/main">
            <a:r>
              <a:t>RAG เป็นกระบวนการนำข้อมูลที่ค้นพบมาเป็นบริบทให้โมเดลภาษา โดยมีสองช่วงสำคัญ ช่วงเตรียมความรู้เริ่มจากอ่านไฟล์และแบ่งเนื้อหาออกเป็นข้อความย่อยหรือ chunks จากนั้นแปลงข้อความเป็น embeddings ซึ่งเป็นตัวแทนเชิงตัวเลขที่ใช้ค้นหาข้อความที่เกี่ยวข้อง แล้วเก็บไว้ในดัชนีของบอท ขั้นตอนนี้เป็นการเตรียมความรู้สำหรับการค้นหา เมื่อเอกสารเปลี่ยน ระบบจึงต้องประมวลผลดัชนีที่เกี่ยวข้องให้ตรงกับข้อมูลใหม่</a:t>
            </a:r>
          </a:p>
          <a:p xmlns:a="http://schemas.openxmlformats.org/drawingml/2006/main">
            <a:r>
              <a:t/>
            </a:r>
          </a:p>
          <a:p xmlns:a="http://schemas.openxmlformats.org/drawingml/2006/main">
            <a:r>
              <a:t>ช่วงตอบคำถามเริ่มเมื่อผู้ใช้ส่งข้อความเข้ามา ระบบใช้คำถามและบริบทคำถามล่าสุดช่วยค้นเนื้อหาที่เกี่ยวข้อง จากนั้นนำข้อความที่ค้นได้มาเป็นหลักฐานประกอบคำสั่งให้โมเดลสร้างคำตอบ ตัวอย่างสมมติคือถามว่าเงื่อนไขการใช้บริการมีอะไรบ้าง ระบบจะค้นส่วนเงื่อนไขในเอกสารก่อน จึงไม่ต้องส่งเอกสารทั้งหมดให้โมเดลทุกครั้ง โค้ดปัจจุบันมีการตรวจหลักฐานของคำตอบ และสามารถปฏิเสธข้อความที่ไม่มีข้อมูลรองรับได้ ส่วนเว็บสามารถแสดงชื่อไฟล์และข้อความประกอบให้ตรวจสอบย้อนกลับ แต่ไม่ได้หมายความว่าคำตอบทุกกรณีจะถูกต้องเสมอ การประเมินจึงต้องดูทั้งค้นข้อความถูกหรือไม่ และคำตอบรักษาความหมายกับเงื่อนไขในเอกสารครบหรือไม่</a:t>
            </a:r>
          </a:p>
          <a:p xmlns:a="http://schemas.openxmlformats.org/drawingml/2006/main">
            <a:r>
              <a:t/>
            </a:r>
          </a:p>
          <a:p xmlns:a="http://schemas.openxmlformats.org/drawingml/2006/main">
            <a:r>
              <a:t>ประโยคเชื่อม: นอกจากความถูกต้องของคำตอบ อีกเรื่องสำคัญคือข้อมูลและสิทธิ์การเข้าถึง</a:t>
            </a:r>
          </a:p>
          <a:p xmlns:a="http://schemas.openxmlformats.org/drawingml/2006/main">
            <a:r>
              <a:t/>
            </a:r>
          </a:p>
          <a:p xmlns:a="http://schemas.openxmlformats.org/drawingml/2006/main">
            <a:r>
              <a:t>ภาพ: แผนภาพ RAG แบ่งสองแถว</a:t>
            </a:r>
          </a:p>
          <a:p xmlns:a="http://schemas.openxmlformats.org/drawingml/2006/main">
            <a:r>
              <a:t>แถวบน: เอกสาร → chunks → embeddings → index</a:t>
            </a:r>
          </a:p>
          <a:p xmlns:a="http://schemas.openxmlformats.org/drawingml/2006/main">
            <a:r>
              <a:t>แถวล่าง: คำถาม → retrieval → context → คำตอบ</a:t>
            </a:r>
          </a:p>
          <a:p xmlns:a="http://schemas.openxmlformats.org/drawingml/2006/main">
            <a:r>
              <a:t>วางด้านขวา ใช้คำสั้นและตัวอักษรใหญ่</a:t>
            </a:r>
          </a:p>
          <a:p xmlns:a="http://schemas.openxmlformats.org/drawingml/2006/main">
            <a:r>
              <a:t/>
            </a:r>
          </a:p>
          <a:p xmlns:a="http://schemas.openxmlformats.org/drawingml/2006/main">
            <a:r>
              <a:t>แหล่งข้อมูล: README.md; deliverables/ScopeBot_Presenter_Guide_TH.md; docs/rag-correctness.md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70 วินาที</a:t>
            </a:r>
          </a:p>
          <a:p xmlns:a="http://schemas.openxmlformats.org/drawingml/2006/main">
            <a:r>
              <a:t/>
            </a:r>
          </a:p>
          <a:p xmlns:a="http://schemas.openxmlformats.org/drawingml/2006/main">
            <a:r>
              <a:t>บทพูด</a:t>
            </a:r>
          </a:p>
          <a:p xmlns:a="http://schemas.openxmlformats.org/drawingml/2006/main">
            <a:r>
              <a:t>ระบบจัดเก็บข้อมูลแยกตามหน้าที่ PostgreSQL ใช้เก็บข้อมูลที่มีความสัมพันธ์ชัดเจน เช่น ผู้ใช้เป็นเจ้าของบอท และบอทมีประวัติการสนทนา ส่วน ChromaDB เก็บข้อความย่อยกับ embeddings เพื่อใช้ค้นหา โดยมีการแยกความรู้ตามบอท และ Storage เก็บไฟล์เอกสารต้นฉบับ ในการเข้าใช้งานเว็บ ระบบใช้ token ยืนยันตัวตน แล้ว Backend ตรวจสิทธิ์ตามบทบาทและความเป็นเจ้าของบอทอีกครั้ง การมีเมนูบนหน้าจอจึงต้องสัมพันธ์กับสิทธิ์ที่ Backend บังคับใช้ด้วย สำหรับการนำไปใช้งานในบริษัท ทีมไอทีควรประเมินการกำหนดสิทธิ์จริง การสำรองข้อมูล และการจัดเก็บประวัติให้ตรงกับนโยบายองค์กร ซึ่งเป็นส่วนที่ต้องกำหนดตามสภาพแวดล้อมใช้งาน</a:t>
            </a:r>
          </a:p>
          <a:p xmlns:a="http://schemas.openxmlformats.org/drawingml/2006/main">
            <a:r>
              <a:t/>
            </a:r>
          </a:p>
          <a:p xmlns:a="http://schemas.openxmlformats.org/drawingml/2006/main">
            <a:r>
              <a:t>ประโยคเชื่อม: ต่อไปคือกรณีที่การสนทนาต้องให้คนเข้ามาช่วย</a:t>
            </a:r>
          </a:p>
          <a:p xmlns:a="http://schemas.openxmlformats.org/drawingml/2006/main">
            <a:r>
              <a:t/>
            </a:r>
          </a:p>
          <a:p xmlns:a="http://schemas.openxmlformats.org/drawingml/2006/main">
            <a:r>
              <a:t>ภาพ: แผนผังข้อมูล 3 ส่วน</a:t>
            </a:r>
          </a:p>
          <a:p xmlns:a="http://schemas.openxmlformats.org/drawingml/2006/main">
            <a:r>
              <a:t>PostgreSQL / ChromaDB / Document Storage</a:t>
            </a:r>
          </a:p>
          <a:p xmlns:a="http://schemas.openxmlformats.org/drawingml/2006/main">
            <a:r>
              <a:t>หรือ ER ย่อเฉพาะ users, bots, conversations</a:t>
            </a:r>
          </a:p>
          <a:p xmlns:a="http://schemas.openxmlformats.org/drawingml/2006/main">
            <a:r>
              <a:t>วางด้านขวา หลีกเลี่ยง ER ทั้งระบบ</a:t>
            </a:r>
          </a:p>
          <a:p xmlns:a="http://schemas.openxmlformats.org/drawingml/2006/main">
            <a:r>
              <a:t/>
            </a:r>
          </a:p>
          <a:p xmlns:a="http://schemas.openxmlformats.org/drawingml/2006/main">
            <a:r>
              <a:t>แหล่งข้อมูล: README.md; deliverables/ScopeBot_Presenter_Guide_TH.md; docs/rag-correctness.md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70 วินาที</a:t>
            </a:r>
          </a:p>
          <a:p xmlns:a="http://schemas.openxmlformats.org/drawingml/2006/main">
            <a:r>
              <a:t/>
            </a:r>
          </a:p>
          <a:p xmlns:a="http://schemas.openxmlformats.org/drawingml/2006/main">
            <a:r>
              <a:t>บทพูด</a:t>
            </a:r>
          </a:p>
          <a:p xmlns:a="http://schemas.openxmlformats.org/drawingml/2006/main">
            <a:r>
              <a:t>เราออกแบบให้การตอบอัตโนมัติทำงานร่วมกับคนได้ เมื่อคำถามไม่มีข้อมูลรองรับ หรือผู้ใช้ต้องการติดต่อเจ้าหน้าที่ การสนทนาจะเข้าสู่ขั้นตอนส่งต่อ โดยเว็บแสดงตัวเลือกให้ผู้ใช้ติดต่อ ส่วน LINE รองรับการเข้าสู่คิวโดยอัตโนมัติตามเงื่อนไขของระบบ ในการทำงานมีสถานะหลักคือ bot สำหรับการตอบโดยบอท waiting สำหรับรอคนรับช่วง และ human เมื่อเจ้าของบอทเริ่มตอบ เมื่อจบงานเจ้าของบอทปิด session เพื่อกลับสู่การทำงานของบอทตามกระบวนการ จุดนี้ช่วยให้ผู้ใช้ยังมีช่องทางดำเนินเรื่องต่อ แต่เวลารอและความต่อเนื่องของบริการยังขึ้นอยู่กับผู้ที่รับผิดชอบจริง</a:t>
            </a:r>
          </a:p>
          <a:p xmlns:a="http://schemas.openxmlformats.org/drawingml/2006/main">
            <a:r>
              <a:t/>
            </a:r>
          </a:p>
          <a:p xmlns:a="http://schemas.openxmlformats.org/drawingml/2006/main">
            <a:r>
              <a:t>ประโยคเชื่อม: ต่อไปจะสาธิตเส้นทางนี้ด้วยบอทและเอกสารที่เตรียมไว้</a:t>
            </a:r>
          </a:p>
          <a:p xmlns:a="http://schemas.openxmlformats.org/drawingml/2006/main">
            <a:r>
              <a:t/>
            </a:r>
          </a:p>
          <a:p xmlns:a="http://schemas.openxmlformats.org/drawingml/2006/main">
            <a:r>
              <a:t>ภาพ: ภาพหน้าจอแชทรวมของเจ้าของบอท</a:t>
            </a:r>
          </a:p>
          <a:p xmlns:a="http://schemas.openxmlformats.org/drawingml/2006/main">
            <a:r>
              <a:t>วางด้านขวา ให้เห็นคิวและปุ่มตอบ</a:t>
            </a:r>
          </a:p>
          <a:p xmlns:a="http://schemas.openxmlformats.org/drawingml/2006/main">
            <a:r>
              <a:t>ปิดชื่อบุคคลและข้อความส่วนตัวก่อนใช้</a:t>
            </a:r>
          </a:p>
          <a:p xmlns:a="http://schemas.openxmlformats.org/drawingml/2006/main">
            <a:r>
              <a:t/>
            </a:r>
          </a:p>
          <a:p xmlns:a="http://schemas.openxmlformats.org/drawingml/2006/main">
            <a:r>
              <a:t>แหล่งข้อมูล: README.md; deliverables/ScopeBot_Presenter_Guide_TH.md; docs/rag-correctness.md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150 วินาที</a:t>
            </a:r>
          </a:p>
          <a:p xmlns:a="http://schemas.openxmlformats.org/drawingml/2006/main">
            <a:r>
              <a:t/>
            </a:r>
          </a:p>
          <a:p xmlns:a="http://schemas.openxmlformats.org/drawingml/2006/main">
            <a:r>
              <a:t>บทพูด</a:t>
            </a:r>
          </a:p>
          <a:p xmlns:a="http://schemas.openxmlformats.org/drawingml/2006/main">
            <a:r>
              <a:t>[0:00–0:25] ตอนนี้เราอยู่ที่หน้าจัดการบอท บอทนี้เชื่อมกับเอกสารที่เตรียมไว้และประมวลผลความรู้แล้ว ขอแสดงชื่อเอกสารเพื่อให้ตรวจสอบว่าคำตอบมาจากข้อมูลชุดใด</a:t>
            </a:r>
          </a:p>
          <a:p xmlns:a="http://schemas.openxmlformats.org/drawingml/2006/main">
            <a:r>
              <a:t/>
            </a:r>
          </a:p>
          <a:p xmlns:a="http://schemas.openxmlformats.org/drawingml/2006/main">
            <a:r>
              <a:t>[0:25–1:10] ต่อไปจะถามคำถามที่มีคำตอบอยู่ในเอกสาร ระหว่างรอ ระบบกำลังค้นข้อความที่เกี่ยวข้องและสร้างคำตอบ เมื่อคำตอบปรากฏให้ชี้ข้อมูลที่ตรงกับคำถาม แล้วเปิดชื่อไฟล์หรือข้อความประกอบบนเว็บเพื่อเทียบกับต้นฉบับ อธิบายเฉพาะผลที่เห็นบนหน้าจอ</a:t>
            </a:r>
          </a:p>
          <a:p xmlns:a="http://schemas.openxmlformats.org/drawingml/2006/main">
            <a:r>
              <a:t/>
            </a:r>
          </a:p>
          <a:p xmlns:a="http://schemas.openxmlformats.org/drawingml/2006/main">
            <a:r>
              <a:t>[1:10–2:10] ต่อไปเป็นการขอคุยกับเจ้าหน้าที่ เปลี่ยนไปยังหน้าจอเจ้าของบอท แสดงการรับช่วงและตอบข้อความหนึ่งครั้ง แล้วกลับไปที่หน้าผู้สนทนาเพื่อดูข้อความตอบ จากนั้นจบ session</a:t>
            </a:r>
          </a:p>
          <a:p xmlns:a="http://schemas.openxmlformats.org/drawingml/2006/main">
            <a:r>
              <a:t/>
            </a:r>
          </a:p>
          <a:p xmlns:a="http://schemas.openxmlformats.org/drawingml/2006/main">
            <a:r>
              <a:t>[2:10–2:30] การสาธิตนี้แสดงเส้นทางตั้งแต่ใช้เอกสารตอบคำถามจนถึงให้คนรับช่วง กรณีระบบช้าหรือบริการไม่พร้อม ให้เปิดวิดีโอจากการซ้อมที่เตรียมไว้ และบอกผู้ฟังว่าเป็นวิดีโอบันทึกการทำงาน</a:t>
            </a:r>
          </a:p>
          <a:p xmlns:a="http://schemas.openxmlformats.org/drawingml/2006/main">
            <a:r>
              <a:t/>
            </a:r>
          </a:p>
          <a:p xmlns:a="http://schemas.openxmlformats.org/drawingml/2006/main">
            <a:r>
              <a:t>ประโยคเชื่อม: หลังเห็นการใช้งานแล้ว มาดูหลักฐานการทดสอบและสิ่งที่ยังต้องประเมิน</a:t>
            </a:r>
          </a:p>
          <a:p xmlns:a="http://schemas.openxmlformats.org/drawingml/2006/main">
            <a:r>
              <a:t/>
            </a:r>
          </a:p>
          <a:p xmlns:a="http://schemas.openxmlformats.org/drawingml/2006/main">
            <a:r>
              <a:t>ภาพ: ภาพหน้าจอบอทที่ใช้สาธิต</a:t>
            </a:r>
          </a:p>
          <a:p xmlns:a="http://schemas.openxmlformats.org/drawingml/2006/main">
            <a:r>
              <a:t>ขณะนำเสนอให้สลับไปยังระบบจริง</a:t>
            </a:r>
          </a:p>
          <a:p xmlns:a="http://schemas.openxmlformats.org/drawingml/2006/main">
            <a:r>
              <a:t>เตรียมวิดีโอการซ้อมจริงไว้สำรอง</a:t>
            </a:r>
          </a:p>
          <a:p xmlns:a="http://schemas.openxmlformats.org/drawingml/2006/main">
            <a:r>
              <a:t/>
            </a:r>
          </a:p>
          <a:p xmlns:a="http://schemas.openxmlformats.org/drawingml/2006/main">
            <a:r>
              <a:t>แหล่งข้อมูล: README.md; deliverables/ScopeBot_Presenter_Guide_TH.md; docs/rag-correctness.md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90 วินาที</a:t>
            </a:r>
          </a:p>
          <a:p xmlns:a="http://schemas.openxmlformats.org/drawingml/2006/main">
            <a:r>
              <a:t/>
            </a:r>
          </a:p>
          <a:p xmlns:a="http://schemas.openxmlformats.org/drawingml/2006/main">
            <a:r>
              <a:t>บทพูด</a:t>
            </a:r>
          </a:p>
          <a:p xmlns:a="http://schemas.openxmlformats.org/drawingml/2006/main">
            <a:r>
              <a:t>การประเมินระบบควรแยกความถูกต้องของโปรแกรมออกจากคุณภาพคำตอบของโมเดล เอกสารผลทดสอบในโครงการรายงานว่า backend ผ่าน 139 กรณี ณ การตรวจที่บันทึกไว้ โดยชุดทดสอบครอบคลุมงานข้อมูล สิทธิ์ และเงื่อนไขของกระบวนการ RAG ตัวอย่างกรณีคือการรักษาความหมายของคำปฏิเสธ การอ้างตัวเลขตามหลักฐาน การอ่านตารางจาก DOCX และคำถามต่อเนื่อง สำหรับ regression tests มีการจำลองผลตอบจากโมเดลเพื่อให้ทดสอบซ้ำได้ จึงยังใช้สรุปเป็นเปอร์เซ็นต์ความแม่นยำของโมเดลจริงไม่ได้</a:t>
            </a:r>
          </a:p>
          <a:p xmlns:a="http://schemas.openxmlformats.org/drawingml/2006/main">
            <a:r>
              <a:t/>
            </a:r>
          </a:p>
          <a:p xmlns:a="http://schemas.openxmlformats.org/drawingml/2006/main">
            <a:r>
              <a:t>การประเมินกับผู้ใช้จริงควรเตรียมคำถามที่มีคำตอบอ้างอิง แยกคำถามที่มีข้อมูล ไม่มีข้อมูล และคำถามต่อเนื่อง แล้วตรวจทั้งความครบถ้วน ความถูกต้อง การอ้างอิง และเวลาตอบ โดยระบุเอกสาร รุ่นโมเดล และเครื่องที่ใช้ทุกครั้ง ผลส่วนนี้จะช่วยตอบได้ชัดว่าระบบเหมาะกับงานของบริษัทมากน้อยเพียงใด</a:t>
            </a:r>
          </a:p>
          <a:p xmlns:a="http://schemas.openxmlformats.org/drawingml/2006/main">
            <a:r>
              <a:t/>
            </a:r>
          </a:p>
          <a:p xmlns:a="http://schemas.openxmlformats.org/drawingml/2006/main">
            <a:r>
              <a:t>ประโยคเชื่อม: ผลทดสอบเหล่านี้นำไปสู่ข้อจำกัดและลำดับการพัฒนาต่อ</a:t>
            </a:r>
          </a:p>
          <a:p xmlns:a="http://schemas.openxmlformats.org/drawingml/2006/main">
            <a:r>
              <a:t/>
            </a:r>
          </a:p>
          <a:p xmlns:a="http://schemas.openxmlformats.org/drawingml/2006/main">
            <a:r>
              <a:t>ภาพ: ตารางกรณีทดสอบและผลที่ยืนยันได้</a:t>
            </a:r>
          </a:p>
          <a:p xmlns:a="http://schemas.openxmlformats.org/drawingml/2006/main">
            <a:r>
              <a:t>แยก regression tests กับการทดสอบโมเดลจริง</a:t>
            </a:r>
          </a:p>
          <a:p xmlns:a="http://schemas.openxmlformats.org/drawingml/2006/main">
            <a:r>
              <a:t>ใช้ผลบันทึกจริง ไม่สร้างกราฟความแม่นยำ</a:t>
            </a:r>
          </a:p>
          <a:p xmlns:a="http://schemas.openxmlformats.org/drawingml/2006/main">
            <a:r>
              <a:t/>
            </a:r>
          </a:p>
          <a:p xmlns:a="http://schemas.openxmlformats.org/drawingml/2006/main">
            <a:r>
              <a:t>แหล่งข้อมูล: README.md; deliverables/ScopeBot_Presenter_Guide_TH.md; docs/rag-correctness.md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90 วินาที</a:t>
            </a:r>
          </a:p>
          <a:p xmlns:a="http://schemas.openxmlformats.org/drawingml/2006/main">
            <a:r>
              <a:t/>
            </a:r>
          </a:p>
          <a:p xmlns:a="http://schemas.openxmlformats.org/drawingml/2006/main">
            <a:r>
              <a:t>บทพูด</a:t>
            </a:r>
          </a:p>
          <a:p xmlns:a="http://schemas.openxmlformats.org/drawingml/2006/main">
            <a:r>
              <a:t>ข้อจำกัดแรกคือเอกสารต้นทาง หากข้อมูลไม่ครบ ล้าสมัย หรือโครงสร้างอ่านยาก ระบบอาจค้นหลักฐานได้ไม่ครบ จึงต้องมีผู้รับผิดชอบปรับปรุงความรู้ ข้อที่สองคือโมเดลและทรัพยากรเครื่องมีผลต่อคุณภาพกับเวลาตอบ โดยเฉพาะเมื่อมีผู้ใช้หลายคนพร้อมกัน จึงยังต้องวัดก่อนกำหนดขนาดเครื่องใช้งานจริง ข้อที่สามคือการตรวจคำตอบจากหลักฐานอาจทำให้บางคำถามถูกปฏิเสธ จึงต้องประเมินทั้งคำตอบผิดและกรณีที่ระบบปฏิเสธมากเกินไป</a:t>
            </a:r>
          </a:p>
          <a:p xmlns:a="http://schemas.openxmlformats.org/drawingml/2006/main">
            <a:r>
              <a:t/>
            </a:r>
          </a:p>
          <a:p xmlns:a="http://schemas.openxmlformats.org/drawingml/2006/main">
            <a:r>
              <a:t>แนวทางพัฒนาต่อที่เสนอคือเริ่มจากชุดคำถามของหน่วยงานจริง แล้วให้ผู้ใช้ประเมินผ่าน UAT จากนั้นจึงปรับกระบวนการค้นหาและคำตอบ พร้อมวางแผนสำรองข้อมูล ติดตามสถานะบริการ และกำหนดผู้รับผิดชอบคิวแชท ก่อนขยายขอบเขตใช้งาน การทำตามลำดับนี้จะช่วยให้เห็นว่าจุดใดควรปรับจากหลักฐานการใช้งาน</a:t>
            </a:r>
          </a:p>
          <a:p xmlns:a="http://schemas.openxmlformats.org/drawingml/2006/main">
            <a:r>
              <a:t/>
            </a:r>
          </a:p>
          <a:p xmlns:a="http://schemas.openxmlformats.org/drawingml/2006/main">
            <a:r>
              <a:t>ประโยคเชื่อม: ขอสรุปภาพรวมของ ScopeBot อีกครั้ง</a:t>
            </a:r>
          </a:p>
          <a:p xmlns:a="http://schemas.openxmlformats.org/drawingml/2006/main">
            <a:r>
              <a:t/>
            </a:r>
          </a:p>
          <a:p xmlns:a="http://schemas.openxmlformats.org/drawingml/2006/main">
            <a:r>
              <a:t>ภาพ: แผนพัฒนาต่อ 3 ช่วง</a:t>
            </a:r>
          </a:p>
          <a:p xmlns:a="http://schemas.openxmlformats.org/drawingml/2006/main">
            <a:r>
              <a:t>ประเมินคำตอบ / ทดลองใช้ / เตรียมใช้งาน</a:t>
            </a:r>
          </a:p>
          <a:p xmlns:a="http://schemas.openxmlformats.org/drawingml/2006/main">
            <a:r>
              <a:t>ระบุเป็นแผน ไม่ใส่เครื่องหมายว่าผ่านแล้ว</a:t>
            </a:r>
          </a:p>
          <a:p xmlns:a="http://schemas.openxmlformats.org/drawingml/2006/main">
            <a:r>
              <a:t/>
            </a:r>
          </a:p>
          <a:p xmlns:a="http://schemas.openxmlformats.org/drawingml/2006/main">
            <a:r>
              <a:t>แหล่งข้อมูล: README.md; deliverables/ScopeBot_Presenter_Guide_TH.md; docs/rag-correctness.md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 30 วินาที</a:t>
            </a:r>
          </a:p>
          <a:p xmlns:a="http://schemas.openxmlformats.org/drawingml/2006/main">
            <a:r>
              <a:t/>
            </a:r>
          </a:p>
          <a:p xmlns:a="http://schemas.openxmlformats.org/drawingml/2006/main">
            <a:r>
              <a:t>บทพูด</a:t>
            </a:r>
          </a:p>
          <a:p xmlns:a="http://schemas.openxmlformats.org/drawingml/2006/main">
            <a:r>
              <a:t>ScopeBot เชื่อมการจัดการเอกสารเข้ากับการสนทนา ผู้ดูแลจัดความรู้ให้แต่ละบอทได้ ผู้ใช้ถามผ่านเว็บหรือ LINE และเจ้าของบอทรับช่วงช่วยเหลือเมื่อจำเป็น โครงงานมีทั้งส่วนจัดการระบบและกระบวนการ RAG โดยขั้นต่อไปคือการประเมินกับข้อมูลและผู้ใช้จริง ขอบคุณทุกท่าน และยินดีตอบคำถาม</a:t>
            </a:r>
          </a:p>
          <a:p xmlns:a="http://schemas.openxmlformats.org/drawingml/2006/main">
            <a:r>
              <a:t/>
            </a:r>
          </a:p>
          <a:p xmlns:a="http://schemas.openxmlformats.org/drawingml/2006/main">
            <a:r>
              <a:t>ประโยคเชื่อม: เปิดรับคำถาม</a:t>
            </a:r>
          </a:p>
          <a:p xmlns:a="http://schemas.openxmlformats.org/drawingml/2006/main">
            <a:r>
              <a:t/>
            </a:r>
          </a:p>
          <a:p xmlns:a="http://schemas.openxmlformats.org/drawingml/2006/main">
            <a:r>
              <a:t>ภาพ: โลโก้ ScopeBot หรือภาพทีม</a:t>
            </a:r>
          </a:p>
          <a:p xmlns:a="http://schemas.openxmlformats.org/drawingml/2006/main">
            <a:r>
              <a:t>วางด้านขวา เพิ่มชื่อสมาชิกจริงได้</a:t>
            </a:r>
          </a:p>
          <a:p xmlns:a="http://schemas.openxmlformats.org/drawingml/2006/main">
            <a:r>
              <a:t>ตรวจชื่อและช่องทางติดต่อก่อนเผยแพร่</a:t>
            </a:r>
          </a:p>
          <a:p xmlns:a="http://schemas.openxmlformats.org/drawingml/2006/main">
            <a:r>
              <a:t/>
            </a:r>
          </a:p>
          <a:p xmlns:a="http://schemas.openxmlformats.org/drawingml/2006/main">
            <a:r>
              <a:t>แหล่งข้อมูล: README.md; deliverables/ScopeBot_Presenter_Guide_TH.md; docs/rag-correctness.md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0d3147d3191405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6402e9128da4e7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e093372f61b475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36bd4caa2904ca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e95a6bc52314ad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919dfc0bd0f44a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E3F0D3D-ED00-42C5-946D-63DD9642CE4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71CEA64-5F8D-4434-8204-1A3EDCCEAC4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650B111-946D-46B8-9FF7-A090B033717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24569A-5094-44BB-A7FF-E7EABF72B5E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18201ED-5575-4BF3-AD15-5696899BC2C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82B25CE-CBCB-44E1-83B4-3479D3F6E41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1450E0E-3F7F-400F-A5AC-CDA8AD3AF56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F5603C0-E07B-45AD-9521-FF2AC9754C4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B2FF20-62E8-44FC-8850-21F01851A16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9C42E6C-24F8-41D8-8316-5DB40F2A658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8fa413109f34757" /><Relationship Type="http://schemas.openxmlformats.org/officeDocument/2006/relationships/slideLayout" Target="/ppt/slideLayouts/slideLayout1.xml" Id="Red3e49278a894c8f" /><Relationship Type="http://schemas.openxmlformats.org/officeDocument/2006/relationships/slideLayout" Target="/ppt/slideLayouts/slideLayout2.xml" Id="Rbcd20a5e60184c23" /><Relationship Type="http://schemas.openxmlformats.org/officeDocument/2006/relationships/slideLayout" Target="/ppt/slideLayouts/slideLayout3.xml" Id="R6132bff292db4295" /><Relationship Type="http://schemas.openxmlformats.org/officeDocument/2006/relationships/slideLayout" Target="/ppt/slideLayouts/slideLayout4.xml" Id="R9ab4ead3a9ec4393" /><Relationship Type="http://schemas.openxmlformats.org/officeDocument/2006/relationships/slideLayout" Target="/ppt/slideLayouts/slideLayout5.xml" Id="R7c1ad3354c004fd1" /><Relationship Type="http://schemas.openxmlformats.org/officeDocument/2006/relationships/slideLayout" Target="/ppt/slideLayouts/slideLayout6.xml" Id="R0bc8a079a8ec46d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d3e49278a894c8f"/>
    <p:sldLayoutId xmlns:r="http://schemas.openxmlformats.org/officeDocument/2006/relationships" id="2147483650" r:id="Rbcd20a5e60184c23"/>
    <p:sldLayoutId xmlns:r="http://schemas.openxmlformats.org/officeDocument/2006/relationships" id="2147483651" r:id="R6132bff292db4295"/>
    <p:sldLayoutId xmlns:r="http://schemas.openxmlformats.org/officeDocument/2006/relationships" id="2147483652" r:id="R9ab4ead3a9ec4393"/>
    <p:sldLayoutId xmlns:r="http://schemas.openxmlformats.org/officeDocument/2006/relationships" id="2147483653" r:id="R7c1ad3354c004fd1"/>
    <p:sldLayoutId xmlns:r="http://schemas.openxmlformats.org/officeDocument/2006/relationships" id="2147483654" r:id="R0bc8a079a8ec46d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1dbdeee296e4a58" /><Relationship Type="http://schemas.openxmlformats.org/officeDocument/2006/relationships/notesSlide" Target="/ppt/notesSlides/notesSlide1.xml" Id="R77f410d3dbff429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3a642daec86425b" /><Relationship Type="http://schemas.openxmlformats.org/officeDocument/2006/relationships/notesSlide" Target="/ppt/notesSlides/notesSlide2.xml" Id="R412eb99481974f3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7904b3fea72489e" /><Relationship Type="http://schemas.openxmlformats.org/officeDocument/2006/relationships/notesSlide" Target="/ppt/notesSlides/notesSlide3.xml" Id="Rfa438254d3e84c7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b8e658610c646f2" /><Relationship Type="http://schemas.openxmlformats.org/officeDocument/2006/relationships/notesSlide" Target="/ppt/notesSlides/notesSlide4.xml" Id="R47d95133b5bc42b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b7bcf0d422f4d78" /><Relationship Type="http://schemas.openxmlformats.org/officeDocument/2006/relationships/notesSlide" Target="/ppt/notesSlides/notesSlide5.xml" Id="R0c0f278c3f994dc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667c05961a74f0c" /><Relationship Type="http://schemas.openxmlformats.org/officeDocument/2006/relationships/notesSlide" Target="/ppt/notesSlides/notesSlide6.xml" Id="Rb6a3bfb06cca49a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9db2ec19af94ad6" /><Relationship Type="http://schemas.openxmlformats.org/officeDocument/2006/relationships/notesSlide" Target="/ppt/notesSlides/notesSlide7.xml" Id="R6733201585b34d8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07fa4fc3a1246b8" /><Relationship Type="http://schemas.openxmlformats.org/officeDocument/2006/relationships/notesSlide" Target="/ppt/notesSlides/notesSlide8.xml" Id="R747a9d78a1ee4c1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04f6869efcf41d1" /><Relationship Type="http://schemas.openxmlformats.org/officeDocument/2006/relationships/notesSlide" Target="/ppt/notesSlides/notesSlide9.xml" Id="R25d156cde404463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b5f8fcee6b9420c" /><Relationship Type="http://schemas.openxmlformats.org/officeDocument/2006/relationships/notesSlide" Target="/ppt/notesSlides/notesSlide10.xml" Id="R4c34e5a4ec6244e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5f5dcb8e1f7401c" /><Relationship Type="http://schemas.openxmlformats.org/officeDocument/2006/relationships/notesSlide" Target="/ppt/notesSlides/notesSlide11.xml" Id="Ra4a060c3ae744e6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7c26b9182da411b" /><Relationship Type="http://schemas.openxmlformats.org/officeDocument/2006/relationships/notesSlide" Target="/ppt/notesSlides/notesSlide12.xml" Id="R730eec9b393b4de0" /></Relationships>
</file>

<file path=ppt/slides/slide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5096228-43DF-4076-BD4F-C87C092B7916}"/>
              </a:ext>
            </a:extLst>
          </p:cNvPr>
          <p:cNvSpPr>
            <a:spLocks xmlns:a="http://schemas.openxmlformats.org/drawingml/2006/main" noGrp="1"/>
          </p:cNvSpPr>
          <p:nvPr/>
        </p:nvSpPr>
        <p:spPr>
          <a:xfrm xmlns:a="http://schemas.openxmlformats.org/drawingml/2006/main">
            <a:off x="666750" y="400050"/>
            <a:ext cx="857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95"/>
                </a:solidFill>
              </a:defRPr>
            </a:defPPr>
            <a:lvl1pPr>
              <a:defRPr sz="1200" b="1">
                <a:solidFill>
                  <a:srgbClr val="087E95"/>
                </a:solidFill>
              </a:defRPr>
            </a:lvl1pPr>
            <a:lvl2pPr>
              <a:defRPr sz="1200" b="1">
                <a:solidFill>
                  <a:srgbClr val="087E95"/>
                </a:solidFill>
              </a:defRPr>
            </a:lvl2pPr>
            <a:lvl3pPr>
              <a:defRPr sz="1200" b="1">
                <a:solidFill>
                  <a:srgbClr val="087E95"/>
                </a:solidFill>
              </a:defRPr>
            </a:lvl3pPr>
            <a:lvl4pPr>
              <a:defRPr sz="1200" b="1">
                <a:solidFill>
                  <a:srgbClr val="087E95"/>
                </a:solidFill>
              </a:defRPr>
            </a:lvl4pPr>
            <a:lvl5pPr>
              <a:defRPr sz="1200" b="1">
                <a:solidFill>
                  <a:srgbClr val="087E95"/>
                </a:solidFill>
              </a:defRPr>
            </a:lvl5pPr>
            <a:lvl6pPr>
              <a:defRPr sz="1200" b="1">
                <a:solidFill>
                  <a:srgbClr val="087E95"/>
                </a:solidFill>
              </a:defRPr>
            </a:lvl6pPr>
            <a:lvl7pPr>
              <a:defRPr sz="1200" b="1">
                <a:solidFill>
                  <a:srgbClr val="087E95"/>
                </a:solidFill>
              </a:defRPr>
            </a:lvl7pPr>
            <a:lvl8pPr>
              <a:defRPr sz="1200" b="1">
                <a:solidFill>
                  <a:srgbClr val="087E95"/>
                </a:solidFill>
              </a:defRPr>
            </a:lvl8pPr>
            <a:lvl9pPr>
              <a:defRPr sz="1200" b="1">
                <a:solidFill>
                  <a:srgbClr val="087E95"/>
                </a:solidFill>
              </a:defRPr>
            </a:lvl9pPr>
          </a:lstStyle>
          <a:p xmlns:a="http://schemas.openxmlformats.org/drawingml/2006/main">
            <a:pPr>
              <a:defRPr sz="1200" b="1">
                <a:solidFill>
                  <a:srgbClr val="087E95"/>
                </a:solidFill>
              </a:defRPr>
            </a:pPr>
            <a:r>
              <a:rPr sz="1200" b="1">
                <a:solidFill>
                  <a:srgbClr val="087E95"/>
                </a:solidFill>
              </a:rPr>
              <a:t>SCOPEBOT   /   01</a:t>
            </a:r>
          </a:p>
        </p:txBody>
      </p:sp>
      <p:sp>
        <p:nvSpPr>
          <p:cNvPr id="3" name="">
            <a:extLst xmlns:a="http://schemas.openxmlformats.org/drawingml/2006/main">
              <a:ext uri="{FF2B5EF4-FFF2-40B4-BE49-F238E27FC236}">
                <a16:creationId xmlns:a16="http://schemas.microsoft.com/office/drawing/2014/main" id="{88474509-0381-4CF1-9CC1-41E6E5E93744}"/>
              </a:ext>
            </a:extLst>
          </p:cNvPr>
          <p:cNvSpPr>
            <a:spLocks xmlns:a="http://schemas.openxmlformats.org/drawingml/2006/main" noGrp="1"/>
          </p:cNvSpPr>
          <p:nvPr/>
        </p:nvSpPr>
        <p:spPr>
          <a:xfrm xmlns:a="http://schemas.openxmlformats.org/drawingml/2006/main">
            <a:off x="666750" y="10953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050" b="1">
                <a:solidFill>
                  <a:srgbClr val="142B42"/>
                </a:solidFill>
              </a:defRPr>
            </a:defPPr>
            <a:lvl1pPr>
              <a:defRPr sz="4050" b="1">
                <a:solidFill>
                  <a:srgbClr val="142B42"/>
                </a:solidFill>
              </a:defRPr>
            </a:lvl1pPr>
            <a:lvl2pPr>
              <a:defRPr sz="4050" b="1">
                <a:solidFill>
                  <a:srgbClr val="142B42"/>
                </a:solidFill>
              </a:defRPr>
            </a:lvl2pPr>
            <a:lvl3pPr>
              <a:defRPr sz="4050" b="1">
                <a:solidFill>
                  <a:srgbClr val="142B42"/>
                </a:solidFill>
              </a:defRPr>
            </a:lvl3pPr>
            <a:lvl4pPr>
              <a:defRPr sz="4050" b="1">
                <a:solidFill>
                  <a:srgbClr val="142B42"/>
                </a:solidFill>
              </a:defRPr>
            </a:lvl4pPr>
            <a:lvl5pPr>
              <a:defRPr sz="4050" b="1">
                <a:solidFill>
                  <a:srgbClr val="142B42"/>
                </a:solidFill>
              </a:defRPr>
            </a:lvl5pPr>
            <a:lvl6pPr>
              <a:defRPr sz="4050" b="1">
                <a:solidFill>
                  <a:srgbClr val="142B42"/>
                </a:solidFill>
              </a:defRPr>
            </a:lvl6pPr>
            <a:lvl7pPr>
              <a:defRPr sz="4050" b="1">
                <a:solidFill>
                  <a:srgbClr val="142B42"/>
                </a:solidFill>
              </a:defRPr>
            </a:lvl7pPr>
            <a:lvl8pPr>
              <a:defRPr sz="4050" b="1">
                <a:solidFill>
                  <a:srgbClr val="142B42"/>
                </a:solidFill>
              </a:defRPr>
            </a:lvl8pPr>
            <a:lvl9pPr>
              <a:defRPr sz="4050" b="1">
                <a:solidFill>
                  <a:srgbClr val="142B42"/>
                </a:solidFill>
              </a:defRPr>
            </a:lvl9pPr>
          </a:lstStyle>
          <a:p xmlns:a="http://schemas.openxmlformats.org/drawingml/2006/main">
            <a:pPr>
              <a:defRPr sz="4050" b="1">
                <a:solidFill>
                  <a:srgbClr val="142B42"/>
                </a:solidFill>
              </a:defRPr>
            </a:pPr>
            <a:r>
              <a:rPr sz="4050" b="1">
                <a:solidFill>
                  <a:srgbClr val="142B42"/>
                </a:solidFill>
              </a:rPr>
              <a:t>ScopeBot</a:t>
            </a:r>
          </a:p>
        </p:txBody>
      </p:sp>
      <p:sp>
        <p:nvSpPr>
          <p:cNvPr id="4" name="">
            <a:extLst xmlns:a="http://schemas.openxmlformats.org/drawingml/2006/main">
              <a:ext uri="{FF2B5EF4-FFF2-40B4-BE49-F238E27FC236}">
                <a16:creationId xmlns:a16="http://schemas.microsoft.com/office/drawing/2014/main" id="{BA6922C9-2B89-47DE-8B3B-C96000715326}"/>
              </a:ext>
            </a:extLst>
          </p:cNvPr>
          <p:cNvSpPr>
            <a:spLocks xmlns:a="http://schemas.openxmlformats.org/drawingml/2006/main" noGrp="1"/>
          </p:cNvSpPr>
          <p:nvPr/>
        </p:nvSpPr>
        <p:spPr>
          <a:xfrm xmlns:a="http://schemas.openxmlformats.org/drawingml/2006/main">
            <a:off x="714375" y="2238375"/>
            <a:ext cx="619125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94255"/>
                </a:solidFill>
              </a:defRPr>
            </a:defPPr>
            <a:lvl1pPr>
              <a:defRPr sz="1875" b="0">
                <a:solidFill>
                  <a:srgbClr val="294255"/>
                </a:solidFill>
              </a:defRPr>
            </a:lvl1pPr>
            <a:lvl2pPr>
              <a:defRPr sz="1875" b="0">
                <a:solidFill>
                  <a:srgbClr val="294255"/>
                </a:solidFill>
              </a:defRPr>
            </a:lvl2pPr>
            <a:lvl3pPr>
              <a:defRPr sz="1875" b="0">
                <a:solidFill>
                  <a:srgbClr val="294255"/>
                </a:solidFill>
              </a:defRPr>
            </a:lvl3pPr>
            <a:lvl4pPr>
              <a:defRPr sz="1875" b="0">
                <a:solidFill>
                  <a:srgbClr val="294255"/>
                </a:solidFill>
              </a:defRPr>
            </a:lvl4pPr>
            <a:lvl5pPr>
              <a:defRPr sz="1875" b="0">
                <a:solidFill>
                  <a:srgbClr val="294255"/>
                </a:solidFill>
              </a:defRPr>
            </a:lvl5pPr>
            <a:lvl6pPr>
              <a:defRPr sz="1875" b="0">
                <a:solidFill>
                  <a:srgbClr val="294255"/>
                </a:solidFill>
              </a:defRPr>
            </a:lvl6pPr>
            <a:lvl7pPr>
              <a:defRPr sz="1875" b="0">
                <a:solidFill>
                  <a:srgbClr val="294255"/>
                </a:solidFill>
              </a:defRPr>
            </a:lvl7pPr>
            <a:lvl8pPr>
              <a:defRPr sz="1875" b="0">
                <a:solidFill>
                  <a:srgbClr val="294255"/>
                </a:solidFill>
              </a:defRPr>
            </a:lvl8pPr>
            <a:lvl9pPr>
              <a:defRPr sz="1875" b="0">
                <a:solidFill>
                  <a:srgbClr val="294255"/>
                </a:solidFill>
              </a:defRPr>
            </a:lvl9pPr>
          </a:lstStyle>
          <a:p xmlns:a="http://schemas.openxmlformats.org/drawingml/2006/main">
            <a:pPr>
              <a:defRPr sz="1875" b="0">
                <a:solidFill>
                  <a:srgbClr val="294255"/>
                </a:solidFill>
              </a:defRPr>
            </a:pPr>
            <a:r>
              <a:rPr sz="1875" b="0">
                <a:solidFill>
                  <a:srgbClr val="294255"/>
                </a:solidFill>
              </a:rPr>
              <a:t>แพลตฟอร์มแชตบอตสำหรับองค์กร</a:t>
            </a:r>
          </a:p>
          <a:p xmlns:a="http://schemas.openxmlformats.org/drawingml/2006/main">
            <a:pPr>
              <a:defRPr sz="1875" b="0">
                <a:solidFill>
                  <a:srgbClr val="294255"/>
                </a:solidFill>
              </a:defRPr>
            </a:pPr>
            <a:r>
              <a:rPr sz="1875" b="0">
                <a:solidFill>
                  <a:srgbClr val="294255"/>
                </a:solidFill>
              </a:rPr>
              <a:t>ใช้เอกสารเป็นแหล่งความรู้</a:t>
            </a:r>
          </a:p>
          <a:p xmlns:a="http://schemas.openxmlformats.org/drawingml/2006/main">
            <a:pPr>
              <a:defRPr sz="1875" b="0">
                <a:solidFill>
                  <a:srgbClr val="294255"/>
                </a:solidFill>
              </a:defRPr>
            </a:pPr>
            <a:r>
              <a:rPr sz="1875" b="0">
                <a:solidFill>
                  <a:srgbClr val="294255"/>
                </a:solidFill>
              </a:rPr>
              <a:t>รองรับ Web, LINE และการส่งต่อให้คน</a:t>
            </a:r>
          </a:p>
        </p:txBody>
      </p:sp>
      <p:sp>
        <p:nvSpPr>
          <p:cNvPr id="5" name="">
            <a:extLst xmlns:a="http://schemas.openxmlformats.org/drawingml/2006/main">
              <a:ext uri="{FF2B5EF4-FFF2-40B4-BE49-F238E27FC236}">
                <a16:creationId xmlns:a16="http://schemas.microsoft.com/office/drawing/2014/main" id="{F9826062-80CF-4223-BD5F-D0A080931AF9}"/>
              </a:ext>
            </a:extLst>
          </p:cNvPr>
          <p:cNvSpPr>
            <a:spLocks xmlns:a="http://schemas.openxmlformats.org/drawingml/2006/main" noGrp="1"/>
          </p:cNvSpPr>
          <p:nvPr/>
        </p:nvSpPr>
        <p:spPr>
          <a:xfrm xmlns:a="http://schemas.openxmlformats.org/drawingml/2006/main">
            <a:off x="7477125" y="2333625"/>
            <a:ext cx="3905250" cy="2381250"/>
          </a:xfrm>
          <a:prstGeom xmlns:a="http://schemas.openxmlformats.org/drawingml/2006/main" prst="rect">
            <a:avLst/>
          </a:prstGeom>
          <a:solidFill xmlns:a="http://schemas.openxmlformats.org/drawingml/2006/main">
            <a:srgbClr val="E7F2F5"/>
          </a:solidFill>
          <a:ln xmlns:a="http://schemas.openxmlformats.org/drawingml/2006/main" w="9525">
            <a:solidFill>
              <a:srgbClr val="B8D5DD"/>
            </a:solidFill>
          </a:ln>
        </p:spPr>
        <p:txBody>
          <a:bodyPr xmlns:a="http://schemas.openxmlformats.org/drawingml/2006/main"/>
          <a:lstStyle xmlns:a="http://schemas.openxmlformats.org/drawingml/2006/main">
            <a:defPPr>
              <a:defRPr sz="1650">
                <a:solidFill>
                  <a:srgbClr val="38616B"/>
                </a:solidFill>
              </a:defRPr>
            </a:defPPr>
            <a:lvl1pPr>
              <a:defRPr sz="1650">
                <a:solidFill>
                  <a:srgbClr val="38616B"/>
                </a:solidFill>
              </a:defRPr>
            </a:lvl1pPr>
            <a:lvl2pPr>
              <a:defRPr sz="1650">
                <a:solidFill>
                  <a:srgbClr val="38616B"/>
                </a:solidFill>
              </a:defRPr>
            </a:lvl2pPr>
            <a:lvl3pPr>
              <a:defRPr sz="1650">
                <a:solidFill>
                  <a:srgbClr val="38616B"/>
                </a:solidFill>
              </a:defRPr>
            </a:lvl3pPr>
            <a:lvl4pPr>
              <a:defRPr sz="1650">
                <a:solidFill>
                  <a:srgbClr val="38616B"/>
                </a:solidFill>
              </a:defRPr>
            </a:lvl4pPr>
            <a:lvl5pPr>
              <a:defRPr sz="1650">
                <a:solidFill>
                  <a:srgbClr val="38616B"/>
                </a:solidFill>
              </a:defRPr>
            </a:lvl5pPr>
            <a:lvl6pPr>
              <a:defRPr sz="1650">
                <a:solidFill>
                  <a:srgbClr val="38616B"/>
                </a:solidFill>
              </a:defRPr>
            </a:lvl6pPr>
            <a:lvl7pPr>
              <a:defRPr sz="1650">
                <a:solidFill>
                  <a:srgbClr val="38616B"/>
                </a:solidFill>
              </a:defRPr>
            </a:lvl7pPr>
            <a:lvl8pPr>
              <a:defRPr sz="1650">
                <a:solidFill>
                  <a:srgbClr val="38616B"/>
                </a:solidFill>
              </a:defRPr>
            </a:lvl8pPr>
            <a:lvl9pPr>
              <a:defRPr sz="1650">
                <a:solidFill>
                  <a:srgbClr val="38616B"/>
                </a:solidFill>
              </a:defRPr>
            </a:lvl9pPr>
          </a:lstStyle>
          <a:p xmlns:a="http://schemas.openxmlformats.org/drawingml/2006/main">
            <a:pPr>
              <a:defRPr sz="1650">
                <a:solidFill>
                  <a:srgbClr val="38616B"/>
                </a:solidFill>
              </a:defRPr>
            </a:pPr>
            <a:r>
              <a:rPr sz="1650">
                <a:solidFill>
                  <a:srgbClr val="38616B"/>
                </a:solidFill>
              </a:rPr>
              <a:t>ภาพที่แนะนำ</a:t>
            </a:r>
          </a:p>
          <a:p xmlns:a="http://schemas.openxmlformats.org/drawingml/2006/main">
            <a:pPr>
              <a:defRPr sz="1650">
                <a:solidFill>
                  <a:srgbClr val="38616B"/>
                </a:solidFill>
              </a:defRPr>
            </a:pPr>
            <a:r>
              <a:t/>
            </a:r>
          </a:p>
          <a:p xmlns:a="http://schemas.openxmlformats.org/drawingml/2006/main">
            <a:pPr>
              <a:defRPr sz="1650">
                <a:solidFill>
                  <a:srgbClr val="38616B"/>
                </a:solidFill>
              </a:defRPr>
            </a:pPr>
            <a:r>
              <a:rPr sz="1650">
                <a:solidFill>
                  <a:srgbClr val="38616B"/>
                </a:solidFill>
              </a:rPr>
              <a:t>โลโก้ ScopeBot หรือภาพหน้าจอหลัก</a:t>
            </a:r>
          </a:p>
          <a:p xmlns:a="http://schemas.openxmlformats.org/drawingml/2006/main">
            <a:pPr>
              <a:defRPr sz="1650">
                <a:solidFill>
                  <a:srgbClr val="38616B"/>
                </a:solidFill>
              </a:defRPr>
            </a:pPr>
            <a:r>
              <a:rPr sz="1650">
                <a:solidFill>
                  <a:srgbClr val="38616B"/>
                </a:solidFill>
              </a:rPr>
              <a:t>วางด้านขวา ให้เห็นชื่อบอทและช่องสนทนา</a:t>
            </a:r>
          </a:p>
        </p:txBody>
      </p:sp>
    </p:spTree>
    <p:extLst>
      <p:ext uri="{BB962C8B-B14F-4D97-AF65-F5344CB8AC3E}">
        <p14:creationId xmlns:p14="http://schemas.microsoft.com/office/powerpoint/2010/main" val="1156789984"/>
      </p:ext>
    </p:extLst>
  </p:cSld>
</p:sld>
</file>

<file path=ppt/slides/slide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18A5380-25AA-4948-99BC-FCD8555EE8B0}"/>
              </a:ext>
            </a:extLst>
          </p:cNvPr>
          <p:cNvSpPr>
            <a:spLocks xmlns:a="http://schemas.openxmlformats.org/drawingml/2006/main" noGrp="1"/>
          </p:cNvSpPr>
          <p:nvPr/>
        </p:nvSpPr>
        <p:spPr>
          <a:xfrm xmlns:a="http://schemas.openxmlformats.org/drawingml/2006/main">
            <a:off x="666750" y="400050"/>
            <a:ext cx="857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95"/>
                </a:solidFill>
              </a:defRPr>
            </a:defPPr>
            <a:lvl1pPr>
              <a:defRPr sz="1200" b="1">
                <a:solidFill>
                  <a:srgbClr val="087E95"/>
                </a:solidFill>
              </a:defRPr>
            </a:lvl1pPr>
            <a:lvl2pPr>
              <a:defRPr sz="1200" b="1">
                <a:solidFill>
                  <a:srgbClr val="087E95"/>
                </a:solidFill>
              </a:defRPr>
            </a:lvl2pPr>
            <a:lvl3pPr>
              <a:defRPr sz="1200" b="1">
                <a:solidFill>
                  <a:srgbClr val="087E95"/>
                </a:solidFill>
              </a:defRPr>
            </a:lvl3pPr>
            <a:lvl4pPr>
              <a:defRPr sz="1200" b="1">
                <a:solidFill>
                  <a:srgbClr val="087E95"/>
                </a:solidFill>
              </a:defRPr>
            </a:lvl4pPr>
            <a:lvl5pPr>
              <a:defRPr sz="1200" b="1">
                <a:solidFill>
                  <a:srgbClr val="087E95"/>
                </a:solidFill>
              </a:defRPr>
            </a:lvl5pPr>
            <a:lvl6pPr>
              <a:defRPr sz="1200" b="1">
                <a:solidFill>
                  <a:srgbClr val="087E95"/>
                </a:solidFill>
              </a:defRPr>
            </a:lvl6pPr>
            <a:lvl7pPr>
              <a:defRPr sz="1200" b="1">
                <a:solidFill>
                  <a:srgbClr val="087E95"/>
                </a:solidFill>
              </a:defRPr>
            </a:lvl7pPr>
            <a:lvl8pPr>
              <a:defRPr sz="1200" b="1">
                <a:solidFill>
                  <a:srgbClr val="087E95"/>
                </a:solidFill>
              </a:defRPr>
            </a:lvl8pPr>
            <a:lvl9pPr>
              <a:defRPr sz="1200" b="1">
                <a:solidFill>
                  <a:srgbClr val="087E95"/>
                </a:solidFill>
              </a:defRPr>
            </a:lvl9pPr>
          </a:lstStyle>
          <a:p xmlns:a="http://schemas.openxmlformats.org/drawingml/2006/main">
            <a:pPr>
              <a:defRPr sz="1200" b="1">
                <a:solidFill>
                  <a:srgbClr val="087E95"/>
                </a:solidFill>
              </a:defRPr>
            </a:pPr>
            <a:r>
              <a:rPr sz="1200" b="1">
                <a:solidFill>
                  <a:srgbClr val="087E95"/>
                </a:solidFill>
              </a:rPr>
              <a:t>SCOPEBOT   /   02</a:t>
            </a:r>
          </a:p>
        </p:txBody>
      </p:sp>
      <p:sp>
        <p:nvSpPr>
          <p:cNvPr id="3" name="">
            <a:extLst xmlns:a="http://schemas.openxmlformats.org/drawingml/2006/main">
              <a:ext uri="{FF2B5EF4-FFF2-40B4-BE49-F238E27FC236}">
                <a16:creationId xmlns:a16="http://schemas.microsoft.com/office/drawing/2014/main" id="{F7828FE5-4E33-4A86-9157-B11CBA458DBC}"/>
              </a:ext>
            </a:extLst>
          </p:cNvPr>
          <p:cNvSpPr>
            <a:spLocks xmlns:a="http://schemas.openxmlformats.org/drawingml/2006/main" noGrp="1"/>
          </p:cNvSpPr>
          <p:nvPr/>
        </p:nvSpPr>
        <p:spPr>
          <a:xfrm xmlns:a="http://schemas.openxmlformats.org/drawingml/2006/main">
            <a:off x="666750" y="10953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42B42"/>
                </a:solidFill>
              </a:defRPr>
            </a:defPPr>
            <a:lvl1pPr>
              <a:defRPr sz="3000" b="1">
                <a:solidFill>
                  <a:srgbClr val="142B42"/>
                </a:solidFill>
              </a:defRPr>
            </a:lvl1pPr>
            <a:lvl2pPr>
              <a:defRPr sz="3000" b="1">
                <a:solidFill>
                  <a:srgbClr val="142B42"/>
                </a:solidFill>
              </a:defRPr>
            </a:lvl2pPr>
            <a:lvl3pPr>
              <a:defRPr sz="3000" b="1">
                <a:solidFill>
                  <a:srgbClr val="142B42"/>
                </a:solidFill>
              </a:defRPr>
            </a:lvl3pPr>
            <a:lvl4pPr>
              <a:defRPr sz="3000" b="1">
                <a:solidFill>
                  <a:srgbClr val="142B42"/>
                </a:solidFill>
              </a:defRPr>
            </a:lvl4pPr>
            <a:lvl5pPr>
              <a:defRPr sz="3000" b="1">
                <a:solidFill>
                  <a:srgbClr val="142B42"/>
                </a:solidFill>
              </a:defRPr>
            </a:lvl5pPr>
            <a:lvl6pPr>
              <a:defRPr sz="3000" b="1">
                <a:solidFill>
                  <a:srgbClr val="142B42"/>
                </a:solidFill>
              </a:defRPr>
            </a:lvl6pPr>
            <a:lvl7pPr>
              <a:defRPr sz="3000" b="1">
                <a:solidFill>
                  <a:srgbClr val="142B42"/>
                </a:solidFill>
              </a:defRPr>
            </a:lvl7pPr>
            <a:lvl8pPr>
              <a:defRPr sz="3000" b="1">
                <a:solidFill>
                  <a:srgbClr val="142B42"/>
                </a:solidFill>
              </a:defRPr>
            </a:lvl8pPr>
            <a:lvl9pPr>
              <a:defRPr sz="3000" b="1">
                <a:solidFill>
                  <a:srgbClr val="142B42"/>
                </a:solidFill>
              </a:defRPr>
            </a:lvl9pPr>
          </a:lstStyle>
          <a:p xmlns:a="http://schemas.openxmlformats.org/drawingml/2006/main">
            <a:pPr>
              <a:defRPr sz="3000" b="1">
                <a:solidFill>
                  <a:srgbClr val="142B42"/>
                </a:solidFill>
              </a:defRPr>
            </a:pPr>
            <a:r>
              <a:rPr sz="3000" b="1">
                <a:solidFill>
                  <a:srgbClr val="142B42"/>
                </a:solidFill>
              </a:rPr>
              <a:t>ปัญหาและเป้าหมาย</a:t>
            </a:r>
          </a:p>
        </p:txBody>
      </p:sp>
      <p:sp>
        <p:nvSpPr>
          <p:cNvPr id="4" name="">
            <a:extLst xmlns:a="http://schemas.openxmlformats.org/drawingml/2006/main">
              <a:ext uri="{FF2B5EF4-FFF2-40B4-BE49-F238E27FC236}">
                <a16:creationId xmlns:a16="http://schemas.microsoft.com/office/drawing/2014/main" id="{4CC5A3A6-C91B-45F8-BC3B-2A53C408EB67}"/>
              </a:ext>
            </a:extLst>
          </p:cNvPr>
          <p:cNvSpPr>
            <a:spLocks xmlns:a="http://schemas.openxmlformats.org/drawingml/2006/main" noGrp="1"/>
          </p:cNvSpPr>
          <p:nvPr/>
        </p:nvSpPr>
        <p:spPr>
          <a:xfrm xmlns:a="http://schemas.openxmlformats.org/drawingml/2006/main">
            <a:off x="714375" y="2238375"/>
            <a:ext cx="619125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94255"/>
                </a:solidFill>
              </a:defRPr>
            </a:defPPr>
            <a:lvl1pPr>
              <a:defRPr sz="1875" b="0">
                <a:solidFill>
                  <a:srgbClr val="294255"/>
                </a:solidFill>
              </a:defRPr>
            </a:lvl1pPr>
            <a:lvl2pPr>
              <a:defRPr sz="1875" b="0">
                <a:solidFill>
                  <a:srgbClr val="294255"/>
                </a:solidFill>
              </a:defRPr>
            </a:lvl2pPr>
            <a:lvl3pPr>
              <a:defRPr sz="1875" b="0">
                <a:solidFill>
                  <a:srgbClr val="294255"/>
                </a:solidFill>
              </a:defRPr>
            </a:lvl3pPr>
            <a:lvl4pPr>
              <a:defRPr sz="1875" b="0">
                <a:solidFill>
                  <a:srgbClr val="294255"/>
                </a:solidFill>
              </a:defRPr>
            </a:lvl4pPr>
            <a:lvl5pPr>
              <a:defRPr sz="1875" b="0">
                <a:solidFill>
                  <a:srgbClr val="294255"/>
                </a:solidFill>
              </a:defRPr>
            </a:lvl5pPr>
            <a:lvl6pPr>
              <a:defRPr sz="1875" b="0">
                <a:solidFill>
                  <a:srgbClr val="294255"/>
                </a:solidFill>
              </a:defRPr>
            </a:lvl6pPr>
            <a:lvl7pPr>
              <a:defRPr sz="1875" b="0">
                <a:solidFill>
                  <a:srgbClr val="294255"/>
                </a:solidFill>
              </a:defRPr>
            </a:lvl7pPr>
            <a:lvl8pPr>
              <a:defRPr sz="1875" b="0">
                <a:solidFill>
                  <a:srgbClr val="294255"/>
                </a:solidFill>
              </a:defRPr>
            </a:lvl8pPr>
            <a:lvl9pPr>
              <a:defRPr sz="1875" b="0">
                <a:solidFill>
                  <a:srgbClr val="294255"/>
                </a:solidFill>
              </a:defRPr>
            </a:lvl9pPr>
          </a:lstStyle>
          <a:p xmlns:a="http://schemas.openxmlformats.org/drawingml/2006/main">
            <a:pPr>
              <a:defRPr sz="1875" b="0">
                <a:solidFill>
                  <a:srgbClr val="294255"/>
                </a:solidFill>
              </a:defRPr>
            </a:pPr>
            <a:r>
              <a:rPr sz="1875" b="0">
                <a:solidFill>
                  <a:srgbClr val="294255"/>
                </a:solidFill>
              </a:rPr>
              <a:t>คำตอบอยู่ในเอกสารหลายแหล่ง</a:t>
            </a:r>
          </a:p>
          <a:p xmlns:a="http://schemas.openxmlformats.org/drawingml/2006/main">
            <a:pPr>
              <a:defRPr sz="1875" b="0">
                <a:solidFill>
                  <a:srgbClr val="294255"/>
                </a:solidFill>
              </a:defRPr>
            </a:pPr>
            <a:r>
              <a:t>ผู้ใช้ต้องค้นหาและอ่านด้วยตนเอง</a:t>
            </a:r>
          </a:p>
          <a:p xmlns:a="http://schemas.openxmlformats.org/drawingml/2006/main">
            <a:pPr>
              <a:defRPr sz="1875" b="0">
                <a:solidFill>
                  <a:srgbClr val="294255"/>
                </a:solidFill>
              </a:defRPr>
            </a:pPr>
            <a:r>
              <a:rPr sz="1875" b="0">
                <a:solidFill>
                  <a:srgbClr val="294255"/>
                </a:solidFill>
              </a:rPr>
              <a:t>เจ้าหน้าที่ต้องตอบคำถามเดิมซ้ำ</a:t>
            </a:r>
          </a:p>
          <a:p xmlns:a="http://schemas.openxmlformats.org/drawingml/2006/main">
            <a:pPr>
              <a:defRPr sz="1875" b="0">
                <a:solidFill>
                  <a:srgbClr val="294255"/>
                </a:solidFill>
              </a:defRPr>
            </a:pPr>
            <a:r>
              <a:rPr sz="1875" b="0">
                <a:solidFill>
                  <a:srgbClr val="294255"/>
                </a:solidFill>
              </a:rPr>
              <a:t>เป้าหมาย: เข้าถึงข้อมูลผ่านการสนทนา</a:t>
            </a:r>
          </a:p>
        </p:txBody>
      </p:sp>
      <p:sp>
        <p:nvSpPr>
          <p:cNvPr id="5" name="">
            <a:extLst xmlns:a="http://schemas.openxmlformats.org/drawingml/2006/main">
              <a:ext uri="{FF2B5EF4-FFF2-40B4-BE49-F238E27FC236}">
                <a16:creationId xmlns:a16="http://schemas.microsoft.com/office/drawing/2014/main" id="{2AFFFB61-5133-4257-9096-9EAEC0C44C02}"/>
              </a:ext>
            </a:extLst>
          </p:cNvPr>
          <p:cNvSpPr>
            <a:spLocks xmlns:a="http://schemas.openxmlformats.org/drawingml/2006/main" noGrp="1"/>
          </p:cNvSpPr>
          <p:nvPr/>
        </p:nvSpPr>
        <p:spPr>
          <a:xfrm xmlns:a="http://schemas.openxmlformats.org/drawingml/2006/main">
            <a:off x="7477125" y="2333625"/>
            <a:ext cx="3905250" cy="2381250"/>
          </a:xfrm>
          <a:prstGeom xmlns:a="http://schemas.openxmlformats.org/drawingml/2006/main" prst="rect">
            <a:avLst/>
          </a:prstGeom>
          <a:solidFill xmlns:a="http://schemas.openxmlformats.org/drawingml/2006/main">
            <a:srgbClr val="E7F2F5"/>
          </a:solidFill>
          <a:ln xmlns:a="http://schemas.openxmlformats.org/drawingml/2006/main" w="9525">
            <a:solidFill>
              <a:srgbClr val="B8D5DD"/>
            </a:solidFill>
          </a:ln>
        </p:spPr>
        <p:txBody>
          <a:bodyPr xmlns:a="http://schemas.openxmlformats.org/drawingml/2006/main"/>
          <a:lstStyle xmlns:a="http://schemas.openxmlformats.org/drawingml/2006/main">
            <a:defPPr>
              <a:defRPr sz="1650">
                <a:solidFill>
                  <a:srgbClr val="38616B"/>
                </a:solidFill>
              </a:defRPr>
            </a:defPPr>
            <a:lvl1pPr>
              <a:defRPr sz="1650">
                <a:solidFill>
                  <a:srgbClr val="38616B"/>
                </a:solidFill>
              </a:defRPr>
            </a:lvl1pPr>
            <a:lvl2pPr>
              <a:defRPr sz="1650">
                <a:solidFill>
                  <a:srgbClr val="38616B"/>
                </a:solidFill>
              </a:defRPr>
            </a:lvl2pPr>
            <a:lvl3pPr>
              <a:defRPr sz="1650">
                <a:solidFill>
                  <a:srgbClr val="38616B"/>
                </a:solidFill>
              </a:defRPr>
            </a:lvl3pPr>
            <a:lvl4pPr>
              <a:defRPr sz="1650">
                <a:solidFill>
                  <a:srgbClr val="38616B"/>
                </a:solidFill>
              </a:defRPr>
            </a:lvl4pPr>
            <a:lvl5pPr>
              <a:defRPr sz="1650">
                <a:solidFill>
                  <a:srgbClr val="38616B"/>
                </a:solidFill>
              </a:defRPr>
            </a:lvl5pPr>
            <a:lvl6pPr>
              <a:defRPr sz="1650">
                <a:solidFill>
                  <a:srgbClr val="38616B"/>
                </a:solidFill>
              </a:defRPr>
            </a:lvl6pPr>
            <a:lvl7pPr>
              <a:defRPr sz="1650">
                <a:solidFill>
                  <a:srgbClr val="38616B"/>
                </a:solidFill>
              </a:defRPr>
            </a:lvl7pPr>
            <a:lvl8pPr>
              <a:defRPr sz="1650">
                <a:solidFill>
                  <a:srgbClr val="38616B"/>
                </a:solidFill>
              </a:defRPr>
            </a:lvl8pPr>
            <a:lvl9pPr>
              <a:defRPr sz="1650">
                <a:solidFill>
                  <a:srgbClr val="38616B"/>
                </a:solidFill>
              </a:defRPr>
            </a:lvl9pPr>
          </a:lstStyle>
          <a:p xmlns:a="http://schemas.openxmlformats.org/drawingml/2006/main">
            <a:pPr>
              <a:defRPr sz="1650">
                <a:solidFill>
                  <a:srgbClr val="38616B"/>
                </a:solidFill>
              </a:defRPr>
            </a:pPr>
            <a:r>
              <a:rPr sz="1650">
                <a:solidFill>
                  <a:srgbClr val="38616B"/>
                </a:solidFill>
              </a:rPr>
              <a:t>ภาพที่แนะนำ</a:t>
            </a:r>
          </a:p>
          <a:p xmlns:a="http://schemas.openxmlformats.org/drawingml/2006/main">
            <a:pPr>
              <a:defRPr sz="1650">
                <a:solidFill>
                  <a:srgbClr val="38616B"/>
                </a:solidFill>
              </a:defRPr>
            </a:pPr>
            <a:r>
              <a:t/>
            </a:r>
          </a:p>
          <a:p xmlns:a="http://schemas.openxmlformats.org/drawingml/2006/main">
            <a:pPr>
              <a:defRPr sz="1650">
                <a:solidFill>
                  <a:srgbClr val="38616B"/>
                </a:solidFill>
              </a:defRPr>
            </a:pPr>
            <a:r>
              <a:rPr sz="1650">
                <a:solidFill>
                  <a:srgbClr val="38616B"/>
                </a:solidFill>
              </a:rPr>
              <a:t>ภาพเอกสารและคำถามตัวอย่าง</a:t>
            </a:r>
          </a:p>
          <a:p xmlns:a="http://schemas.openxmlformats.org/drawingml/2006/main">
            <a:pPr>
              <a:defRPr sz="1650">
                <a:solidFill>
                  <a:srgbClr val="38616B"/>
                </a:solidFill>
              </a:defRPr>
            </a:pPr>
            <a:r>
              <a:rPr sz="1650">
                <a:solidFill>
                  <a:srgbClr val="38616B"/>
                </a:solidFill>
              </a:rPr>
              <a:t>เช่น “ต้องเตรียมเอกสารอะไรบ้าง”</a:t>
            </a:r>
          </a:p>
          <a:p xmlns:a="http://schemas.openxmlformats.org/drawingml/2006/main">
            <a:pPr>
              <a:defRPr sz="1650">
                <a:solidFill>
                  <a:srgbClr val="38616B"/>
                </a:solidFill>
              </a:defRPr>
            </a:pPr>
            <a:r>
              <a:rPr sz="1650">
                <a:solidFill>
                  <a:srgbClr val="38616B"/>
                </a:solidFill>
              </a:rPr>
              <a:t>ใช้ข้อมูลสมมติหรือข้อมูลที่เผยแพร่ได้</a:t>
            </a:r>
          </a:p>
        </p:txBody>
      </p:sp>
    </p:spTree>
    <p:extLst>
      <p:ext uri="{BB962C8B-B14F-4D97-AF65-F5344CB8AC3E}">
        <p14:creationId xmlns:p14="http://schemas.microsoft.com/office/powerpoint/2010/main" val="970408359"/>
      </p:ext>
    </p:extLst>
  </p:cSld>
</p:sld>
</file>

<file path=ppt/slides/slide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4446CE9-3D37-4C20-9334-B168D24747E6}"/>
              </a:ext>
            </a:extLst>
          </p:cNvPr>
          <p:cNvSpPr>
            <a:spLocks xmlns:a="http://schemas.openxmlformats.org/drawingml/2006/main" noGrp="1"/>
          </p:cNvSpPr>
          <p:nvPr/>
        </p:nvSpPr>
        <p:spPr>
          <a:xfrm xmlns:a="http://schemas.openxmlformats.org/drawingml/2006/main">
            <a:off x="666750" y="400050"/>
            <a:ext cx="857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95"/>
                </a:solidFill>
              </a:defRPr>
            </a:defPPr>
            <a:lvl1pPr>
              <a:defRPr sz="1200" b="1">
                <a:solidFill>
                  <a:srgbClr val="087E95"/>
                </a:solidFill>
              </a:defRPr>
            </a:lvl1pPr>
            <a:lvl2pPr>
              <a:defRPr sz="1200" b="1">
                <a:solidFill>
                  <a:srgbClr val="087E95"/>
                </a:solidFill>
              </a:defRPr>
            </a:lvl2pPr>
            <a:lvl3pPr>
              <a:defRPr sz="1200" b="1">
                <a:solidFill>
                  <a:srgbClr val="087E95"/>
                </a:solidFill>
              </a:defRPr>
            </a:lvl3pPr>
            <a:lvl4pPr>
              <a:defRPr sz="1200" b="1">
                <a:solidFill>
                  <a:srgbClr val="087E95"/>
                </a:solidFill>
              </a:defRPr>
            </a:lvl4pPr>
            <a:lvl5pPr>
              <a:defRPr sz="1200" b="1">
                <a:solidFill>
                  <a:srgbClr val="087E95"/>
                </a:solidFill>
              </a:defRPr>
            </a:lvl5pPr>
            <a:lvl6pPr>
              <a:defRPr sz="1200" b="1">
                <a:solidFill>
                  <a:srgbClr val="087E95"/>
                </a:solidFill>
              </a:defRPr>
            </a:lvl6pPr>
            <a:lvl7pPr>
              <a:defRPr sz="1200" b="1">
                <a:solidFill>
                  <a:srgbClr val="087E95"/>
                </a:solidFill>
              </a:defRPr>
            </a:lvl7pPr>
            <a:lvl8pPr>
              <a:defRPr sz="1200" b="1">
                <a:solidFill>
                  <a:srgbClr val="087E95"/>
                </a:solidFill>
              </a:defRPr>
            </a:lvl8pPr>
            <a:lvl9pPr>
              <a:defRPr sz="1200" b="1">
                <a:solidFill>
                  <a:srgbClr val="087E95"/>
                </a:solidFill>
              </a:defRPr>
            </a:lvl9pPr>
          </a:lstStyle>
          <a:p xmlns:a="http://schemas.openxmlformats.org/drawingml/2006/main">
            <a:pPr>
              <a:defRPr sz="1200" b="1">
                <a:solidFill>
                  <a:srgbClr val="087E95"/>
                </a:solidFill>
              </a:defRPr>
            </a:pPr>
            <a:r>
              <a:rPr sz="1200" b="1">
                <a:solidFill>
                  <a:srgbClr val="087E95"/>
                </a:solidFill>
              </a:rPr>
              <a:t>SCOPEBOT   /   03</a:t>
            </a:r>
          </a:p>
        </p:txBody>
      </p:sp>
      <p:sp>
        <p:nvSpPr>
          <p:cNvPr id="3" name="">
            <a:extLst xmlns:a="http://schemas.openxmlformats.org/drawingml/2006/main">
              <a:ext uri="{FF2B5EF4-FFF2-40B4-BE49-F238E27FC236}">
                <a16:creationId xmlns:a16="http://schemas.microsoft.com/office/drawing/2014/main" id="{E1AB6746-67D9-4756-80CB-1D54BD216763}"/>
              </a:ext>
            </a:extLst>
          </p:cNvPr>
          <p:cNvSpPr>
            <a:spLocks xmlns:a="http://schemas.openxmlformats.org/drawingml/2006/main" noGrp="1"/>
          </p:cNvSpPr>
          <p:nvPr/>
        </p:nvSpPr>
        <p:spPr>
          <a:xfrm xmlns:a="http://schemas.openxmlformats.org/drawingml/2006/main">
            <a:off x="666750" y="10953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42B42"/>
                </a:solidFill>
              </a:defRPr>
            </a:defPPr>
            <a:lvl1pPr>
              <a:defRPr sz="3000" b="1">
                <a:solidFill>
                  <a:srgbClr val="142B42"/>
                </a:solidFill>
              </a:defRPr>
            </a:lvl1pPr>
            <a:lvl2pPr>
              <a:defRPr sz="3000" b="1">
                <a:solidFill>
                  <a:srgbClr val="142B42"/>
                </a:solidFill>
              </a:defRPr>
            </a:lvl2pPr>
            <a:lvl3pPr>
              <a:defRPr sz="3000" b="1">
                <a:solidFill>
                  <a:srgbClr val="142B42"/>
                </a:solidFill>
              </a:defRPr>
            </a:lvl3pPr>
            <a:lvl4pPr>
              <a:defRPr sz="3000" b="1">
                <a:solidFill>
                  <a:srgbClr val="142B42"/>
                </a:solidFill>
              </a:defRPr>
            </a:lvl4pPr>
            <a:lvl5pPr>
              <a:defRPr sz="3000" b="1">
                <a:solidFill>
                  <a:srgbClr val="142B42"/>
                </a:solidFill>
              </a:defRPr>
            </a:lvl5pPr>
            <a:lvl6pPr>
              <a:defRPr sz="3000" b="1">
                <a:solidFill>
                  <a:srgbClr val="142B42"/>
                </a:solidFill>
              </a:defRPr>
            </a:lvl6pPr>
            <a:lvl7pPr>
              <a:defRPr sz="3000" b="1">
                <a:solidFill>
                  <a:srgbClr val="142B42"/>
                </a:solidFill>
              </a:defRPr>
            </a:lvl7pPr>
            <a:lvl8pPr>
              <a:defRPr sz="3000" b="1">
                <a:solidFill>
                  <a:srgbClr val="142B42"/>
                </a:solidFill>
              </a:defRPr>
            </a:lvl8pPr>
            <a:lvl9pPr>
              <a:defRPr sz="3000" b="1">
                <a:solidFill>
                  <a:srgbClr val="142B42"/>
                </a:solidFill>
              </a:defRPr>
            </a:lvl9pPr>
          </a:lstStyle>
          <a:p xmlns:a="http://schemas.openxmlformats.org/drawingml/2006/main">
            <a:pPr>
              <a:defRPr sz="3000" b="1">
                <a:solidFill>
                  <a:srgbClr val="142B42"/>
                </a:solidFill>
              </a:defRPr>
            </a:pPr>
            <a:r>
              <a:rPr sz="3000" b="1">
                <a:solidFill>
                  <a:srgbClr val="142B42"/>
                </a:solidFill>
              </a:rPr>
              <a:t>ขอบเขตและผู้ใช้งาน</a:t>
            </a:r>
          </a:p>
        </p:txBody>
      </p:sp>
      <p:sp>
        <p:nvSpPr>
          <p:cNvPr id="4" name="">
            <a:extLst xmlns:a="http://schemas.openxmlformats.org/drawingml/2006/main">
              <a:ext uri="{FF2B5EF4-FFF2-40B4-BE49-F238E27FC236}">
                <a16:creationId xmlns:a16="http://schemas.microsoft.com/office/drawing/2014/main" id="{94515969-2005-4186-9EE9-142082493BF8}"/>
              </a:ext>
            </a:extLst>
          </p:cNvPr>
          <p:cNvSpPr>
            <a:spLocks xmlns:a="http://schemas.openxmlformats.org/drawingml/2006/main" noGrp="1"/>
          </p:cNvSpPr>
          <p:nvPr/>
        </p:nvSpPr>
        <p:spPr>
          <a:xfrm xmlns:a="http://schemas.openxmlformats.org/drawingml/2006/main">
            <a:off x="714375" y="2238375"/>
            <a:ext cx="619125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94255"/>
                </a:solidFill>
              </a:defRPr>
            </a:defPPr>
            <a:lvl1pPr>
              <a:defRPr sz="1875" b="0">
                <a:solidFill>
                  <a:srgbClr val="294255"/>
                </a:solidFill>
              </a:defRPr>
            </a:lvl1pPr>
            <a:lvl2pPr>
              <a:defRPr sz="1875" b="0">
                <a:solidFill>
                  <a:srgbClr val="294255"/>
                </a:solidFill>
              </a:defRPr>
            </a:lvl2pPr>
            <a:lvl3pPr>
              <a:defRPr sz="1875" b="0">
                <a:solidFill>
                  <a:srgbClr val="294255"/>
                </a:solidFill>
              </a:defRPr>
            </a:lvl3pPr>
            <a:lvl4pPr>
              <a:defRPr sz="1875" b="0">
                <a:solidFill>
                  <a:srgbClr val="294255"/>
                </a:solidFill>
              </a:defRPr>
            </a:lvl4pPr>
            <a:lvl5pPr>
              <a:defRPr sz="1875" b="0">
                <a:solidFill>
                  <a:srgbClr val="294255"/>
                </a:solidFill>
              </a:defRPr>
            </a:lvl5pPr>
            <a:lvl6pPr>
              <a:defRPr sz="1875" b="0">
                <a:solidFill>
                  <a:srgbClr val="294255"/>
                </a:solidFill>
              </a:defRPr>
            </a:lvl6pPr>
            <a:lvl7pPr>
              <a:defRPr sz="1875" b="0">
                <a:solidFill>
                  <a:srgbClr val="294255"/>
                </a:solidFill>
              </a:defRPr>
            </a:lvl7pPr>
            <a:lvl8pPr>
              <a:defRPr sz="1875" b="0">
                <a:solidFill>
                  <a:srgbClr val="294255"/>
                </a:solidFill>
              </a:defRPr>
            </a:lvl8pPr>
            <a:lvl9pPr>
              <a:defRPr sz="1875" b="0">
                <a:solidFill>
                  <a:srgbClr val="294255"/>
                </a:solidFill>
              </a:defRPr>
            </a:lvl9pPr>
          </a:lstStyle>
          <a:p xmlns:a="http://schemas.openxmlformats.org/drawingml/2006/main">
            <a:pPr>
              <a:defRPr sz="1875" b="0">
                <a:solidFill>
                  <a:srgbClr val="294255"/>
                </a:solidFill>
              </a:defRPr>
            </a:pPr>
            <a:r>
              <a:rPr sz="1875" b="0">
                <a:solidFill>
                  <a:srgbClr val="294255"/>
                </a:solidFill>
              </a:rPr>
              <a:t>เจ้าของบอท: จัดการบอทและความรู้</a:t>
            </a:r>
          </a:p>
          <a:p xmlns:a="http://schemas.openxmlformats.org/drawingml/2006/main">
            <a:pPr>
              <a:defRPr sz="1875" b="0">
                <a:solidFill>
                  <a:srgbClr val="294255"/>
                </a:solidFill>
              </a:defRPr>
            </a:pPr>
            <a:r>
              <a:t>ผู้สนทนา: ถามผ่าน Web หรือ LINE</a:t>
            </a:r>
          </a:p>
          <a:p xmlns:a="http://schemas.openxmlformats.org/drawingml/2006/main">
            <a:pPr>
              <a:defRPr sz="1875" b="0">
                <a:solidFill>
                  <a:srgbClr val="294255"/>
                </a:solidFill>
              </a:defRPr>
            </a:pPr>
            <a:r>
              <a:rPr sz="1875" b="0">
                <a:solidFill>
                  <a:srgbClr val="294255"/>
                </a:solidFill>
              </a:rPr>
              <a:t>Admin: ดูแลระบบและบัญชี</a:t>
            </a:r>
          </a:p>
          <a:p xmlns:a="http://schemas.openxmlformats.org/drawingml/2006/main">
            <a:pPr>
              <a:defRPr sz="1875" b="0">
                <a:solidFill>
                  <a:srgbClr val="294255"/>
                </a:solidFill>
              </a:defRPr>
            </a:pPr>
            <a:r>
              <a:t>Support: ดูแลบัญชีผู้ใช้งาน</a:t>
            </a:r>
          </a:p>
        </p:txBody>
      </p:sp>
      <p:sp>
        <p:nvSpPr>
          <p:cNvPr id="5" name="">
            <a:extLst xmlns:a="http://schemas.openxmlformats.org/drawingml/2006/main">
              <a:ext uri="{FF2B5EF4-FFF2-40B4-BE49-F238E27FC236}">
                <a16:creationId xmlns:a16="http://schemas.microsoft.com/office/drawing/2014/main" id="{3FC1CA48-569A-4E26-A21A-CC2C32815712}"/>
              </a:ext>
            </a:extLst>
          </p:cNvPr>
          <p:cNvSpPr>
            <a:spLocks xmlns:a="http://schemas.openxmlformats.org/drawingml/2006/main" noGrp="1"/>
          </p:cNvSpPr>
          <p:nvPr/>
        </p:nvSpPr>
        <p:spPr>
          <a:xfrm xmlns:a="http://schemas.openxmlformats.org/drawingml/2006/main">
            <a:off x="7477125" y="2333625"/>
            <a:ext cx="3905250" cy="2381250"/>
          </a:xfrm>
          <a:prstGeom xmlns:a="http://schemas.openxmlformats.org/drawingml/2006/main" prst="rect">
            <a:avLst/>
          </a:prstGeom>
          <a:solidFill xmlns:a="http://schemas.openxmlformats.org/drawingml/2006/main">
            <a:srgbClr val="E7F2F5"/>
          </a:solidFill>
          <a:ln xmlns:a="http://schemas.openxmlformats.org/drawingml/2006/main" w="9525">
            <a:solidFill>
              <a:srgbClr val="B8D5DD"/>
            </a:solidFill>
          </a:ln>
        </p:spPr>
        <p:txBody>
          <a:bodyPr xmlns:a="http://schemas.openxmlformats.org/drawingml/2006/main"/>
          <a:lstStyle xmlns:a="http://schemas.openxmlformats.org/drawingml/2006/main">
            <a:defPPr>
              <a:defRPr sz="1650">
                <a:solidFill>
                  <a:srgbClr val="38616B"/>
                </a:solidFill>
              </a:defRPr>
            </a:defPPr>
            <a:lvl1pPr>
              <a:defRPr sz="1650">
                <a:solidFill>
                  <a:srgbClr val="38616B"/>
                </a:solidFill>
              </a:defRPr>
            </a:lvl1pPr>
            <a:lvl2pPr>
              <a:defRPr sz="1650">
                <a:solidFill>
                  <a:srgbClr val="38616B"/>
                </a:solidFill>
              </a:defRPr>
            </a:lvl2pPr>
            <a:lvl3pPr>
              <a:defRPr sz="1650">
                <a:solidFill>
                  <a:srgbClr val="38616B"/>
                </a:solidFill>
              </a:defRPr>
            </a:lvl3pPr>
            <a:lvl4pPr>
              <a:defRPr sz="1650">
                <a:solidFill>
                  <a:srgbClr val="38616B"/>
                </a:solidFill>
              </a:defRPr>
            </a:lvl4pPr>
            <a:lvl5pPr>
              <a:defRPr sz="1650">
                <a:solidFill>
                  <a:srgbClr val="38616B"/>
                </a:solidFill>
              </a:defRPr>
            </a:lvl5pPr>
            <a:lvl6pPr>
              <a:defRPr sz="1650">
                <a:solidFill>
                  <a:srgbClr val="38616B"/>
                </a:solidFill>
              </a:defRPr>
            </a:lvl6pPr>
            <a:lvl7pPr>
              <a:defRPr sz="1650">
                <a:solidFill>
                  <a:srgbClr val="38616B"/>
                </a:solidFill>
              </a:defRPr>
            </a:lvl7pPr>
            <a:lvl8pPr>
              <a:defRPr sz="1650">
                <a:solidFill>
                  <a:srgbClr val="38616B"/>
                </a:solidFill>
              </a:defRPr>
            </a:lvl8pPr>
            <a:lvl9pPr>
              <a:defRPr sz="1650">
                <a:solidFill>
                  <a:srgbClr val="38616B"/>
                </a:solidFill>
              </a:defRPr>
            </a:lvl9pPr>
          </a:lstStyle>
          <a:p xmlns:a="http://schemas.openxmlformats.org/drawingml/2006/main">
            <a:pPr>
              <a:defRPr sz="1650">
                <a:solidFill>
                  <a:srgbClr val="38616B"/>
                </a:solidFill>
              </a:defRPr>
            </a:pPr>
            <a:r>
              <a:rPr sz="1650">
                <a:solidFill>
                  <a:srgbClr val="38616B"/>
                </a:solidFill>
              </a:rPr>
              <a:t>ภาพที่แนะนำ</a:t>
            </a:r>
          </a:p>
          <a:p xmlns:a="http://schemas.openxmlformats.org/drawingml/2006/main">
            <a:pPr>
              <a:defRPr sz="1650">
                <a:solidFill>
                  <a:srgbClr val="38616B"/>
                </a:solidFill>
              </a:defRPr>
            </a:pPr>
            <a:r>
              <a:t/>
            </a:r>
          </a:p>
          <a:p xmlns:a="http://schemas.openxmlformats.org/drawingml/2006/main">
            <a:pPr>
              <a:defRPr sz="1650">
                <a:solidFill>
                  <a:srgbClr val="38616B"/>
                </a:solidFill>
              </a:defRPr>
            </a:pPr>
            <a:r>
              <a:rPr sz="1650">
                <a:solidFill>
                  <a:srgbClr val="38616B"/>
                </a:solidFill>
              </a:rPr>
              <a:t>ภาพหน้า Bots Page</a:t>
            </a:r>
          </a:p>
          <a:p xmlns:a="http://schemas.openxmlformats.org/drawingml/2006/main">
            <a:pPr>
              <a:defRPr sz="1650">
                <a:solidFill>
                  <a:srgbClr val="38616B"/>
                </a:solidFill>
              </a:defRPr>
            </a:pPr>
            <a:r>
              <a:rPr sz="1650">
                <a:solidFill>
                  <a:srgbClr val="38616B"/>
                </a:solidFill>
              </a:rPr>
              <a:t>วางด้านขวา ครอปให้เห็นรายชื่อบอท</a:t>
            </a:r>
          </a:p>
          <a:p xmlns:a="http://schemas.openxmlformats.org/drawingml/2006/main">
            <a:pPr>
              <a:defRPr sz="1650">
                <a:solidFill>
                  <a:srgbClr val="38616B"/>
                </a:solidFill>
              </a:defRPr>
            </a:pPr>
            <a:r>
              <a:rPr sz="1650">
                <a:solidFill>
                  <a:srgbClr val="38616B"/>
                </a:solidFill>
              </a:rPr>
              <a:t>ไฟล์ต้นทาง: src/imports/Bots_Page.png</a:t>
            </a:r>
          </a:p>
        </p:txBody>
      </p:sp>
    </p:spTree>
    <p:extLst>
      <p:ext uri="{BB962C8B-B14F-4D97-AF65-F5344CB8AC3E}">
        <p14:creationId xmlns:p14="http://schemas.microsoft.com/office/powerpoint/2010/main" val="2078811916"/>
      </p:ext>
    </p:extLst>
  </p:cSld>
</p:sld>
</file>

<file path=ppt/slides/slide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8F49759-6F28-4733-B351-09A779B4B2CF}"/>
              </a:ext>
            </a:extLst>
          </p:cNvPr>
          <p:cNvSpPr>
            <a:spLocks xmlns:a="http://schemas.openxmlformats.org/drawingml/2006/main" noGrp="1"/>
          </p:cNvSpPr>
          <p:nvPr/>
        </p:nvSpPr>
        <p:spPr>
          <a:xfrm xmlns:a="http://schemas.openxmlformats.org/drawingml/2006/main">
            <a:off x="666750" y="400050"/>
            <a:ext cx="857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95"/>
                </a:solidFill>
              </a:defRPr>
            </a:defPPr>
            <a:lvl1pPr>
              <a:defRPr sz="1200" b="1">
                <a:solidFill>
                  <a:srgbClr val="087E95"/>
                </a:solidFill>
              </a:defRPr>
            </a:lvl1pPr>
            <a:lvl2pPr>
              <a:defRPr sz="1200" b="1">
                <a:solidFill>
                  <a:srgbClr val="087E95"/>
                </a:solidFill>
              </a:defRPr>
            </a:lvl2pPr>
            <a:lvl3pPr>
              <a:defRPr sz="1200" b="1">
                <a:solidFill>
                  <a:srgbClr val="087E95"/>
                </a:solidFill>
              </a:defRPr>
            </a:lvl3pPr>
            <a:lvl4pPr>
              <a:defRPr sz="1200" b="1">
                <a:solidFill>
                  <a:srgbClr val="087E95"/>
                </a:solidFill>
              </a:defRPr>
            </a:lvl4pPr>
            <a:lvl5pPr>
              <a:defRPr sz="1200" b="1">
                <a:solidFill>
                  <a:srgbClr val="087E95"/>
                </a:solidFill>
              </a:defRPr>
            </a:lvl5pPr>
            <a:lvl6pPr>
              <a:defRPr sz="1200" b="1">
                <a:solidFill>
                  <a:srgbClr val="087E95"/>
                </a:solidFill>
              </a:defRPr>
            </a:lvl6pPr>
            <a:lvl7pPr>
              <a:defRPr sz="1200" b="1">
                <a:solidFill>
                  <a:srgbClr val="087E95"/>
                </a:solidFill>
              </a:defRPr>
            </a:lvl7pPr>
            <a:lvl8pPr>
              <a:defRPr sz="1200" b="1">
                <a:solidFill>
                  <a:srgbClr val="087E95"/>
                </a:solidFill>
              </a:defRPr>
            </a:lvl8pPr>
            <a:lvl9pPr>
              <a:defRPr sz="1200" b="1">
                <a:solidFill>
                  <a:srgbClr val="087E95"/>
                </a:solidFill>
              </a:defRPr>
            </a:lvl9pPr>
          </a:lstStyle>
          <a:p xmlns:a="http://schemas.openxmlformats.org/drawingml/2006/main">
            <a:pPr>
              <a:defRPr sz="1200" b="1">
                <a:solidFill>
                  <a:srgbClr val="087E95"/>
                </a:solidFill>
              </a:defRPr>
            </a:pPr>
            <a:r>
              <a:rPr sz="1200" b="1">
                <a:solidFill>
                  <a:srgbClr val="087E95"/>
                </a:solidFill>
              </a:rPr>
              <a:t>SCOPEBOT   /   04</a:t>
            </a:r>
          </a:p>
        </p:txBody>
      </p:sp>
      <p:sp>
        <p:nvSpPr>
          <p:cNvPr id="3" name="">
            <a:extLst xmlns:a="http://schemas.openxmlformats.org/drawingml/2006/main">
              <a:ext uri="{FF2B5EF4-FFF2-40B4-BE49-F238E27FC236}">
                <a16:creationId xmlns:a16="http://schemas.microsoft.com/office/drawing/2014/main" id="{F269ED97-3586-4832-AAC0-A72F7F98C29E}"/>
              </a:ext>
            </a:extLst>
          </p:cNvPr>
          <p:cNvSpPr>
            <a:spLocks xmlns:a="http://schemas.openxmlformats.org/drawingml/2006/main" noGrp="1"/>
          </p:cNvSpPr>
          <p:nvPr/>
        </p:nvSpPr>
        <p:spPr>
          <a:xfrm xmlns:a="http://schemas.openxmlformats.org/drawingml/2006/main">
            <a:off x="666750" y="10953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42B42"/>
                </a:solidFill>
              </a:defRPr>
            </a:defPPr>
            <a:lvl1pPr>
              <a:defRPr sz="3000" b="1">
                <a:solidFill>
                  <a:srgbClr val="142B42"/>
                </a:solidFill>
              </a:defRPr>
            </a:lvl1pPr>
            <a:lvl2pPr>
              <a:defRPr sz="3000" b="1">
                <a:solidFill>
                  <a:srgbClr val="142B42"/>
                </a:solidFill>
              </a:defRPr>
            </a:lvl2pPr>
            <a:lvl3pPr>
              <a:defRPr sz="3000" b="1">
                <a:solidFill>
                  <a:srgbClr val="142B42"/>
                </a:solidFill>
              </a:defRPr>
            </a:lvl3pPr>
            <a:lvl4pPr>
              <a:defRPr sz="3000" b="1">
                <a:solidFill>
                  <a:srgbClr val="142B42"/>
                </a:solidFill>
              </a:defRPr>
            </a:lvl4pPr>
            <a:lvl5pPr>
              <a:defRPr sz="3000" b="1">
                <a:solidFill>
                  <a:srgbClr val="142B42"/>
                </a:solidFill>
              </a:defRPr>
            </a:lvl5pPr>
            <a:lvl6pPr>
              <a:defRPr sz="3000" b="1">
                <a:solidFill>
                  <a:srgbClr val="142B42"/>
                </a:solidFill>
              </a:defRPr>
            </a:lvl6pPr>
            <a:lvl7pPr>
              <a:defRPr sz="3000" b="1">
                <a:solidFill>
                  <a:srgbClr val="142B42"/>
                </a:solidFill>
              </a:defRPr>
            </a:lvl7pPr>
            <a:lvl8pPr>
              <a:defRPr sz="3000" b="1">
                <a:solidFill>
                  <a:srgbClr val="142B42"/>
                </a:solidFill>
              </a:defRPr>
            </a:lvl8pPr>
            <a:lvl9pPr>
              <a:defRPr sz="3000" b="1">
                <a:solidFill>
                  <a:srgbClr val="142B42"/>
                </a:solidFill>
              </a:defRPr>
            </a:lvl9pPr>
          </a:lstStyle>
          <a:p xmlns:a="http://schemas.openxmlformats.org/drawingml/2006/main">
            <a:pPr>
              <a:defRPr sz="3000" b="1">
                <a:solidFill>
                  <a:srgbClr val="142B42"/>
                </a:solidFill>
              </a:defRPr>
            </a:pPr>
            <a:r>
              <a:rPr sz="3000" b="1">
                <a:solidFill>
                  <a:srgbClr val="142B42"/>
                </a:solidFill>
              </a:rPr>
              <a:t>เส้นทางการใช้งาน</a:t>
            </a:r>
          </a:p>
        </p:txBody>
      </p:sp>
      <p:sp>
        <p:nvSpPr>
          <p:cNvPr id="4" name="">
            <a:extLst xmlns:a="http://schemas.openxmlformats.org/drawingml/2006/main">
              <a:ext uri="{FF2B5EF4-FFF2-40B4-BE49-F238E27FC236}">
                <a16:creationId xmlns:a16="http://schemas.microsoft.com/office/drawing/2014/main" id="{80FB8D0E-B498-45DB-824D-CDC84403442C}"/>
              </a:ext>
            </a:extLst>
          </p:cNvPr>
          <p:cNvSpPr>
            <a:spLocks xmlns:a="http://schemas.openxmlformats.org/drawingml/2006/main" noGrp="1"/>
          </p:cNvSpPr>
          <p:nvPr/>
        </p:nvSpPr>
        <p:spPr>
          <a:xfrm xmlns:a="http://schemas.openxmlformats.org/drawingml/2006/main">
            <a:off x="714375" y="2238375"/>
            <a:ext cx="619125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94255"/>
                </a:solidFill>
              </a:defRPr>
            </a:defPPr>
            <a:lvl1pPr>
              <a:defRPr sz="1875" b="0">
                <a:solidFill>
                  <a:srgbClr val="294255"/>
                </a:solidFill>
              </a:defRPr>
            </a:lvl1pPr>
            <a:lvl2pPr>
              <a:defRPr sz="1875" b="0">
                <a:solidFill>
                  <a:srgbClr val="294255"/>
                </a:solidFill>
              </a:defRPr>
            </a:lvl2pPr>
            <a:lvl3pPr>
              <a:defRPr sz="1875" b="0">
                <a:solidFill>
                  <a:srgbClr val="294255"/>
                </a:solidFill>
              </a:defRPr>
            </a:lvl3pPr>
            <a:lvl4pPr>
              <a:defRPr sz="1875" b="0">
                <a:solidFill>
                  <a:srgbClr val="294255"/>
                </a:solidFill>
              </a:defRPr>
            </a:lvl4pPr>
            <a:lvl5pPr>
              <a:defRPr sz="1875" b="0">
                <a:solidFill>
                  <a:srgbClr val="294255"/>
                </a:solidFill>
              </a:defRPr>
            </a:lvl5pPr>
            <a:lvl6pPr>
              <a:defRPr sz="1875" b="0">
                <a:solidFill>
                  <a:srgbClr val="294255"/>
                </a:solidFill>
              </a:defRPr>
            </a:lvl6pPr>
            <a:lvl7pPr>
              <a:defRPr sz="1875" b="0">
                <a:solidFill>
                  <a:srgbClr val="294255"/>
                </a:solidFill>
              </a:defRPr>
            </a:lvl7pPr>
            <a:lvl8pPr>
              <a:defRPr sz="1875" b="0">
                <a:solidFill>
                  <a:srgbClr val="294255"/>
                </a:solidFill>
              </a:defRPr>
            </a:lvl8pPr>
            <a:lvl9pPr>
              <a:defRPr sz="1875" b="0">
                <a:solidFill>
                  <a:srgbClr val="294255"/>
                </a:solidFill>
              </a:defRPr>
            </a:lvl9pPr>
          </a:lstStyle>
          <a:p xmlns:a="http://schemas.openxmlformats.org/drawingml/2006/main">
            <a:pPr>
              <a:defRPr sz="1875" b="0">
                <a:solidFill>
                  <a:srgbClr val="294255"/>
                </a:solidFill>
              </a:defRPr>
            </a:pPr>
            <a:r>
              <a:rPr sz="1875" b="0">
                <a:solidFill>
                  <a:srgbClr val="294255"/>
                </a:solidFill>
              </a:rPr>
              <a:t>1  สร้างบอทและเลือกเอกสาร</a:t>
            </a:r>
          </a:p>
          <a:p xmlns:a="http://schemas.openxmlformats.org/drawingml/2006/main">
            <a:pPr>
              <a:defRPr sz="1875" b="0">
                <a:solidFill>
                  <a:srgbClr val="294255"/>
                </a:solidFill>
              </a:defRPr>
            </a:pPr>
            <a:r>
              <a:t>2  ประมวลผลความรู้ให้พร้อมค้นหา</a:t>
            </a:r>
          </a:p>
          <a:p xmlns:a="http://schemas.openxmlformats.org/drawingml/2006/main">
            <a:pPr>
              <a:defRPr sz="1875" b="0">
                <a:solidFill>
                  <a:srgbClr val="294255"/>
                </a:solidFill>
              </a:defRPr>
            </a:pPr>
            <a:r>
              <a:rPr sz="1875" b="0">
                <a:solidFill>
                  <a:srgbClr val="294255"/>
                </a:solidFill>
              </a:rPr>
              <a:t>3  ผู้ใช้ถามและรับคำตอบ</a:t>
            </a:r>
          </a:p>
          <a:p xmlns:a="http://schemas.openxmlformats.org/drawingml/2006/main">
            <a:pPr>
              <a:defRPr sz="1875" b="0">
                <a:solidFill>
                  <a:srgbClr val="294255"/>
                </a:solidFill>
              </a:defRPr>
            </a:pPr>
            <a:r>
              <a:t>4  ติดต่อเจ้าของบอทเมื่อจำเป็น</a:t>
            </a:r>
          </a:p>
        </p:txBody>
      </p:sp>
      <p:sp>
        <p:nvSpPr>
          <p:cNvPr id="5" name="">
            <a:extLst xmlns:a="http://schemas.openxmlformats.org/drawingml/2006/main">
              <a:ext uri="{FF2B5EF4-FFF2-40B4-BE49-F238E27FC236}">
                <a16:creationId xmlns:a16="http://schemas.microsoft.com/office/drawing/2014/main" id="{3996926B-427B-4750-B923-240DAC3E3E63}"/>
              </a:ext>
            </a:extLst>
          </p:cNvPr>
          <p:cNvSpPr>
            <a:spLocks xmlns:a="http://schemas.openxmlformats.org/drawingml/2006/main" noGrp="1"/>
          </p:cNvSpPr>
          <p:nvPr/>
        </p:nvSpPr>
        <p:spPr>
          <a:xfrm xmlns:a="http://schemas.openxmlformats.org/drawingml/2006/main">
            <a:off x="7477125" y="2333625"/>
            <a:ext cx="3905250" cy="2381250"/>
          </a:xfrm>
          <a:prstGeom xmlns:a="http://schemas.openxmlformats.org/drawingml/2006/main" prst="rect">
            <a:avLst/>
          </a:prstGeom>
          <a:solidFill xmlns:a="http://schemas.openxmlformats.org/drawingml/2006/main">
            <a:srgbClr val="E7F2F5"/>
          </a:solidFill>
          <a:ln xmlns:a="http://schemas.openxmlformats.org/drawingml/2006/main" w="9525">
            <a:solidFill>
              <a:srgbClr val="B8D5DD"/>
            </a:solidFill>
          </a:ln>
        </p:spPr>
        <p:txBody>
          <a:bodyPr xmlns:a="http://schemas.openxmlformats.org/drawingml/2006/main"/>
          <a:lstStyle xmlns:a="http://schemas.openxmlformats.org/drawingml/2006/main">
            <a:defPPr>
              <a:defRPr sz="1650">
                <a:solidFill>
                  <a:srgbClr val="38616B"/>
                </a:solidFill>
              </a:defRPr>
            </a:defPPr>
            <a:lvl1pPr>
              <a:defRPr sz="1650">
                <a:solidFill>
                  <a:srgbClr val="38616B"/>
                </a:solidFill>
              </a:defRPr>
            </a:lvl1pPr>
            <a:lvl2pPr>
              <a:defRPr sz="1650">
                <a:solidFill>
                  <a:srgbClr val="38616B"/>
                </a:solidFill>
              </a:defRPr>
            </a:lvl2pPr>
            <a:lvl3pPr>
              <a:defRPr sz="1650">
                <a:solidFill>
                  <a:srgbClr val="38616B"/>
                </a:solidFill>
              </a:defRPr>
            </a:lvl3pPr>
            <a:lvl4pPr>
              <a:defRPr sz="1650">
                <a:solidFill>
                  <a:srgbClr val="38616B"/>
                </a:solidFill>
              </a:defRPr>
            </a:lvl4pPr>
            <a:lvl5pPr>
              <a:defRPr sz="1650">
                <a:solidFill>
                  <a:srgbClr val="38616B"/>
                </a:solidFill>
              </a:defRPr>
            </a:lvl5pPr>
            <a:lvl6pPr>
              <a:defRPr sz="1650">
                <a:solidFill>
                  <a:srgbClr val="38616B"/>
                </a:solidFill>
              </a:defRPr>
            </a:lvl6pPr>
            <a:lvl7pPr>
              <a:defRPr sz="1650">
                <a:solidFill>
                  <a:srgbClr val="38616B"/>
                </a:solidFill>
              </a:defRPr>
            </a:lvl7pPr>
            <a:lvl8pPr>
              <a:defRPr sz="1650">
                <a:solidFill>
                  <a:srgbClr val="38616B"/>
                </a:solidFill>
              </a:defRPr>
            </a:lvl8pPr>
            <a:lvl9pPr>
              <a:defRPr sz="1650">
                <a:solidFill>
                  <a:srgbClr val="38616B"/>
                </a:solidFill>
              </a:defRPr>
            </a:lvl9pPr>
          </a:lstStyle>
          <a:p xmlns:a="http://schemas.openxmlformats.org/drawingml/2006/main">
            <a:pPr>
              <a:defRPr sz="1650">
                <a:solidFill>
                  <a:srgbClr val="38616B"/>
                </a:solidFill>
              </a:defRPr>
            </a:pPr>
            <a:r>
              <a:rPr sz="1650">
                <a:solidFill>
                  <a:srgbClr val="38616B"/>
                </a:solidFill>
              </a:rPr>
              <a:t>ภาพที่แนะนำ</a:t>
            </a:r>
          </a:p>
          <a:p xmlns:a="http://schemas.openxmlformats.org/drawingml/2006/main">
            <a:pPr>
              <a:defRPr sz="1650">
                <a:solidFill>
                  <a:srgbClr val="38616B"/>
                </a:solidFill>
              </a:defRPr>
            </a:pPr>
            <a:r>
              <a:t/>
            </a:r>
          </a:p>
          <a:p xmlns:a="http://schemas.openxmlformats.org/drawingml/2006/main">
            <a:pPr>
              <a:defRPr sz="1650">
                <a:solidFill>
                  <a:srgbClr val="38616B"/>
                </a:solidFill>
              </a:defRPr>
            </a:pPr>
            <a:r>
              <a:rPr sz="1650">
                <a:solidFill>
                  <a:srgbClr val="38616B"/>
                </a:solidFill>
              </a:rPr>
              <a:t>ภาพหน้าจอสร้างบอทหรือเพิ่มเอกสาร</a:t>
            </a:r>
          </a:p>
          <a:p xmlns:a="http://schemas.openxmlformats.org/drawingml/2006/main">
            <a:pPr>
              <a:defRPr sz="1650">
                <a:solidFill>
                  <a:srgbClr val="38616B"/>
                </a:solidFill>
              </a:defRPr>
            </a:pPr>
            <a:r>
              <a:rPr sz="1650">
                <a:solidFill>
                  <a:srgbClr val="38616B"/>
                </a:solidFill>
              </a:rPr>
              <a:t>วางด้านขวา เน้นเมนูที่ต้องกดจริง</a:t>
            </a:r>
          </a:p>
          <a:p xmlns:a="http://schemas.openxmlformats.org/drawingml/2006/main">
            <a:pPr>
              <a:defRPr sz="1650">
                <a:solidFill>
                  <a:srgbClr val="38616B"/>
                </a:solidFill>
              </a:defRPr>
            </a:pPr>
            <a:r>
              <a:rPr sz="1650">
                <a:solidFill>
                  <a:srgbClr val="38616B"/>
                </a:solidFill>
              </a:rPr>
              <a:t>ไฟล์ต้นทาง: src/imports/Create_Bots_Page.png</a:t>
            </a:r>
          </a:p>
        </p:txBody>
      </p:sp>
    </p:spTree>
    <p:extLst>
      <p:ext uri="{BB962C8B-B14F-4D97-AF65-F5344CB8AC3E}">
        <p14:creationId xmlns:p14="http://schemas.microsoft.com/office/powerpoint/2010/main" val="1203356426"/>
      </p:ext>
    </p:extLst>
  </p:cSld>
</p:sld>
</file>

<file path=ppt/slides/slide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012F606-6A76-4AF2-934B-FB65B32C27D6}"/>
              </a:ext>
            </a:extLst>
          </p:cNvPr>
          <p:cNvSpPr>
            <a:spLocks xmlns:a="http://schemas.openxmlformats.org/drawingml/2006/main" noGrp="1"/>
          </p:cNvSpPr>
          <p:nvPr/>
        </p:nvSpPr>
        <p:spPr>
          <a:xfrm xmlns:a="http://schemas.openxmlformats.org/drawingml/2006/main">
            <a:off x="666750" y="400050"/>
            <a:ext cx="857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95"/>
                </a:solidFill>
              </a:defRPr>
            </a:defPPr>
            <a:lvl1pPr>
              <a:defRPr sz="1200" b="1">
                <a:solidFill>
                  <a:srgbClr val="087E95"/>
                </a:solidFill>
              </a:defRPr>
            </a:lvl1pPr>
            <a:lvl2pPr>
              <a:defRPr sz="1200" b="1">
                <a:solidFill>
                  <a:srgbClr val="087E95"/>
                </a:solidFill>
              </a:defRPr>
            </a:lvl2pPr>
            <a:lvl3pPr>
              <a:defRPr sz="1200" b="1">
                <a:solidFill>
                  <a:srgbClr val="087E95"/>
                </a:solidFill>
              </a:defRPr>
            </a:lvl3pPr>
            <a:lvl4pPr>
              <a:defRPr sz="1200" b="1">
                <a:solidFill>
                  <a:srgbClr val="087E95"/>
                </a:solidFill>
              </a:defRPr>
            </a:lvl4pPr>
            <a:lvl5pPr>
              <a:defRPr sz="1200" b="1">
                <a:solidFill>
                  <a:srgbClr val="087E95"/>
                </a:solidFill>
              </a:defRPr>
            </a:lvl5pPr>
            <a:lvl6pPr>
              <a:defRPr sz="1200" b="1">
                <a:solidFill>
                  <a:srgbClr val="087E95"/>
                </a:solidFill>
              </a:defRPr>
            </a:lvl6pPr>
            <a:lvl7pPr>
              <a:defRPr sz="1200" b="1">
                <a:solidFill>
                  <a:srgbClr val="087E95"/>
                </a:solidFill>
              </a:defRPr>
            </a:lvl7pPr>
            <a:lvl8pPr>
              <a:defRPr sz="1200" b="1">
                <a:solidFill>
                  <a:srgbClr val="087E95"/>
                </a:solidFill>
              </a:defRPr>
            </a:lvl8pPr>
            <a:lvl9pPr>
              <a:defRPr sz="1200" b="1">
                <a:solidFill>
                  <a:srgbClr val="087E95"/>
                </a:solidFill>
              </a:defRPr>
            </a:lvl9pPr>
          </a:lstStyle>
          <a:p xmlns:a="http://schemas.openxmlformats.org/drawingml/2006/main">
            <a:pPr>
              <a:defRPr sz="1200" b="1">
                <a:solidFill>
                  <a:srgbClr val="087E95"/>
                </a:solidFill>
              </a:defRPr>
            </a:pPr>
            <a:r>
              <a:rPr sz="1200" b="1">
                <a:solidFill>
                  <a:srgbClr val="087E95"/>
                </a:solidFill>
              </a:rPr>
              <a:t>SCOPEBOT   /   05</a:t>
            </a:r>
          </a:p>
        </p:txBody>
      </p:sp>
      <p:sp>
        <p:nvSpPr>
          <p:cNvPr id="3" name="">
            <a:extLst xmlns:a="http://schemas.openxmlformats.org/drawingml/2006/main">
              <a:ext uri="{FF2B5EF4-FFF2-40B4-BE49-F238E27FC236}">
                <a16:creationId xmlns:a16="http://schemas.microsoft.com/office/drawing/2014/main" id="{E82FBCF5-97BE-4EF1-8560-BAA9C73EF5B5}"/>
              </a:ext>
            </a:extLst>
          </p:cNvPr>
          <p:cNvSpPr>
            <a:spLocks xmlns:a="http://schemas.openxmlformats.org/drawingml/2006/main" noGrp="1"/>
          </p:cNvSpPr>
          <p:nvPr/>
        </p:nvSpPr>
        <p:spPr>
          <a:xfrm xmlns:a="http://schemas.openxmlformats.org/drawingml/2006/main">
            <a:off x="666750" y="10953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42B42"/>
                </a:solidFill>
              </a:defRPr>
            </a:defPPr>
            <a:lvl1pPr>
              <a:defRPr sz="3000" b="1">
                <a:solidFill>
                  <a:srgbClr val="142B42"/>
                </a:solidFill>
              </a:defRPr>
            </a:lvl1pPr>
            <a:lvl2pPr>
              <a:defRPr sz="3000" b="1">
                <a:solidFill>
                  <a:srgbClr val="142B42"/>
                </a:solidFill>
              </a:defRPr>
            </a:lvl2pPr>
            <a:lvl3pPr>
              <a:defRPr sz="3000" b="1">
                <a:solidFill>
                  <a:srgbClr val="142B42"/>
                </a:solidFill>
              </a:defRPr>
            </a:lvl3pPr>
            <a:lvl4pPr>
              <a:defRPr sz="3000" b="1">
                <a:solidFill>
                  <a:srgbClr val="142B42"/>
                </a:solidFill>
              </a:defRPr>
            </a:lvl4pPr>
            <a:lvl5pPr>
              <a:defRPr sz="3000" b="1">
                <a:solidFill>
                  <a:srgbClr val="142B42"/>
                </a:solidFill>
              </a:defRPr>
            </a:lvl5pPr>
            <a:lvl6pPr>
              <a:defRPr sz="3000" b="1">
                <a:solidFill>
                  <a:srgbClr val="142B42"/>
                </a:solidFill>
              </a:defRPr>
            </a:lvl6pPr>
            <a:lvl7pPr>
              <a:defRPr sz="3000" b="1">
                <a:solidFill>
                  <a:srgbClr val="142B42"/>
                </a:solidFill>
              </a:defRPr>
            </a:lvl7pPr>
            <a:lvl8pPr>
              <a:defRPr sz="3000" b="1">
                <a:solidFill>
                  <a:srgbClr val="142B42"/>
                </a:solidFill>
              </a:defRPr>
            </a:lvl8pPr>
            <a:lvl9pPr>
              <a:defRPr sz="3000" b="1">
                <a:solidFill>
                  <a:srgbClr val="142B42"/>
                </a:solidFill>
              </a:defRPr>
            </a:lvl9pPr>
          </a:lstStyle>
          <a:p xmlns:a="http://schemas.openxmlformats.org/drawingml/2006/main">
            <a:pPr>
              <a:defRPr sz="3000" b="1">
                <a:solidFill>
                  <a:srgbClr val="142B42"/>
                </a:solidFill>
              </a:defRPr>
            </a:pPr>
            <a:r>
              <a:rPr sz="3000" b="1">
                <a:solidFill>
                  <a:srgbClr val="142B42"/>
                </a:solidFill>
              </a:rPr>
              <a:t>สถาปัตยกรรมและการติดตั้ง</a:t>
            </a:r>
          </a:p>
        </p:txBody>
      </p:sp>
      <p:sp>
        <p:nvSpPr>
          <p:cNvPr id="4" name="">
            <a:extLst xmlns:a="http://schemas.openxmlformats.org/drawingml/2006/main">
              <a:ext uri="{FF2B5EF4-FFF2-40B4-BE49-F238E27FC236}">
                <a16:creationId xmlns:a16="http://schemas.microsoft.com/office/drawing/2014/main" id="{7B13E009-64D1-4B26-8DE9-A1C70099A1A0}"/>
              </a:ext>
            </a:extLst>
          </p:cNvPr>
          <p:cNvSpPr>
            <a:spLocks xmlns:a="http://schemas.openxmlformats.org/drawingml/2006/main" noGrp="1"/>
          </p:cNvSpPr>
          <p:nvPr/>
        </p:nvSpPr>
        <p:spPr>
          <a:xfrm xmlns:a="http://schemas.openxmlformats.org/drawingml/2006/main">
            <a:off x="714375" y="2238375"/>
            <a:ext cx="619125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94255"/>
                </a:solidFill>
              </a:defRPr>
            </a:defPPr>
            <a:lvl1pPr>
              <a:defRPr sz="1875" b="0">
                <a:solidFill>
                  <a:srgbClr val="294255"/>
                </a:solidFill>
              </a:defRPr>
            </a:lvl1pPr>
            <a:lvl2pPr>
              <a:defRPr sz="1875" b="0">
                <a:solidFill>
                  <a:srgbClr val="294255"/>
                </a:solidFill>
              </a:defRPr>
            </a:lvl2pPr>
            <a:lvl3pPr>
              <a:defRPr sz="1875" b="0">
                <a:solidFill>
                  <a:srgbClr val="294255"/>
                </a:solidFill>
              </a:defRPr>
            </a:lvl3pPr>
            <a:lvl4pPr>
              <a:defRPr sz="1875" b="0">
                <a:solidFill>
                  <a:srgbClr val="294255"/>
                </a:solidFill>
              </a:defRPr>
            </a:lvl4pPr>
            <a:lvl5pPr>
              <a:defRPr sz="1875" b="0">
                <a:solidFill>
                  <a:srgbClr val="294255"/>
                </a:solidFill>
              </a:defRPr>
            </a:lvl5pPr>
            <a:lvl6pPr>
              <a:defRPr sz="1875" b="0">
                <a:solidFill>
                  <a:srgbClr val="294255"/>
                </a:solidFill>
              </a:defRPr>
            </a:lvl6pPr>
            <a:lvl7pPr>
              <a:defRPr sz="1875" b="0">
                <a:solidFill>
                  <a:srgbClr val="294255"/>
                </a:solidFill>
              </a:defRPr>
            </a:lvl7pPr>
            <a:lvl8pPr>
              <a:defRPr sz="1875" b="0">
                <a:solidFill>
                  <a:srgbClr val="294255"/>
                </a:solidFill>
              </a:defRPr>
            </a:lvl8pPr>
            <a:lvl9pPr>
              <a:defRPr sz="1875" b="0">
                <a:solidFill>
                  <a:srgbClr val="294255"/>
                </a:solidFill>
              </a:defRPr>
            </a:lvl9pPr>
          </a:lstStyle>
          <a:p xmlns:a="http://schemas.openxmlformats.org/drawingml/2006/main">
            <a:pPr>
              <a:defRPr sz="1875" b="0">
                <a:solidFill>
                  <a:srgbClr val="294255"/>
                </a:solidFill>
              </a:defRPr>
            </a:pPr>
            <a:r>
              <a:rPr sz="1875" b="0">
                <a:solidFill>
                  <a:srgbClr val="294255"/>
                </a:solidFill>
              </a:rPr>
              <a:t>React: หน้าจอใช้งานและจัดการบอท</a:t>
            </a:r>
          </a:p>
          <a:p xmlns:a="http://schemas.openxmlformats.org/drawingml/2006/main">
            <a:pPr>
              <a:defRPr sz="1875" b="0">
                <a:solidFill>
                  <a:srgbClr val="294255"/>
                </a:solidFill>
              </a:defRPr>
            </a:pPr>
            <a:r>
              <a:t>FastAPI: ตรวจสิทธิ์และควบคุมงาน</a:t>
            </a:r>
          </a:p>
          <a:p xmlns:a="http://schemas.openxmlformats.org/drawingml/2006/main">
            <a:pPr>
              <a:defRPr sz="1875" b="0">
                <a:solidFill>
                  <a:srgbClr val="294255"/>
                </a:solidFill>
              </a:defRPr>
            </a:pPr>
            <a:r>
              <a:rPr sz="1875" b="0">
                <a:solidFill>
                  <a:srgbClr val="294255"/>
                </a:solidFill>
              </a:rPr>
              <a:t>PostgreSQL: ข้อมูลระบบและประวัติ</a:t>
            </a:r>
          </a:p>
          <a:p xmlns:a="http://schemas.openxmlformats.org/drawingml/2006/main">
            <a:pPr>
              <a:defRPr sz="1875" b="0">
                <a:solidFill>
                  <a:srgbClr val="294255"/>
                </a:solidFill>
              </a:defRPr>
            </a:pPr>
            <a:r>
              <a:t>RAG + Ollama: ค้นความรู้และตอบ</a:t>
            </a:r>
          </a:p>
        </p:txBody>
      </p:sp>
      <p:sp>
        <p:nvSpPr>
          <p:cNvPr id="5" name="">
            <a:extLst xmlns:a="http://schemas.openxmlformats.org/drawingml/2006/main">
              <a:ext uri="{FF2B5EF4-FFF2-40B4-BE49-F238E27FC236}">
                <a16:creationId xmlns:a16="http://schemas.microsoft.com/office/drawing/2014/main" id="{C3451BF2-E337-4C60-AA1E-779F52377D1F}"/>
              </a:ext>
            </a:extLst>
          </p:cNvPr>
          <p:cNvSpPr>
            <a:spLocks xmlns:a="http://schemas.openxmlformats.org/drawingml/2006/main" noGrp="1"/>
          </p:cNvSpPr>
          <p:nvPr/>
        </p:nvSpPr>
        <p:spPr>
          <a:xfrm xmlns:a="http://schemas.openxmlformats.org/drawingml/2006/main">
            <a:off x="7477125" y="2333625"/>
            <a:ext cx="3905250" cy="2381250"/>
          </a:xfrm>
          <a:prstGeom xmlns:a="http://schemas.openxmlformats.org/drawingml/2006/main" prst="rect">
            <a:avLst/>
          </a:prstGeom>
          <a:solidFill xmlns:a="http://schemas.openxmlformats.org/drawingml/2006/main">
            <a:srgbClr val="E7F2F5"/>
          </a:solidFill>
          <a:ln xmlns:a="http://schemas.openxmlformats.org/drawingml/2006/main" w="9525">
            <a:solidFill>
              <a:srgbClr val="B8D5DD"/>
            </a:solidFill>
          </a:ln>
        </p:spPr>
        <p:txBody>
          <a:bodyPr xmlns:a="http://schemas.openxmlformats.org/drawingml/2006/main"/>
          <a:lstStyle xmlns:a="http://schemas.openxmlformats.org/drawingml/2006/main">
            <a:defPPr>
              <a:defRPr sz="1650">
                <a:solidFill>
                  <a:srgbClr val="38616B"/>
                </a:solidFill>
              </a:defRPr>
            </a:defPPr>
            <a:lvl1pPr>
              <a:defRPr sz="1650">
                <a:solidFill>
                  <a:srgbClr val="38616B"/>
                </a:solidFill>
              </a:defRPr>
            </a:lvl1pPr>
            <a:lvl2pPr>
              <a:defRPr sz="1650">
                <a:solidFill>
                  <a:srgbClr val="38616B"/>
                </a:solidFill>
              </a:defRPr>
            </a:lvl2pPr>
            <a:lvl3pPr>
              <a:defRPr sz="1650">
                <a:solidFill>
                  <a:srgbClr val="38616B"/>
                </a:solidFill>
              </a:defRPr>
            </a:lvl3pPr>
            <a:lvl4pPr>
              <a:defRPr sz="1650">
                <a:solidFill>
                  <a:srgbClr val="38616B"/>
                </a:solidFill>
              </a:defRPr>
            </a:lvl4pPr>
            <a:lvl5pPr>
              <a:defRPr sz="1650">
                <a:solidFill>
                  <a:srgbClr val="38616B"/>
                </a:solidFill>
              </a:defRPr>
            </a:lvl5pPr>
            <a:lvl6pPr>
              <a:defRPr sz="1650">
                <a:solidFill>
                  <a:srgbClr val="38616B"/>
                </a:solidFill>
              </a:defRPr>
            </a:lvl6pPr>
            <a:lvl7pPr>
              <a:defRPr sz="1650">
                <a:solidFill>
                  <a:srgbClr val="38616B"/>
                </a:solidFill>
              </a:defRPr>
            </a:lvl7pPr>
            <a:lvl8pPr>
              <a:defRPr sz="1650">
                <a:solidFill>
                  <a:srgbClr val="38616B"/>
                </a:solidFill>
              </a:defRPr>
            </a:lvl8pPr>
            <a:lvl9pPr>
              <a:defRPr sz="1650">
                <a:solidFill>
                  <a:srgbClr val="38616B"/>
                </a:solidFill>
              </a:defRPr>
            </a:lvl9pPr>
          </a:lstStyle>
          <a:p xmlns:a="http://schemas.openxmlformats.org/drawingml/2006/main">
            <a:pPr>
              <a:defRPr sz="1650">
                <a:solidFill>
                  <a:srgbClr val="38616B"/>
                </a:solidFill>
              </a:defRPr>
            </a:pPr>
            <a:r>
              <a:rPr sz="1650">
                <a:solidFill>
                  <a:srgbClr val="38616B"/>
                </a:solidFill>
              </a:rPr>
              <a:t>ภาพที่แนะนำ</a:t>
            </a:r>
          </a:p>
          <a:p xmlns:a="http://schemas.openxmlformats.org/drawingml/2006/main">
            <a:pPr>
              <a:defRPr sz="1650">
                <a:solidFill>
                  <a:srgbClr val="38616B"/>
                </a:solidFill>
              </a:defRPr>
            </a:pPr>
            <a:r>
              <a:t/>
            </a:r>
          </a:p>
          <a:p xmlns:a="http://schemas.openxmlformats.org/drawingml/2006/main">
            <a:pPr>
              <a:defRPr sz="1650">
                <a:solidFill>
                  <a:srgbClr val="38616B"/>
                </a:solidFill>
              </a:defRPr>
            </a:pPr>
            <a:r>
              <a:rPr sz="1650">
                <a:solidFill>
                  <a:srgbClr val="38616B"/>
                </a:solidFill>
              </a:rPr>
              <a:t>แผนภาพสถาปัตยกรรมแบบย่อ</a:t>
            </a:r>
          </a:p>
          <a:p xmlns:a="http://schemas.openxmlformats.org/drawingml/2006/main">
            <a:pPr>
              <a:defRPr sz="1650">
                <a:solidFill>
                  <a:srgbClr val="38616B"/>
                </a:solidFill>
              </a:defRPr>
            </a:pPr>
            <a:r>
              <a:rPr sz="1650">
                <a:solidFill>
                  <a:srgbClr val="38616B"/>
                </a:solidFill>
              </a:rPr>
              <a:t>Web / LINE → FastAPI</a:t>
            </a:r>
          </a:p>
          <a:p xmlns:a="http://schemas.openxmlformats.org/drawingml/2006/main">
            <a:pPr>
              <a:defRPr sz="1650">
                <a:solidFill>
                  <a:srgbClr val="38616B"/>
                </a:solidFill>
              </a:defRPr>
            </a:pPr>
            <a:r>
              <a:rPr sz="1650">
                <a:solidFill>
                  <a:srgbClr val="38616B"/>
                </a:solidFill>
              </a:rPr>
              <a:t>แยกแขนงไป PostgreSQL และ RAG → Ollama</a:t>
            </a:r>
          </a:p>
          <a:p xmlns:a="http://schemas.openxmlformats.org/drawingml/2006/main">
            <a:pPr>
              <a:defRPr sz="1650">
                <a:solidFill>
                  <a:srgbClr val="38616B"/>
                </a:solidFill>
              </a:defRPr>
            </a:pPr>
            <a:r>
              <a:rPr sz="1650">
                <a:solidFill>
                  <a:srgbClr val="38616B"/>
                </a:solidFill>
              </a:rPr>
              <a:t>ใส่ Storage / ChromaDB ในส่วน RAG</a:t>
            </a:r>
          </a:p>
        </p:txBody>
      </p:sp>
    </p:spTree>
    <p:extLst>
      <p:ext uri="{BB962C8B-B14F-4D97-AF65-F5344CB8AC3E}">
        <p14:creationId xmlns:p14="http://schemas.microsoft.com/office/powerpoint/2010/main" val="1479780296"/>
      </p:ext>
    </p:extLst>
  </p:cSld>
</p:sld>
</file>

<file path=ppt/slides/slide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EFF1C09-0213-4491-813C-AAD23BD1B367}"/>
              </a:ext>
            </a:extLst>
          </p:cNvPr>
          <p:cNvSpPr>
            <a:spLocks xmlns:a="http://schemas.openxmlformats.org/drawingml/2006/main" noGrp="1"/>
          </p:cNvSpPr>
          <p:nvPr/>
        </p:nvSpPr>
        <p:spPr>
          <a:xfrm xmlns:a="http://schemas.openxmlformats.org/drawingml/2006/main">
            <a:off x="666750" y="400050"/>
            <a:ext cx="857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95"/>
                </a:solidFill>
              </a:defRPr>
            </a:defPPr>
            <a:lvl1pPr>
              <a:defRPr sz="1200" b="1">
                <a:solidFill>
                  <a:srgbClr val="087E95"/>
                </a:solidFill>
              </a:defRPr>
            </a:lvl1pPr>
            <a:lvl2pPr>
              <a:defRPr sz="1200" b="1">
                <a:solidFill>
                  <a:srgbClr val="087E95"/>
                </a:solidFill>
              </a:defRPr>
            </a:lvl2pPr>
            <a:lvl3pPr>
              <a:defRPr sz="1200" b="1">
                <a:solidFill>
                  <a:srgbClr val="087E95"/>
                </a:solidFill>
              </a:defRPr>
            </a:lvl3pPr>
            <a:lvl4pPr>
              <a:defRPr sz="1200" b="1">
                <a:solidFill>
                  <a:srgbClr val="087E95"/>
                </a:solidFill>
              </a:defRPr>
            </a:lvl4pPr>
            <a:lvl5pPr>
              <a:defRPr sz="1200" b="1">
                <a:solidFill>
                  <a:srgbClr val="087E95"/>
                </a:solidFill>
              </a:defRPr>
            </a:lvl5pPr>
            <a:lvl6pPr>
              <a:defRPr sz="1200" b="1">
                <a:solidFill>
                  <a:srgbClr val="087E95"/>
                </a:solidFill>
              </a:defRPr>
            </a:lvl6pPr>
            <a:lvl7pPr>
              <a:defRPr sz="1200" b="1">
                <a:solidFill>
                  <a:srgbClr val="087E95"/>
                </a:solidFill>
              </a:defRPr>
            </a:lvl7pPr>
            <a:lvl8pPr>
              <a:defRPr sz="1200" b="1">
                <a:solidFill>
                  <a:srgbClr val="087E95"/>
                </a:solidFill>
              </a:defRPr>
            </a:lvl8pPr>
            <a:lvl9pPr>
              <a:defRPr sz="1200" b="1">
                <a:solidFill>
                  <a:srgbClr val="087E95"/>
                </a:solidFill>
              </a:defRPr>
            </a:lvl9pPr>
          </a:lstStyle>
          <a:p xmlns:a="http://schemas.openxmlformats.org/drawingml/2006/main">
            <a:pPr>
              <a:defRPr sz="1200" b="1">
                <a:solidFill>
                  <a:srgbClr val="087E95"/>
                </a:solidFill>
              </a:defRPr>
            </a:pPr>
            <a:r>
              <a:rPr sz="1200" b="1">
                <a:solidFill>
                  <a:srgbClr val="087E95"/>
                </a:solidFill>
              </a:rPr>
              <a:t>SCOPEBOT   /   06</a:t>
            </a:r>
          </a:p>
        </p:txBody>
      </p:sp>
      <p:sp>
        <p:nvSpPr>
          <p:cNvPr id="3" name="">
            <a:extLst xmlns:a="http://schemas.openxmlformats.org/drawingml/2006/main">
              <a:ext uri="{FF2B5EF4-FFF2-40B4-BE49-F238E27FC236}">
                <a16:creationId xmlns:a16="http://schemas.microsoft.com/office/drawing/2014/main" id="{1E1C16AB-01D2-4B29-BB73-7F1B49B7DD5E}"/>
              </a:ext>
            </a:extLst>
          </p:cNvPr>
          <p:cNvSpPr>
            <a:spLocks xmlns:a="http://schemas.openxmlformats.org/drawingml/2006/main" noGrp="1"/>
          </p:cNvSpPr>
          <p:nvPr/>
        </p:nvSpPr>
        <p:spPr>
          <a:xfrm xmlns:a="http://schemas.openxmlformats.org/drawingml/2006/main">
            <a:off x="666750" y="10953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42B42"/>
                </a:solidFill>
              </a:defRPr>
            </a:defPPr>
            <a:lvl1pPr>
              <a:defRPr sz="3000" b="1">
                <a:solidFill>
                  <a:srgbClr val="142B42"/>
                </a:solidFill>
              </a:defRPr>
            </a:lvl1pPr>
            <a:lvl2pPr>
              <a:defRPr sz="3000" b="1">
                <a:solidFill>
                  <a:srgbClr val="142B42"/>
                </a:solidFill>
              </a:defRPr>
            </a:lvl2pPr>
            <a:lvl3pPr>
              <a:defRPr sz="3000" b="1">
                <a:solidFill>
                  <a:srgbClr val="142B42"/>
                </a:solidFill>
              </a:defRPr>
            </a:lvl3pPr>
            <a:lvl4pPr>
              <a:defRPr sz="3000" b="1">
                <a:solidFill>
                  <a:srgbClr val="142B42"/>
                </a:solidFill>
              </a:defRPr>
            </a:lvl4pPr>
            <a:lvl5pPr>
              <a:defRPr sz="3000" b="1">
                <a:solidFill>
                  <a:srgbClr val="142B42"/>
                </a:solidFill>
              </a:defRPr>
            </a:lvl5pPr>
            <a:lvl6pPr>
              <a:defRPr sz="3000" b="1">
                <a:solidFill>
                  <a:srgbClr val="142B42"/>
                </a:solidFill>
              </a:defRPr>
            </a:lvl6pPr>
            <a:lvl7pPr>
              <a:defRPr sz="3000" b="1">
                <a:solidFill>
                  <a:srgbClr val="142B42"/>
                </a:solidFill>
              </a:defRPr>
            </a:lvl7pPr>
            <a:lvl8pPr>
              <a:defRPr sz="3000" b="1">
                <a:solidFill>
                  <a:srgbClr val="142B42"/>
                </a:solidFill>
              </a:defRPr>
            </a:lvl8pPr>
            <a:lvl9pPr>
              <a:defRPr sz="3000" b="1">
                <a:solidFill>
                  <a:srgbClr val="142B42"/>
                </a:solidFill>
              </a:defRPr>
            </a:lvl9pPr>
          </a:lstStyle>
          <a:p xmlns:a="http://schemas.openxmlformats.org/drawingml/2006/main">
            <a:pPr>
              <a:defRPr sz="3000" b="1">
                <a:solidFill>
                  <a:srgbClr val="142B42"/>
                </a:solidFill>
              </a:defRPr>
            </a:pPr>
            <a:r>
              <a:rPr sz="3000" b="1">
                <a:solidFill>
                  <a:srgbClr val="142B42"/>
                </a:solidFill>
              </a:rPr>
              <a:t>RAG: เตรียมความรู้และตอบคำถาม</a:t>
            </a:r>
          </a:p>
        </p:txBody>
      </p:sp>
      <p:sp>
        <p:nvSpPr>
          <p:cNvPr id="4" name="">
            <a:extLst xmlns:a="http://schemas.openxmlformats.org/drawingml/2006/main">
              <a:ext uri="{FF2B5EF4-FFF2-40B4-BE49-F238E27FC236}">
                <a16:creationId xmlns:a16="http://schemas.microsoft.com/office/drawing/2014/main" id="{E54C87FA-FC03-41A2-A9F7-54DF70E576E5}"/>
              </a:ext>
            </a:extLst>
          </p:cNvPr>
          <p:cNvSpPr>
            <a:spLocks xmlns:a="http://schemas.openxmlformats.org/drawingml/2006/main" noGrp="1"/>
          </p:cNvSpPr>
          <p:nvPr/>
        </p:nvSpPr>
        <p:spPr>
          <a:xfrm xmlns:a="http://schemas.openxmlformats.org/drawingml/2006/main">
            <a:off x="714375" y="2238375"/>
            <a:ext cx="619125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94255"/>
                </a:solidFill>
              </a:defRPr>
            </a:defPPr>
            <a:lvl1pPr>
              <a:defRPr sz="1875" b="0">
                <a:solidFill>
                  <a:srgbClr val="294255"/>
                </a:solidFill>
              </a:defRPr>
            </a:lvl1pPr>
            <a:lvl2pPr>
              <a:defRPr sz="1875" b="0">
                <a:solidFill>
                  <a:srgbClr val="294255"/>
                </a:solidFill>
              </a:defRPr>
            </a:lvl2pPr>
            <a:lvl3pPr>
              <a:defRPr sz="1875" b="0">
                <a:solidFill>
                  <a:srgbClr val="294255"/>
                </a:solidFill>
              </a:defRPr>
            </a:lvl3pPr>
            <a:lvl4pPr>
              <a:defRPr sz="1875" b="0">
                <a:solidFill>
                  <a:srgbClr val="294255"/>
                </a:solidFill>
              </a:defRPr>
            </a:lvl4pPr>
            <a:lvl5pPr>
              <a:defRPr sz="1875" b="0">
                <a:solidFill>
                  <a:srgbClr val="294255"/>
                </a:solidFill>
              </a:defRPr>
            </a:lvl5pPr>
            <a:lvl6pPr>
              <a:defRPr sz="1875" b="0">
                <a:solidFill>
                  <a:srgbClr val="294255"/>
                </a:solidFill>
              </a:defRPr>
            </a:lvl6pPr>
            <a:lvl7pPr>
              <a:defRPr sz="1875" b="0">
                <a:solidFill>
                  <a:srgbClr val="294255"/>
                </a:solidFill>
              </a:defRPr>
            </a:lvl7pPr>
            <a:lvl8pPr>
              <a:defRPr sz="1875" b="0">
                <a:solidFill>
                  <a:srgbClr val="294255"/>
                </a:solidFill>
              </a:defRPr>
            </a:lvl8pPr>
            <a:lvl9pPr>
              <a:defRPr sz="1875" b="0">
                <a:solidFill>
                  <a:srgbClr val="294255"/>
                </a:solidFill>
              </a:defRPr>
            </a:lvl9pPr>
          </a:lstStyle>
          <a:p xmlns:a="http://schemas.openxmlformats.org/drawingml/2006/main">
            <a:pPr>
              <a:defRPr sz="1875" b="0">
                <a:solidFill>
                  <a:srgbClr val="294255"/>
                </a:solidFill>
              </a:defRPr>
            </a:pPr>
            <a:r>
              <a:rPr sz="1875" b="0">
                <a:solidFill>
                  <a:srgbClr val="294255"/>
                </a:solidFill>
              </a:rPr>
              <a:t>เตรียมความรู้: อ่านไฟล์และแบ่งข้อความ</a:t>
            </a:r>
          </a:p>
          <a:p xmlns:a="http://schemas.openxmlformats.org/drawingml/2006/main">
            <a:pPr>
              <a:defRPr sz="1875" b="0">
                <a:solidFill>
                  <a:srgbClr val="294255"/>
                </a:solidFill>
              </a:defRPr>
            </a:pPr>
            <a:r>
              <a:rPr sz="1875" b="0">
                <a:solidFill>
                  <a:srgbClr val="294255"/>
                </a:solidFill>
              </a:rPr>
              <a:t>สร้าง embeddings และเก็บดัชนีค้นหา</a:t>
            </a:r>
          </a:p>
          <a:p xmlns:a="http://schemas.openxmlformats.org/drawingml/2006/main">
            <a:pPr>
              <a:defRPr sz="1875" b="0">
                <a:solidFill>
                  <a:srgbClr val="294255"/>
                </a:solidFill>
              </a:defRPr>
            </a:pPr>
            <a:r>
              <a:t>ตอบคำถาม: ค้นข้อความที่เกี่ยวข้อง</a:t>
            </a:r>
          </a:p>
          <a:p xmlns:a="http://schemas.openxmlformats.org/drawingml/2006/main">
            <a:pPr>
              <a:defRPr sz="1875" b="0">
                <a:solidFill>
                  <a:srgbClr val="294255"/>
                </a:solidFill>
              </a:defRPr>
            </a:pPr>
            <a:r>
              <a:rPr sz="1875" b="0">
                <a:solidFill>
                  <a:srgbClr val="294255"/>
                </a:solidFill>
              </a:rPr>
              <a:t>ส่งหลักฐานให้โมเดลสร้างคำตอบ</a:t>
            </a:r>
          </a:p>
        </p:txBody>
      </p:sp>
      <p:sp>
        <p:nvSpPr>
          <p:cNvPr id="5" name="">
            <a:extLst xmlns:a="http://schemas.openxmlformats.org/drawingml/2006/main">
              <a:ext uri="{FF2B5EF4-FFF2-40B4-BE49-F238E27FC236}">
                <a16:creationId xmlns:a16="http://schemas.microsoft.com/office/drawing/2014/main" id="{EA125DA2-C7A2-4A7F-A407-71265420238C}"/>
              </a:ext>
            </a:extLst>
          </p:cNvPr>
          <p:cNvSpPr>
            <a:spLocks xmlns:a="http://schemas.openxmlformats.org/drawingml/2006/main" noGrp="1"/>
          </p:cNvSpPr>
          <p:nvPr/>
        </p:nvSpPr>
        <p:spPr>
          <a:xfrm xmlns:a="http://schemas.openxmlformats.org/drawingml/2006/main">
            <a:off x="7477125" y="2333625"/>
            <a:ext cx="3905250" cy="2381250"/>
          </a:xfrm>
          <a:prstGeom xmlns:a="http://schemas.openxmlformats.org/drawingml/2006/main" prst="rect">
            <a:avLst/>
          </a:prstGeom>
          <a:solidFill xmlns:a="http://schemas.openxmlformats.org/drawingml/2006/main">
            <a:srgbClr val="E7F2F5"/>
          </a:solidFill>
          <a:ln xmlns:a="http://schemas.openxmlformats.org/drawingml/2006/main" w="9525">
            <a:solidFill>
              <a:srgbClr val="B8D5DD"/>
            </a:solidFill>
          </a:ln>
        </p:spPr>
        <p:txBody>
          <a:bodyPr xmlns:a="http://schemas.openxmlformats.org/drawingml/2006/main"/>
          <a:lstStyle xmlns:a="http://schemas.openxmlformats.org/drawingml/2006/main">
            <a:defPPr>
              <a:defRPr sz="1650">
                <a:solidFill>
                  <a:srgbClr val="38616B"/>
                </a:solidFill>
              </a:defRPr>
            </a:defPPr>
            <a:lvl1pPr>
              <a:defRPr sz="1650">
                <a:solidFill>
                  <a:srgbClr val="38616B"/>
                </a:solidFill>
              </a:defRPr>
            </a:lvl1pPr>
            <a:lvl2pPr>
              <a:defRPr sz="1650">
                <a:solidFill>
                  <a:srgbClr val="38616B"/>
                </a:solidFill>
              </a:defRPr>
            </a:lvl2pPr>
            <a:lvl3pPr>
              <a:defRPr sz="1650">
                <a:solidFill>
                  <a:srgbClr val="38616B"/>
                </a:solidFill>
              </a:defRPr>
            </a:lvl3pPr>
            <a:lvl4pPr>
              <a:defRPr sz="1650">
                <a:solidFill>
                  <a:srgbClr val="38616B"/>
                </a:solidFill>
              </a:defRPr>
            </a:lvl4pPr>
            <a:lvl5pPr>
              <a:defRPr sz="1650">
                <a:solidFill>
                  <a:srgbClr val="38616B"/>
                </a:solidFill>
              </a:defRPr>
            </a:lvl5pPr>
            <a:lvl6pPr>
              <a:defRPr sz="1650">
                <a:solidFill>
                  <a:srgbClr val="38616B"/>
                </a:solidFill>
              </a:defRPr>
            </a:lvl6pPr>
            <a:lvl7pPr>
              <a:defRPr sz="1650">
                <a:solidFill>
                  <a:srgbClr val="38616B"/>
                </a:solidFill>
              </a:defRPr>
            </a:lvl7pPr>
            <a:lvl8pPr>
              <a:defRPr sz="1650">
                <a:solidFill>
                  <a:srgbClr val="38616B"/>
                </a:solidFill>
              </a:defRPr>
            </a:lvl8pPr>
            <a:lvl9pPr>
              <a:defRPr sz="1650">
                <a:solidFill>
                  <a:srgbClr val="38616B"/>
                </a:solidFill>
              </a:defRPr>
            </a:lvl9pPr>
          </a:lstStyle>
          <a:p xmlns:a="http://schemas.openxmlformats.org/drawingml/2006/main">
            <a:pPr>
              <a:defRPr sz="1650">
                <a:solidFill>
                  <a:srgbClr val="38616B"/>
                </a:solidFill>
              </a:defRPr>
            </a:pPr>
            <a:r>
              <a:rPr sz="1650">
                <a:solidFill>
                  <a:srgbClr val="38616B"/>
                </a:solidFill>
              </a:rPr>
              <a:t>ภาพที่แนะนำ</a:t>
            </a:r>
          </a:p>
          <a:p xmlns:a="http://schemas.openxmlformats.org/drawingml/2006/main">
            <a:pPr>
              <a:defRPr sz="1650">
                <a:solidFill>
                  <a:srgbClr val="38616B"/>
                </a:solidFill>
              </a:defRPr>
            </a:pPr>
            <a:r>
              <a:t/>
            </a:r>
          </a:p>
          <a:p xmlns:a="http://schemas.openxmlformats.org/drawingml/2006/main">
            <a:pPr>
              <a:defRPr sz="1650">
                <a:solidFill>
                  <a:srgbClr val="38616B"/>
                </a:solidFill>
              </a:defRPr>
            </a:pPr>
            <a:r>
              <a:rPr sz="1650">
                <a:solidFill>
                  <a:srgbClr val="38616B"/>
                </a:solidFill>
              </a:rPr>
              <a:t>แผนภาพ RAG แบ่งสองแถว</a:t>
            </a:r>
          </a:p>
          <a:p xmlns:a="http://schemas.openxmlformats.org/drawingml/2006/main">
            <a:pPr>
              <a:defRPr sz="1650">
                <a:solidFill>
                  <a:srgbClr val="38616B"/>
                </a:solidFill>
              </a:defRPr>
            </a:pPr>
            <a:r>
              <a:rPr sz="1650">
                <a:solidFill>
                  <a:srgbClr val="38616B"/>
                </a:solidFill>
              </a:rPr>
              <a:t>แถวบน: เอกสาร → chunks → embeddings → index</a:t>
            </a:r>
          </a:p>
          <a:p xmlns:a="http://schemas.openxmlformats.org/drawingml/2006/main">
            <a:pPr>
              <a:defRPr sz="1650">
                <a:solidFill>
                  <a:srgbClr val="38616B"/>
                </a:solidFill>
              </a:defRPr>
            </a:pPr>
            <a:r>
              <a:rPr sz="1650">
                <a:solidFill>
                  <a:srgbClr val="38616B"/>
                </a:solidFill>
              </a:rPr>
              <a:t>แถวล่าง: คำถาม → retrieval → context → คำตอบ</a:t>
            </a:r>
          </a:p>
          <a:p xmlns:a="http://schemas.openxmlformats.org/drawingml/2006/main">
            <a:pPr>
              <a:defRPr sz="1650">
                <a:solidFill>
                  <a:srgbClr val="38616B"/>
                </a:solidFill>
              </a:defRPr>
            </a:pPr>
            <a:r>
              <a:rPr sz="1650">
                <a:solidFill>
                  <a:srgbClr val="38616B"/>
                </a:solidFill>
              </a:rPr>
              <a:t>วางด้านขวา ใช้คำสั้นและตัวอักษรใหญ่</a:t>
            </a:r>
          </a:p>
        </p:txBody>
      </p:sp>
    </p:spTree>
    <p:extLst>
      <p:ext uri="{BB962C8B-B14F-4D97-AF65-F5344CB8AC3E}">
        <p14:creationId xmlns:p14="http://schemas.microsoft.com/office/powerpoint/2010/main" val="1592992386"/>
      </p:ext>
    </p:extLst>
  </p:cSld>
</p:sld>
</file>

<file path=ppt/slides/slide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D71CA8B-532F-40AF-8918-6B166F66EB7B}"/>
              </a:ext>
            </a:extLst>
          </p:cNvPr>
          <p:cNvSpPr>
            <a:spLocks xmlns:a="http://schemas.openxmlformats.org/drawingml/2006/main" noGrp="1"/>
          </p:cNvSpPr>
          <p:nvPr/>
        </p:nvSpPr>
        <p:spPr>
          <a:xfrm xmlns:a="http://schemas.openxmlformats.org/drawingml/2006/main">
            <a:off x="666750" y="400050"/>
            <a:ext cx="857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95"/>
                </a:solidFill>
              </a:defRPr>
            </a:defPPr>
            <a:lvl1pPr>
              <a:defRPr sz="1200" b="1">
                <a:solidFill>
                  <a:srgbClr val="087E95"/>
                </a:solidFill>
              </a:defRPr>
            </a:lvl1pPr>
            <a:lvl2pPr>
              <a:defRPr sz="1200" b="1">
                <a:solidFill>
                  <a:srgbClr val="087E95"/>
                </a:solidFill>
              </a:defRPr>
            </a:lvl2pPr>
            <a:lvl3pPr>
              <a:defRPr sz="1200" b="1">
                <a:solidFill>
                  <a:srgbClr val="087E95"/>
                </a:solidFill>
              </a:defRPr>
            </a:lvl3pPr>
            <a:lvl4pPr>
              <a:defRPr sz="1200" b="1">
                <a:solidFill>
                  <a:srgbClr val="087E95"/>
                </a:solidFill>
              </a:defRPr>
            </a:lvl4pPr>
            <a:lvl5pPr>
              <a:defRPr sz="1200" b="1">
                <a:solidFill>
                  <a:srgbClr val="087E95"/>
                </a:solidFill>
              </a:defRPr>
            </a:lvl5pPr>
            <a:lvl6pPr>
              <a:defRPr sz="1200" b="1">
                <a:solidFill>
                  <a:srgbClr val="087E95"/>
                </a:solidFill>
              </a:defRPr>
            </a:lvl6pPr>
            <a:lvl7pPr>
              <a:defRPr sz="1200" b="1">
                <a:solidFill>
                  <a:srgbClr val="087E95"/>
                </a:solidFill>
              </a:defRPr>
            </a:lvl7pPr>
            <a:lvl8pPr>
              <a:defRPr sz="1200" b="1">
                <a:solidFill>
                  <a:srgbClr val="087E95"/>
                </a:solidFill>
              </a:defRPr>
            </a:lvl8pPr>
            <a:lvl9pPr>
              <a:defRPr sz="1200" b="1">
                <a:solidFill>
                  <a:srgbClr val="087E95"/>
                </a:solidFill>
              </a:defRPr>
            </a:lvl9pPr>
          </a:lstStyle>
          <a:p xmlns:a="http://schemas.openxmlformats.org/drawingml/2006/main">
            <a:pPr>
              <a:defRPr sz="1200" b="1">
                <a:solidFill>
                  <a:srgbClr val="087E95"/>
                </a:solidFill>
              </a:defRPr>
            </a:pPr>
            <a:r>
              <a:rPr sz="1200" b="1">
                <a:solidFill>
                  <a:srgbClr val="087E95"/>
                </a:solidFill>
              </a:rPr>
              <a:t>SCOPEBOT   /   07</a:t>
            </a:r>
          </a:p>
        </p:txBody>
      </p:sp>
      <p:sp>
        <p:nvSpPr>
          <p:cNvPr id="3" name="">
            <a:extLst xmlns:a="http://schemas.openxmlformats.org/drawingml/2006/main">
              <a:ext uri="{FF2B5EF4-FFF2-40B4-BE49-F238E27FC236}">
                <a16:creationId xmlns:a16="http://schemas.microsoft.com/office/drawing/2014/main" id="{8ECCD437-59EF-4E8F-ACA2-19D408959C95}"/>
              </a:ext>
            </a:extLst>
          </p:cNvPr>
          <p:cNvSpPr>
            <a:spLocks xmlns:a="http://schemas.openxmlformats.org/drawingml/2006/main" noGrp="1"/>
          </p:cNvSpPr>
          <p:nvPr/>
        </p:nvSpPr>
        <p:spPr>
          <a:xfrm xmlns:a="http://schemas.openxmlformats.org/drawingml/2006/main">
            <a:off x="666750" y="10953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42B42"/>
                </a:solidFill>
              </a:defRPr>
            </a:defPPr>
            <a:lvl1pPr>
              <a:defRPr sz="3000" b="1">
                <a:solidFill>
                  <a:srgbClr val="142B42"/>
                </a:solidFill>
              </a:defRPr>
            </a:lvl1pPr>
            <a:lvl2pPr>
              <a:defRPr sz="3000" b="1">
                <a:solidFill>
                  <a:srgbClr val="142B42"/>
                </a:solidFill>
              </a:defRPr>
            </a:lvl2pPr>
            <a:lvl3pPr>
              <a:defRPr sz="3000" b="1">
                <a:solidFill>
                  <a:srgbClr val="142B42"/>
                </a:solidFill>
              </a:defRPr>
            </a:lvl3pPr>
            <a:lvl4pPr>
              <a:defRPr sz="3000" b="1">
                <a:solidFill>
                  <a:srgbClr val="142B42"/>
                </a:solidFill>
              </a:defRPr>
            </a:lvl4pPr>
            <a:lvl5pPr>
              <a:defRPr sz="3000" b="1">
                <a:solidFill>
                  <a:srgbClr val="142B42"/>
                </a:solidFill>
              </a:defRPr>
            </a:lvl5pPr>
            <a:lvl6pPr>
              <a:defRPr sz="3000" b="1">
                <a:solidFill>
                  <a:srgbClr val="142B42"/>
                </a:solidFill>
              </a:defRPr>
            </a:lvl6pPr>
            <a:lvl7pPr>
              <a:defRPr sz="3000" b="1">
                <a:solidFill>
                  <a:srgbClr val="142B42"/>
                </a:solidFill>
              </a:defRPr>
            </a:lvl7pPr>
            <a:lvl8pPr>
              <a:defRPr sz="3000" b="1">
                <a:solidFill>
                  <a:srgbClr val="142B42"/>
                </a:solidFill>
              </a:defRPr>
            </a:lvl8pPr>
            <a:lvl9pPr>
              <a:defRPr sz="3000" b="1">
                <a:solidFill>
                  <a:srgbClr val="142B42"/>
                </a:solidFill>
              </a:defRPr>
            </a:lvl9pPr>
          </a:lstStyle>
          <a:p xmlns:a="http://schemas.openxmlformats.org/drawingml/2006/main">
            <a:pPr>
              <a:defRPr sz="3000" b="1">
                <a:solidFill>
                  <a:srgbClr val="142B42"/>
                </a:solidFill>
              </a:defRPr>
            </a:pPr>
            <a:r>
              <a:rPr sz="3000" b="1">
                <a:solidFill>
                  <a:srgbClr val="142B42"/>
                </a:solidFill>
              </a:rPr>
              <a:t>ข้อมูลและการควบคุมสิทธิ์</a:t>
            </a:r>
          </a:p>
        </p:txBody>
      </p:sp>
      <p:sp>
        <p:nvSpPr>
          <p:cNvPr id="4" name="">
            <a:extLst xmlns:a="http://schemas.openxmlformats.org/drawingml/2006/main">
              <a:ext uri="{FF2B5EF4-FFF2-40B4-BE49-F238E27FC236}">
                <a16:creationId xmlns:a16="http://schemas.microsoft.com/office/drawing/2014/main" id="{368CF4DA-7019-478B-832A-E877FCA11ACC}"/>
              </a:ext>
            </a:extLst>
          </p:cNvPr>
          <p:cNvSpPr>
            <a:spLocks xmlns:a="http://schemas.openxmlformats.org/drawingml/2006/main" noGrp="1"/>
          </p:cNvSpPr>
          <p:nvPr/>
        </p:nvSpPr>
        <p:spPr>
          <a:xfrm xmlns:a="http://schemas.openxmlformats.org/drawingml/2006/main">
            <a:off x="714375" y="2238375"/>
            <a:ext cx="619125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94255"/>
                </a:solidFill>
              </a:defRPr>
            </a:defPPr>
            <a:lvl1pPr>
              <a:defRPr sz="1875" b="0">
                <a:solidFill>
                  <a:srgbClr val="294255"/>
                </a:solidFill>
              </a:defRPr>
            </a:lvl1pPr>
            <a:lvl2pPr>
              <a:defRPr sz="1875" b="0">
                <a:solidFill>
                  <a:srgbClr val="294255"/>
                </a:solidFill>
              </a:defRPr>
            </a:lvl2pPr>
            <a:lvl3pPr>
              <a:defRPr sz="1875" b="0">
                <a:solidFill>
                  <a:srgbClr val="294255"/>
                </a:solidFill>
              </a:defRPr>
            </a:lvl3pPr>
            <a:lvl4pPr>
              <a:defRPr sz="1875" b="0">
                <a:solidFill>
                  <a:srgbClr val="294255"/>
                </a:solidFill>
              </a:defRPr>
            </a:lvl4pPr>
            <a:lvl5pPr>
              <a:defRPr sz="1875" b="0">
                <a:solidFill>
                  <a:srgbClr val="294255"/>
                </a:solidFill>
              </a:defRPr>
            </a:lvl5pPr>
            <a:lvl6pPr>
              <a:defRPr sz="1875" b="0">
                <a:solidFill>
                  <a:srgbClr val="294255"/>
                </a:solidFill>
              </a:defRPr>
            </a:lvl6pPr>
            <a:lvl7pPr>
              <a:defRPr sz="1875" b="0">
                <a:solidFill>
                  <a:srgbClr val="294255"/>
                </a:solidFill>
              </a:defRPr>
            </a:lvl7pPr>
            <a:lvl8pPr>
              <a:defRPr sz="1875" b="0">
                <a:solidFill>
                  <a:srgbClr val="294255"/>
                </a:solidFill>
              </a:defRPr>
            </a:lvl8pPr>
            <a:lvl9pPr>
              <a:defRPr sz="1875" b="0">
                <a:solidFill>
                  <a:srgbClr val="294255"/>
                </a:solidFill>
              </a:defRPr>
            </a:lvl9pPr>
          </a:lstStyle>
          <a:p xmlns:a="http://schemas.openxmlformats.org/drawingml/2006/main">
            <a:pPr>
              <a:defRPr sz="1875" b="0">
                <a:solidFill>
                  <a:srgbClr val="294255"/>
                </a:solidFill>
              </a:defRPr>
            </a:pPr>
            <a:r>
              <a:rPr sz="1875" b="0">
                <a:solidFill>
                  <a:srgbClr val="294255"/>
                </a:solidFill>
              </a:rPr>
              <a:t>PostgreSQL: บัญชี บอท และประวัติ</a:t>
            </a:r>
          </a:p>
          <a:p xmlns:a="http://schemas.openxmlformats.org/drawingml/2006/main">
            <a:pPr>
              <a:defRPr sz="1875" b="0">
                <a:solidFill>
                  <a:srgbClr val="294255"/>
                </a:solidFill>
              </a:defRPr>
            </a:pPr>
            <a:r>
              <a:t>ChromaDB: ข้อความย่อยและ embeddings</a:t>
            </a:r>
          </a:p>
          <a:p xmlns:a="http://schemas.openxmlformats.org/drawingml/2006/main">
            <a:pPr>
              <a:defRPr sz="1875" b="0">
                <a:solidFill>
                  <a:srgbClr val="294255"/>
                </a:solidFill>
              </a:defRPr>
            </a:pPr>
            <a:r>
              <a:rPr sz="1875" b="0">
                <a:solidFill>
                  <a:srgbClr val="294255"/>
                </a:solidFill>
              </a:rPr>
              <a:t>Storage: เอกสารต้นฉบับ</a:t>
            </a:r>
          </a:p>
          <a:p xmlns:a="http://schemas.openxmlformats.org/drawingml/2006/main">
            <a:pPr>
              <a:defRPr sz="1875" b="0">
                <a:solidFill>
                  <a:srgbClr val="294255"/>
                </a:solidFill>
              </a:defRPr>
            </a:pPr>
            <a:r>
              <a:t>ตรวจตัวตน บทบาท และเจ้าของบอท</a:t>
            </a:r>
          </a:p>
        </p:txBody>
      </p:sp>
      <p:sp>
        <p:nvSpPr>
          <p:cNvPr id="5" name="">
            <a:extLst xmlns:a="http://schemas.openxmlformats.org/drawingml/2006/main">
              <a:ext uri="{FF2B5EF4-FFF2-40B4-BE49-F238E27FC236}">
                <a16:creationId xmlns:a16="http://schemas.microsoft.com/office/drawing/2014/main" id="{67DF5890-791C-4B7A-9D21-711B84CEEA0D}"/>
              </a:ext>
            </a:extLst>
          </p:cNvPr>
          <p:cNvSpPr>
            <a:spLocks xmlns:a="http://schemas.openxmlformats.org/drawingml/2006/main" noGrp="1"/>
          </p:cNvSpPr>
          <p:nvPr/>
        </p:nvSpPr>
        <p:spPr>
          <a:xfrm xmlns:a="http://schemas.openxmlformats.org/drawingml/2006/main">
            <a:off x="7477125" y="2333625"/>
            <a:ext cx="3905250" cy="2381250"/>
          </a:xfrm>
          <a:prstGeom xmlns:a="http://schemas.openxmlformats.org/drawingml/2006/main" prst="rect">
            <a:avLst/>
          </a:prstGeom>
          <a:solidFill xmlns:a="http://schemas.openxmlformats.org/drawingml/2006/main">
            <a:srgbClr val="E7F2F5"/>
          </a:solidFill>
          <a:ln xmlns:a="http://schemas.openxmlformats.org/drawingml/2006/main" w="9525">
            <a:solidFill>
              <a:srgbClr val="B8D5DD"/>
            </a:solidFill>
          </a:ln>
        </p:spPr>
        <p:txBody>
          <a:bodyPr xmlns:a="http://schemas.openxmlformats.org/drawingml/2006/main"/>
          <a:lstStyle xmlns:a="http://schemas.openxmlformats.org/drawingml/2006/main">
            <a:defPPr>
              <a:defRPr sz="1650">
                <a:solidFill>
                  <a:srgbClr val="38616B"/>
                </a:solidFill>
              </a:defRPr>
            </a:defPPr>
            <a:lvl1pPr>
              <a:defRPr sz="1650">
                <a:solidFill>
                  <a:srgbClr val="38616B"/>
                </a:solidFill>
              </a:defRPr>
            </a:lvl1pPr>
            <a:lvl2pPr>
              <a:defRPr sz="1650">
                <a:solidFill>
                  <a:srgbClr val="38616B"/>
                </a:solidFill>
              </a:defRPr>
            </a:lvl2pPr>
            <a:lvl3pPr>
              <a:defRPr sz="1650">
                <a:solidFill>
                  <a:srgbClr val="38616B"/>
                </a:solidFill>
              </a:defRPr>
            </a:lvl3pPr>
            <a:lvl4pPr>
              <a:defRPr sz="1650">
                <a:solidFill>
                  <a:srgbClr val="38616B"/>
                </a:solidFill>
              </a:defRPr>
            </a:lvl4pPr>
            <a:lvl5pPr>
              <a:defRPr sz="1650">
                <a:solidFill>
                  <a:srgbClr val="38616B"/>
                </a:solidFill>
              </a:defRPr>
            </a:lvl5pPr>
            <a:lvl6pPr>
              <a:defRPr sz="1650">
                <a:solidFill>
                  <a:srgbClr val="38616B"/>
                </a:solidFill>
              </a:defRPr>
            </a:lvl6pPr>
            <a:lvl7pPr>
              <a:defRPr sz="1650">
                <a:solidFill>
                  <a:srgbClr val="38616B"/>
                </a:solidFill>
              </a:defRPr>
            </a:lvl7pPr>
            <a:lvl8pPr>
              <a:defRPr sz="1650">
                <a:solidFill>
                  <a:srgbClr val="38616B"/>
                </a:solidFill>
              </a:defRPr>
            </a:lvl8pPr>
            <a:lvl9pPr>
              <a:defRPr sz="1650">
                <a:solidFill>
                  <a:srgbClr val="38616B"/>
                </a:solidFill>
              </a:defRPr>
            </a:lvl9pPr>
          </a:lstStyle>
          <a:p xmlns:a="http://schemas.openxmlformats.org/drawingml/2006/main">
            <a:pPr>
              <a:defRPr sz="1650">
                <a:solidFill>
                  <a:srgbClr val="38616B"/>
                </a:solidFill>
              </a:defRPr>
            </a:pPr>
            <a:r>
              <a:rPr sz="1650">
                <a:solidFill>
                  <a:srgbClr val="38616B"/>
                </a:solidFill>
              </a:rPr>
              <a:t>ภาพที่แนะนำ</a:t>
            </a:r>
          </a:p>
          <a:p xmlns:a="http://schemas.openxmlformats.org/drawingml/2006/main">
            <a:pPr>
              <a:defRPr sz="1650">
                <a:solidFill>
                  <a:srgbClr val="38616B"/>
                </a:solidFill>
              </a:defRPr>
            </a:pPr>
            <a:r>
              <a:t/>
            </a:r>
          </a:p>
          <a:p xmlns:a="http://schemas.openxmlformats.org/drawingml/2006/main">
            <a:pPr>
              <a:defRPr sz="1650">
                <a:solidFill>
                  <a:srgbClr val="38616B"/>
                </a:solidFill>
              </a:defRPr>
            </a:pPr>
            <a:r>
              <a:rPr sz="1650">
                <a:solidFill>
                  <a:srgbClr val="38616B"/>
                </a:solidFill>
              </a:rPr>
              <a:t>แผนผังข้อมูล 3 ส่วน</a:t>
            </a:r>
          </a:p>
          <a:p xmlns:a="http://schemas.openxmlformats.org/drawingml/2006/main">
            <a:pPr>
              <a:defRPr sz="1650">
                <a:solidFill>
                  <a:srgbClr val="38616B"/>
                </a:solidFill>
              </a:defRPr>
            </a:pPr>
            <a:r>
              <a:rPr sz="1650">
                <a:solidFill>
                  <a:srgbClr val="38616B"/>
                </a:solidFill>
              </a:rPr>
              <a:t>PostgreSQL / ChromaDB / Document Storage</a:t>
            </a:r>
          </a:p>
          <a:p xmlns:a="http://schemas.openxmlformats.org/drawingml/2006/main">
            <a:pPr>
              <a:defRPr sz="1650">
                <a:solidFill>
                  <a:srgbClr val="38616B"/>
                </a:solidFill>
              </a:defRPr>
            </a:pPr>
            <a:r>
              <a:rPr sz="1650">
                <a:solidFill>
                  <a:srgbClr val="38616B"/>
                </a:solidFill>
              </a:rPr>
              <a:t>หรือ ER ย่อเฉพาะ users, bots, conversations</a:t>
            </a:r>
          </a:p>
          <a:p xmlns:a="http://schemas.openxmlformats.org/drawingml/2006/main">
            <a:pPr>
              <a:defRPr sz="1650">
                <a:solidFill>
                  <a:srgbClr val="38616B"/>
                </a:solidFill>
              </a:defRPr>
            </a:pPr>
            <a:r>
              <a:rPr sz="1650">
                <a:solidFill>
                  <a:srgbClr val="38616B"/>
                </a:solidFill>
              </a:rPr>
              <a:t>วางด้านขวา หลีกเลี่ยง ER ทั้งระบบ</a:t>
            </a:r>
          </a:p>
        </p:txBody>
      </p:sp>
    </p:spTree>
    <p:extLst>
      <p:ext uri="{BB962C8B-B14F-4D97-AF65-F5344CB8AC3E}">
        <p14:creationId xmlns:p14="http://schemas.microsoft.com/office/powerpoint/2010/main" val="999602554"/>
      </p:ext>
    </p:extLst>
  </p:cSld>
</p:sld>
</file>

<file path=ppt/slides/slide8.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8BF6C31-E08D-42BF-84C5-C81FAE8DA9BC}"/>
              </a:ext>
            </a:extLst>
          </p:cNvPr>
          <p:cNvSpPr>
            <a:spLocks xmlns:a="http://schemas.openxmlformats.org/drawingml/2006/main" noGrp="1"/>
          </p:cNvSpPr>
          <p:nvPr/>
        </p:nvSpPr>
        <p:spPr>
          <a:xfrm xmlns:a="http://schemas.openxmlformats.org/drawingml/2006/main">
            <a:off x="666750" y="400050"/>
            <a:ext cx="857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95"/>
                </a:solidFill>
              </a:defRPr>
            </a:defPPr>
            <a:lvl1pPr>
              <a:defRPr sz="1200" b="1">
                <a:solidFill>
                  <a:srgbClr val="087E95"/>
                </a:solidFill>
              </a:defRPr>
            </a:lvl1pPr>
            <a:lvl2pPr>
              <a:defRPr sz="1200" b="1">
                <a:solidFill>
                  <a:srgbClr val="087E95"/>
                </a:solidFill>
              </a:defRPr>
            </a:lvl2pPr>
            <a:lvl3pPr>
              <a:defRPr sz="1200" b="1">
                <a:solidFill>
                  <a:srgbClr val="087E95"/>
                </a:solidFill>
              </a:defRPr>
            </a:lvl3pPr>
            <a:lvl4pPr>
              <a:defRPr sz="1200" b="1">
                <a:solidFill>
                  <a:srgbClr val="087E95"/>
                </a:solidFill>
              </a:defRPr>
            </a:lvl4pPr>
            <a:lvl5pPr>
              <a:defRPr sz="1200" b="1">
                <a:solidFill>
                  <a:srgbClr val="087E95"/>
                </a:solidFill>
              </a:defRPr>
            </a:lvl5pPr>
            <a:lvl6pPr>
              <a:defRPr sz="1200" b="1">
                <a:solidFill>
                  <a:srgbClr val="087E95"/>
                </a:solidFill>
              </a:defRPr>
            </a:lvl6pPr>
            <a:lvl7pPr>
              <a:defRPr sz="1200" b="1">
                <a:solidFill>
                  <a:srgbClr val="087E95"/>
                </a:solidFill>
              </a:defRPr>
            </a:lvl7pPr>
            <a:lvl8pPr>
              <a:defRPr sz="1200" b="1">
                <a:solidFill>
                  <a:srgbClr val="087E95"/>
                </a:solidFill>
              </a:defRPr>
            </a:lvl8pPr>
            <a:lvl9pPr>
              <a:defRPr sz="1200" b="1">
                <a:solidFill>
                  <a:srgbClr val="087E95"/>
                </a:solidFill>
              </a:defRPr>
            </a:lvl9pPr>
          </a:lstStyle>
          <a:p xmlns:a="http://schemas.openxmlformats.org/drawingml/2006/main">
            <a:pPr>
              <a:defRPr sz="1200" b="1">
                <a:solidFill>
                  <a:srgbClr val="087E95"/>
                </a:solidFill>
              </a:defRPr>
            </a:pPr>
            <a:r>
              <a:rPr sz="1200" b="1">
                <a:solidFill>
                  <a:srgbClr val="087E95"/>
                </a:solidFill>
              </a:rPr>
              <a:t>SCOPEBOT   /   08</a:t>
            </a:r>
          </a:p>
        </p:txBody>
      </p:sp>
      <p:sp>
        <p:nvSpPr>
          <p:cNvPr id="3" name="">
            <a:extLst xmlns:a="http://schemas.openxmlformats.org/drawingml/2006/main">
              <a:ext uri="{FF2B5EF4-FFF2-40B4-BE49-F238E27FC236}">
                <a16:creationId xmlns:a16="http://schemas.microsoft.com/office/drawing/2014/main" id="{57B796FA-B99D-4D83-B652-DBA3CF7CBB76}"/>
              </a:ext>
            </a:extLst>
          </p:cNvPr>
          <p:cNvSpPr>
            <a:spLocks xmlns:a="http://schemas.openxmlformats.org/drawingml/2006/main" noGrp="1"/>
          </p:cNvSpPr>
          <p:nvPr/>
        </p:nvSpPr>
        <p:spPr>
          <a:xfrm xmlns:a="http://schemas.openxmlformats.org/drawingml/2006/main">
            <a:off x="666750" y="10953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42B42"/>
                </a:solidFill>
              </a:defRPr>
            </a:defPPr>
            <a:lvl1pPr>
              <a:defRPr sz="3000" b="1">
                <a:solidFill>
                  <a:srgbClr val="142B42"/>
                </a:solidFill>
              </a:defRPr>
            </a:lvl1pPr>
            <a:lvl2pPr>
              <a:defRPr sz="3000" b="1">
                <a:solidFill>
                  <a:srgbClr val="142B42"/>
                </a:solidFill>
              </a:defRPr>
            </a:lvl2pPr>
            <a:lvl3pPr>
              <a:defRPr sz="3000" b="1">
                <a:solidFill>
                  <a:srgbClr val="142B42"/>
                </a:solidFill>
              </a:defRPr>
            </a:lvl3pPr>
            <a:lvl4pPr>
              <a:defRPr sz="3000" b="1">
                <a:solidFill>
                  <a:srgbClr val="142B42"/>
                </a:solidFill>
              </a:defRPr>
            </a:lvl4pPr>
            <a:lvl5pPr>
              <a:defRPr sz="3000" b="1">
                <a:solidFill>
                  <a:srgbClr val="142B42"/>
                </a:solidFill>
              </a:defRPr>
            </a:lvl5pPr>
            <a:lvl6pPr>
              <a:defRPr sz="3000" b="1">
                <a:solidFill>
                  <a:srgbClr val="142B42"/>
                </a:solidFill>
              </a:defRPr>
            </a:lvl6pPr>
            <a:lvl7pPr>
              <a:defRPr sz="3000" b="1">
                <a:solidFill>
                  <a:srgbClr val="142B42"/>
                </a:solidFill>
              </a:defRPr>
            </a:lvl7pPr>
            <a:lvl8pPr>
              <a:defRPr sz="3000" b="1">
                <a:solidFill>
                  <a:srgbClr val="142B42"/>
                </a:solidFill>
              </a:defRPr>
            </a:lvl8pPr>
            <a:lvl9pPr>
              <a:defRPr sz="3000" b="1">
                <a:solidFill>
                  <a:srgbClr val="142B42"/>
                </a:solidFill>
              </a:defRPr>
            </a:lvl9pPr>
          </a:lstStyle>
          <a:p xmlns:a="http://schemas.openxmlformats.org/drawingml/2006/main">
            <a:pPr>
              <a:defRPr sz="3000" b="1">
                <a:solidFill>
                  <a:srgbClr val="142B42"/>
                </a:solidFill>
              </a:defRPr>
            </a:pPr>
            <a:r>
              <a:rPr sz="3000" b="1">
                <a:solidFill>
                  <a:srgbClr val="142B42"/>
                </a:solidFill>
              </a:rPr>
              <a:t>การส่งต่อให้เจ้าหน้าที่</a:t>
            </a:r>
          </a:p>
        </p:txBody>
      </p:sp>
      <p:sp>
        <p:nvSpPr>
          <p:cNvPr id="4" name="">
            <a:extLst xmlns:a="http://schemas.openxmlformats.org/drawingml/2006/main">
              <a:ext uri="{FF2B5EF4-FFF2-40B4-BE49-F238E27FC236}">
                <a16:creationId xmlns:a16="http://schemas.microsoft.com/office/drawing/2014/main" id="{F9500D86-0F83-4CDA-89DC-DC2DCDC8221D}"/>
              </a:ext>
            </a:extLst>
          </p:cNvPr>
          <p:cNvSpPr>
            <a:spLocks xmlns:a="http://schemas.openxmlformats.org/drawingml/2006/main" noGrp="1"/>
          </p:cNvSpPr>
          <p:nvPr/>
        </p:nvSpPr>
        <p:spPr>
          <a:xfrm xmlns:a="http://schemas.openxmlformats.org/drawingml/2006/main">
            <a:off x="714375" y="2238375"/>
            <a:ext cx="619125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94255"/>
                </a:solidFill>
              </a:defRPr>
            </a:defPPr>
            <a:lvl1pPr>
              <a:defRPr sz="1875" b="0">
                <a:solidFill>
                  <a:srgbClr val="294255"/>
                </a:solidFill>
              </a:defRPr>
            </a:lvl1pPr>
            <a:lvl2pPr>
              <a:defRPr sz="1875" b="0">
                <a:solidFill>
                  <a:srgbClr val="294255"/>
                </a:solidFill>
              </a:defRPr>
            </a:lvl2pPr>
            <a:lvl3pPr>
              <a:defRPr sz="1875" b="0">
                <a:solidFill>
                  <a:srgbClr val="294255"/>
                </a:solidFill>
              </a:defRPr>
            </a:lvl3pPr>
            <a:lvl4pPr>
              <a:defRPr sz="1875" b="0">
                <a:solidFill>
                  <a:srgbClr val="294255"/>
                </a:solidFill>
              </a:defRPr>
            </a:lvl4pPr>
            <a:lvl5pPr>
              <a:defRPr sz="1875" b="0">
                <a:solidFill>
                  <a:srgbClr val="294255"/>
                </a:solidFill>
              </a:defRPr>
            </a:lvl5pPr>
            <a:lvl6pPr>
              <a:defRPr sz="1875" b="0">
                <a:solidFill>
                  <a:srgbClr val="294255"/>
                </a:solidFill>
              </a:defRPr>
            </a:lvl6pPr>
            <a:lvl7pPr>
              <a:defRPr sz="1875" b="0">
                <a:solidFill>
                  <a:srgbClr val="294255"/>
                </a:solidFill>
              </a:defRPr>
            </a:lvl7pPr>
            <a:lvl8pPr>
              <a:defRPr sz="1875" b="0">
                <a:solidFill>
                  <a:srgbClr val="294255"/>
                </a:solidFill>
              </a:defRPr>
            </a:lvl8pPr>
            <a:lvl9pPr>
              <a:defRPr sz="1875" b="0">
                <a:solidFill>
                  <a:srgbClr val="294255"/>
                </a:solidFill>
              </a:defRPr>
            </a:lvl9pPr>
          </a:lstStyle>
          <a:p xmlns:a="http://schemas.openxmlformats.org/drawingml/2006/main">
            <a:pPr>
              <a:defRPr sz="1875" b="0">
                <a:solidFill>
                  <a:srgbClr val="294255"/>
                </a:solidFill>
              </a:defRPr>
            </a:pPr>
            <a:r>
              <a:rPr sz="1875" b="0">
                <a:solidFill>
                  <a:srgbClr val="294255"/>
                </a:solidFill>
              </a:rPr>
              <a:t>Web: ผู้ใช้เลือกติดต่อเจ้าหน้าที่</a:t>
            </a:r>
          </a:p>
          <a:p xmlns:a="http://schemas.openxmlformats.org/drawingml/2006/main">
            <a:pPr>
              <a:defRPr sz="1875" b="0">
                <a:solidFill>
                  <a:srgbClr val="294255"/>
                </a:solidFill>
              </a:defRPr>
            </a:pPr>
            <a:r>
              <a:t>LINE: รองรับการเข้าคิวอัตโนมัติ</a:t>
            </a:r>
          </a:p>
          <a:p xmlns:a="http://schemas.openxmlformats.org/drawingml/2006/main">
            <a:pPr>
              <a:defRPr sz="1875" b="0">
                <a:solidFill>
                  <a:srgbClr val="294255"/>
                </a:solidFill>
              </a:defRPr>
            </a:pPr>
            <a:r>
              <a:rPr sz="1875" b="0">
                <a:solidFill>
                  <a:srgbClr val="294255"/>
                </a:solidFill>
              </a:rPr>
              <a:t>สถานะหลัก: bot / waiting / human</a:t>
            </a:r>
          </a:p>
          <a:p xmlns:a="http://schemas.openxmlformats.org/drawingml/2006/main">
            <a:pPr>
              <a:defRPr sz="1875" b="0">
                <a:solidFill>
                  <a:srgbClr val="294255"/>
                </a:solidFill>
              </a:defRPr>
            </a:pPr>
            <a:r>
              <a:t>เจ้าของบอทรับช่วงตอบและจบงาน</a:t>
            </a:r>
          </a:p>
        </p:txBody>
      </p:sp>
      <p:sp>
        <p:nvSpPr>
          <p:cNvPr id="5" name="">
            <a:extLst xmlns:a="http://schemas.openxmlformats.org/drawingml/2006/main">
              <a:ext uri="{FF2B5EF4-FFF2-40B4-BE49-F238E27FC236}">
                <a16:creationId xmlns:a16="http://schemas.microsoft.com/office/drawing/2014/main" id="{AC19CEAF-5E39-4B51-9E2B-4CD38A5FCC18}"/>
              </a:ext>
            </a:extLst>
          </p:cNvPr>
          <p:cNvSpPr>
            <a:spLocks xmlns:a="http://schemas.openxmlformats.org/drawingml/2006/main" noGrp="1"/>
          </p:cNvSpPr>
          <p:nvPr/>
        </p:nvSpPr>
        <p:spPr>
          <a:xfrm xmlns:a="http://schemas.openxmlformats.org/drawingml/2006/main">
            <a:off x="7477125" y="2333625"/>
            <a:ext cx="3905250" cy="2381250"/>
          </a:xfrm>
          <a:prstGeom xmlns:a="http://schemas.openxmlformats.org/drawingml/2006/main" prst="rect">
            <a:avLst/>
          </a:prstGeom>
          <a:solidFill xmlns:a="http://schemas.openxmlformats.org/drawingml/2006/main">
            <a:srgbClr val="E7F2F5"/>
          </a:solidFill>
          <a:ln xmlns:a="http://schemas.openxmlformats.org/drawingml/2006/main" w="9525">
            <a:solidFill>
              <a:srgbClr val="B8D5DD"/>
            </a:solidFill>
          </a:ln>
        </p:spPr>
        <p:txBody>
          <a:bodyPr xmlns:a="http://schemas.openxmlformats.org/drawingml/2006/main"/>
          <a:lstStyle xmlns:a="http://schemas.openxmlformats.org/drawingml/2006/main">
            <a:defPPr>
              <a:defRPr sz="1650">
                <a:solidFill>
                  <a:srgbClr val="38616B"/>
                </a:solidFill>
              </a:defRPr>
            </a:defPPr>
            <a:lvl1pPr>
              <a:defRPr sz="1650">
                <a:solidFill>
                  <a:srgbClr val="38616B"/>
                </a:solidFill>
              </a:defRPr>
            </a:lvl1pPr>
            <a:lvl2pPr>
              <a:defRPr sz="1650">
                <a:solidFill>
                  <a:srgbClr val="38616B"/>
                </a:solidFill>
              </a:defRPr>
            </a:lvl2pPr>
            <a:lvl3pPr>
              <a:defRPr sz="1650">
                <a:solidFill>
                  <a:srgbClr val="38616B"/>
                </a:solidFill>
              </a:defRPr>
            </a:lvl3pPr>
            <a:lvl4pPr>
              <a:defRPr sz="1650">
                <a:solidFill>
                  <a:srgbClr val="38616B"/>
                </a:solidFill>
              </a:defRPr>
            </a:lvl4pPr>
            <a:lvl5pPr>
              <a:defRPr sz="1650">
                <a:solidFill>
                  <a:srgbClr val="38616B"/>
                </a:solidFill>
              </a:defRPr>
            </a:lvl5pPr>
            <a:lvl6pPr>
              <a:defRPr sz="1650">
                <a:solidFill>
                  <a:srgbClr val="38616B"/>
                </a:solidFill>
              </a:defRPr>
            </a:lvl6pPr>
            <a:lvl7pPr>
              <a:defRPr sz="1650">
                <a:solidFill>
                  <a:srgbClr val="38616B"/>
                </a:solidFill>
              </a:defRPr>
            </a:lvl7pPr>
            <a:lvl8pPr>
              <a:defRPr sz="1650">
                <a:solidFill>
                  <a:srgbClr val="38616B"/>
                </a:solidFill>
              </a:defRPr>
            </a:lvl8pPr>
            <a:lvl9pPr>
              <a:defRPr sz="1650">
                <a:solidFill>
                  <a:srgbClr val="38616B"/>
                </a:solidFill>
              </a:defRPr>
            </a:lvl9pPr>
          </a:lstStyle>
          <a:p xmlns:a="http://schemas.openxmlformats.org/drawingml/2006/main">
            <a:pPr>
              <a:defRPr sz="1650">
                <a:solidFill>
                  <a:srgbClr val="38616B"/>
                </a:solidFill>
              </a:defRPr>
            </a:pPr>
            <a:r>
              <a:rPr sz="1650">
                <a:solidFill>
                  <a:srgbClr val="38616B"/>
                </a:solidFill>
              </a:rPr>
              <a:t>ภาพที่แนะนำ</a:t>
            </a:r>
          </a:p>
          <a:p xmlns:a="http://schemas.openxmlformats.org/drawingml/2006/main">
            <a:pPr>
              <a:defRPr sz="1650">
                <a:solidFill>
                  <a:srgbClr val="38616B"/>
                </a:solidFill>
              </a:defRPr>
            </a:pPr>
            <a:r>
              <a:t/>
            </a:r>
          </a:p>
          <a:p xmlns:a="http://schemas.openxmlformats.org/drawingml/2006/main">
            <a:pPr>
              <a:defRPr sz="1650">
                <a:solidFill>
                  <a:srgbClr val="38616B"/>
                </a:solidFill>
              </a:defRPr>
            </a:pPr>
            <a:r>
              <a:rPr sz="1650">
                <a:solidFill>
                  <a:srgbClr val="38616B"/>
                </a:solidFill>
              </a:rPr>
              <a:t>ภาพหน้าจอแชทรวมของเจ้าของบอท</a:t>
            </a:r>
          </a:p>
          <a:p xmlns:a="http://schemas.openxmlformats.org/drawingml/2006/main">
            <a:pPr>
              <a:defRPr sz="1650">
                <a:solidFill>
                  <a:srgbClr val="38616B"/>
                </a:solidFill>
              </a:defRPr>
            </a:pPr>
            <a:r>
              <a:rPr sz="1650">
                <a:solidFill>
                  <a:srgbClr val="38616B"/>
                </a:solidFill>
              </a:rPr>
              <a:t>วางด้านขวา ให้เห็นคิวและปุ่มตอบ</a:t>
            </a:r>
          </a:p>
          <a:p xmlns:a="http://schemas.openxmlformats.org/drawingml/2006/main">
            <a:pPr>
              <a:defRPr sz="1650">
                <a:solidFill>
                  <a:srgbClr val="38616B"/>
                </a:solidFill>
              </a:defRPr>
            </a:pPr>
            <a:r>
              <a:rPr sz="1650">
                <a:solidFill>
                  <a:srgbClr val="38616B"/>
                </a:solidFill>
              </a:rPr>
              <a:t>ปิดชื่อบุคคลและข้อความส่วนตัวก่อนใช้</a:t>
            </a:r>
          </a:p>
        </p:txBody>
      </p:sp>
    </p:spTree>
    <p:extLst>
      <p:ext uri="{BB962C8B-B14F-4D97-AF65-F5344CB8AC3E}">
        <p14:creationId xmlns:p14="http://schemas.microsoft.com/office/powerpoint/2010/main" val="396712421"/>
      </p:ext>
    </p:extLst>
  </p:cSld>
</p:sld>
</file>

<file path=ppt/slides/slide9.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A646781-482A-4426-9CBA-8D82EF1E9AD6}"/>
              </a:ext>
            </a:extLst>
          </p:cNvPr>
          <p:cNvSpPr>
            <a:spLocks xmlns:a="http://schemas.openxmlformats.org/drawingml/2006/main" noGrp="1"/>
          </p:cNvSpPr>
          <p:nvPr/>
        </p:nvSpPr>
        <p:spPr>
          <a:xfrm xmlns:a="http://schemas.openxmlformats.org/drawingml/2006/main">
            <a:off x="666750" y="400050"/>
            <a:ext cx="857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95"/>
                </a:solidFill>
              </a:defRPr>
            </a:defPPr>
            <a:lvl1pPr>
              <a:defRPr sz="1200" b="1">
                <a:solidFill>
                  <a:srgbClr val="087E95"/>
                </a:solidFill>
              </a:defRPr>
            </a:lvl1pPr>
            <a:lvl2pPr>
              <a:defRPr sz="1200" b="1">
                <a:solidFill>
                  <a:srgbClr val="087E95"/>
                </a:solidFill>
              </a:defRPr>
            </a:lvl2pPr>
            <a:lvl3pPr>
              <a:defRPr sz="1200" b="1">
                <a:solidFill>
                  <a:srgbClr val="087E95"/>
                </a:solidFill>
              </a:defRPr>
            </a:lvl3pPr>
            <a:lvl4pPr>
              <a:defRPr sz="1200" b="1">
                <a:solidFill>
                  <a:srgbClr val="087E95"/>
                </a:solidFill>
              </a:defRPr>
            </a:lvl4pPr>
            <a:lvl5pPr>
              <a:defRPr sz="1200" b="1">
                <a:solidFill>
                  <a:srgbClr val="087E95"/>
                </a:solidFill>
              </a:defRPr>
            </a:lvl5pPr>
            <a:lvl6pPr>
              <a:defRPr sz="1200" b="1">
                <a:solidFill>
                  <a:srgbClr val="087E95"/>
                </a:solidFill>
              </a:defRPr>
            </a:lvl6pPr>
            <a:lvl7pPr>
              <a:defRPr sz="1200" b="1">
                <a:solidFill>
                  <a:srgbClr val="087E95"/>
                </a:solidFill>
              </a:defRPr>
            </a:lvl7pPr>
            <a:lvl8pPr>
              <a:defRPr sz="1200" b="1">
                <a:solidFill>
                  <a:srgbClr val="087E95"/>
                </a:solidFill>
              </a:defRPr>
            </a:lvl8pPr>
            <a:lvl9pPr>
              <a:defRPr sz="1200" b="1">
                <a:solidFill>
                  <a:srgbClr val="087E95"/>
                </a:solidFill>
              </a:defRPr>
            </a:lvl9pPr>
          </a:lstStyle>
          <a:p xmlns:a="http://schemas.openxmlformats.org/drawingml/2006/main">
            <a:pPr>
              <a:defRPr sz="1200" b="1">
                <a:solidFill>
                  <a:srgbClr val="087E95"/>
                </a:solidFill>
              </a:defRPr>
            </a:pPr>
            <a:r>
              <a:rPr sz="1200" b="1">
                <a:solidFill>
                  <a:srgbClr val="087E95"/>
                </a:solidFill>
              </a:rPr>
              <a:t>SCOPEBOT   /   09</a:t>
            </a:r>
          </a:p>
        </p:txBody>
      </p:sp>
      <p:sp>
        <p:nvSpPr>
          <p:cNvPr id="3" name="">
            <a:extLst xmlns:a="http://schemas.openxmlformats.org/drawingml/2006/main">
              <a:ext uri="{FF2B5EF4-FFF2-40B4-BE49-F238E27FC236}">
                <a16:creationId xmlns:a16="http://schemas.microsoft.com/office/drawing/2014/main" id="{91C768CF-A4C9-48B2-8337-BB7B43E55E17}"/>
              </a:ext>
            </a:extLst>
          </p:cNvPr>
          <p:cNvSpPr>
            <a:spLocks xmlns:a="http://schemas.openxmlformats.org/drawingml/2006/main" noGrp="1"/>
          </p:cNvSpPr>
          <p:nvPr/>
        </p:nvSpPr>
        <p:spPr>
          <a:xfrm xmlns:a="http://schemas.openxmlformats.org/drawingml/2006/main">
            <a:off x="666750" y="10953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42B42"/>
                </a:solidFill>
              </a:defRPr>
            </a:defPPr>
            <a:lvl1pPr>
              <a:defRPr sz="3000" b="1">
                <a:solidFill>
                  <a:srgbClr val="142B42"/>
                </a:solidFill>
              </a:defRPr>
            </a:lvl1pPr>
            <a:lvl2pPr>
              <a:defRPr sz="3000" b="1">
                <a:solidFill>
                  <a:srgbClr val="142B42"/>
                </a:solidFill>
              </a:defRPr>
            </a:lvl2pPr>
            <a:lvl3pPr>
              <a:defRPr sz="3000" b="1">
                <a:solidFill>
                  <a:srgbClr val="142B42"/>
                </a:solidFill>
              </a:defRPr>
            </a:lvl3pPr>
            <a:lvl4pPr>
              <a:defRPr sz="3000" b="1">
                <a:solidFill>
                  <a:srgbClr val="142B42"/>
                </a:solidFill>
              </a:defRPr>
            </a:lvl4pPr>
            <a:lvl5pPr>
              <a:defRPr sz="3000" b="1">
                <a:solidFill>
                  <a:srgbClr val="142B42"/>
                </a:solidFill>
              </a:defRPr>
            </a:lvl5pPr>
            <a:lvl6pPr>
              <a:defRPr sz="3000" b="1">
                <a:solidFill>
                  <a:srgbClr val="142B42"/>
                </a:solidFill>
              </a:defRPr>
            </a:lvl6pPr>
            <a:lvl7pPr>
              <a:defRPr sz="3000" b="1">
                <a:solidFill>
                  <a:srgbClr val="142B42"/>
                </a:solidFill>
              </a:defRPr>
            </a:lvl7pPr>
            <a:lvl8pPr>
              <a:defRPr sz="3000" b="1">
                <a:solidFill>
                  <a:srgbClr val="142B42"/>
                </a:solidFill>
              </a:defRPr>
            </a:lvl8pPr>
            <a:lvl9pPr>
              <a:defRPr sz="3000" b="1">
                <a:solidFill>
                  <a:srgbClr val="142B42"/>
                </a:solidFill>
              </a:defRPr>
            </a:lvl9pPr>
          </a:lstStyle>
          <a:p xmlns:a="http://schemas.openxmlformats.org/drawingml/2006/main">
            <a:pPr>
              <a:defRPr sz="3000" b="1">
                <a:solidFill>
                  <a:srgbClr val="142B42"/>
                </a:solidFill>
              </a:defRPr>
            </a:pPr>
            <a:r>
              <a:rPr sz="3000" b="1">
                <a:solidFill>
                  <a:srgbClr val="142B42"/>
                </a:solidFill>
              </a:rPr>
              <a:t>สาธิตระบบ</a:t>
            </a:r>
          </a:p>
        </p:txBody>
      </p:sp>
      <p:sp>
        <p:nvSpPr>
          <p:cNvPr id="4" name="">
            <a:extLst xmlns:a="http://schemas.openxmlformats.org/drawingml/2006/main">
              <a:ext uri="{FF2B5EF4-FFF2-40B4-BE49-F238E27FC236}">
                <a16:creationId xmlns:a16="http://schemas.microsoft.com/office/drawing/2014/main" id="{936C9BE5-1005-4FA7-85FB-447001EF4E95}"/>
              </a:ext>
            </a:extLst>
          </p:cNvPr>
          <p:cNvSpPr>
            <a:spLocks xmlns:a="http://schemas.openxmlformats.org/drawingml/2006/main" noGrp="1"/>
          </p:cNvSpPr>
          <p:nvPr/>
        </p:nvSpPr>
        <p:spPr>
          <a:xfrm xmlns:a="http://schemas.openxmlformats.org/drawingml/2006/main">
            <a:off x="714375" y="2238375"/>
            <a:ext cx="619125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94255"/>
                </a:solidFill>
              </a:defRPr>
            </a:defPPr>
            <a:lvl1pPr>
              <a:defRPr sz="1875" b="0">
                <a:solidFill>
                  <a:srgbClr val="294255"/>
                </a:solidFill>
              </a:defRPr>
            </a:lvl1pPr>
            <a:lvl2pPr>
              <a:defRPr sz="1875" b="0">
                <a:solidFill>
                  <a:srgbClr val="294255"/>
                </a:solidFill>
              </a:defRPr>
            </a:lvl2pPr>
            <a:lvl3pPr>
              <a:defRPr sz="1875" b="0">
                <a:solidFill>
                  <a:srgbClr val="294255"/>
                </a:solidFill>
              </a:defRPr>
            </a:lvl3pPr>
            <a:lvl4pPr>
              <a:defRPr sz="1875" b="0">
                <a:solidFill>
                  <a:srgbClr val="294255"/>
                </a:solidFill>
              </a:defRPr>
            </a:lvl4pPr>
            <a:lvl5pPr>
              <a:defRPr sz="1875" b="0">
                <a:solidFill>
                  <a:srgbClr val="294255"/>
                </a:solidFill>
              </a:defRPr>
            </a:lvl5pPr>
            <a:lvl6pPr>
              <a:defRPr sz="1875" b="0">
                <a:solidFill>
                  <a:srgbClr val="294255"/>
                </a:solidFill>
              </a:defRPr>
            </a:lvl6pPr>
            <a:lvl7pPr>
              <a:defRPr sz="1875" b="0">
                <a:solidFill>
                  <a:srgbClr val="294255"/>
                </a:solidFill>
              </a:defRPr>
            </a:lvl7pPr>
            <a:lvl8pPr>
              <a:defRPr sz="1875" b="0">
                <a:solidFill>
                  <a:srgbClr val="294255"/>
                </a:solidFill>
              </a:defRPr>
            </a:lvl8pPr>
            <a:lvl9pPr>
              <a:defRPr sz="1875" b="0">
                <a:solidFill>
                  <a:srgbClr val="294255"/>
                </a:solidFill>
              </a:defRPr>
            </a:lvl9pPr>
          </a:lstStyle>
          <a:p xmlns:a="http://schemas.openxmlformats.org/drawingml/2006/main">
            <a:pPr>
              <a:defRPr sz="1875" b="0">
                <a:solidFill>
                  <a:srgbClr val="294255"/>
                </a:solidFill>
              </a:defRPr>
            </a:pPr>
            <a:r>
              <a:rPr sz="1875" b="0">
                <a:solidFill>
                  <a:srgbClr val="294255"/>
                </a:solidFill>
              </a:rPr>
              <a:t>1  แสดงบอทและเอกสารที่ใช้</a:t>
            </a:r>
          </a:p>
          <a:p xmlns:a="http://schemas.openxmlformats.org/drawingml/2006/main">
            <a:pPr>
              <a:defRPr sz="1875" b="0">
                <a:solidFill>
                  <a:srgbClr val="294255"/>
                </a:solidFill>
              </a:defRPr>
            </a:pPr>
            <a:r>
              <a:t>2  ถามคำถามจากเอกสาร</a:t>
            </a:r>
          </a:p>
          <a:p xmlns:a="http://schemas.openxmlformats.org/drawingml/2006/main">
            <a:pPr>
              <a:defRPr sz="1875" b="0">
                <a:solidFill>
                  <a:srgbClr val="294255"/>
                </a:solidFill>
              </a:defRPr>
            </a:pPr>
            <a:r>
              <a:rPr sz="1875" b="0">
                <a:solidFill>
                  <a:srgbClr val="294255"/>
                </a:solidFill>
              </a:rPr>
              <a:t>3  เปิดดูหลักฐานประกอบคำตอบ</a:t>
            </a:r>
          </a:p>
          <a:p xmlns:a="http://schemas.openxmlformats.org/drawingml/2006/main">
            <a:pPr>
              <a:defRPr sz="1875" b="0">
                <a:solidFill>
                  <a:srgbClr val="294255"/>
                </a:solidFill>
              </a:defRPr>
            </a:pPr>
            <a:r>
              <a:t>4  ส่งต่อให้เจ้าของบอทและจบงาน</a:t>
            </a:r>
          </a:p>
        </p:txBody>
      </p:sp>
      <p:sp>
        <p:nvSpPr>
          <p:cNvPr id="5" name="">
            <a:extLst xmlns:a="http://schemas.openxmlformats.org/drawingml/2006/main">
              <a:ext uri="{FF2B5EF4-FFF2-40B4-BE49-F238E27FC236}">
                <a16:creationId xmlns:a16="http://schemas.microsoft.com/office/drawing/2014/main" id="{D3606DFB-1FBF-400B-8B4F-185707CA1A87}"/>
              </a:ext>
            </a:extLst>
          </p:cNvPr>
          <p:cNvSpPr>
            <a:spLocks xmlns:a="http://schemas.openxmlformats.org/drawingml/2006/main" noGrp="1"/>
          </p:cNvSpPr>
          <p:nvPr/>
        </p:nvSpPr>
        <p:spPr>
          <a:xfrm xmlns:a="http://schemas.openxmlformats.org/drawingml/2006/main">
            <a:off x="7477125" y="2333625"/>
            <a:ext cx="3905250" cy="2381250"/>
          </a:xfrm>
          <a:prstGeom xmlns:a="http://schemas.openxmlformats.org/drawingml/2006/main" prst="rect">
            <a:avLst/>
          </a:prstGeom>
          <a:solidFill xmlns:a="http://schemas.openxmlformats.org/drawingml/2006/main">
            <a:srgbClr val="E7F2F5"/>
          </a:solidFill>
          <a:ln xmlns:a="http://schemas.openxmlformats.org/drawingml/2006/main" w="9525">
            <a:solidFill>
              <a:srgbClr val="B8D5DD"/>
            </a:solidFill>
          </a:ln>
        </p:spPr>
        <p:txBody>
          <a:bodyPr xmlns:a="http://schemas.openxmlformats.org/drawingml/2006/main"/>
          <a:lstStyle xmlns:a="http://schemas.openxmlformats.org/drawingml/2006/main">
            <a:defPPr>
              <a:defRPr sz="1650">
                <a:solidFill>
                  <a:srgbClr val="38616B"/>
                </a:solidFill>
              </a:defRPr>
            </a:defPPr>
            <a:lvl1pPr>
              <a:defRPr sz="1650">
                <a:solidFill>
                  <a:srgbClr val="38616B"/>
                </a:solidFill>
              </a:defRPr>
            </a:lvl1pPr>
            <a:lvl2pPr>
              <a:defRPr sz="1650">
                <a:solidFill>
                  <a:srgbClr val="38616B"/>
                </a:solidFill>
              </a:defRPr>
            </a:lvl2pPr>
            <a:lvl3pPr>
              <a:defRPr sz="1650">
                <a:solidFill>
                  <a:srgbClr val="38616B"/>
                </a:solidFill>
              </a:defRPr>
            </a:lvl3pPr>
            <a:lvl4pPr>
              <a:defRPr sz="1650">
                <a:solidFill>
                  <a:srgbClr val="38616B"/>
                </a:solidFill>
              </a:defRPr>
            </a:lvl4pPr>
            <a:lvl5pPr>
              <a:defRPr sz="1650">
                <a:solidFill>
                  <a:srgbClr val="38616B"/>
                </a:solidFill>
              </a:defRPr>
            </a:lvl5pPr>
            <a:lvl6pPr>
              <a:defRPr sz="1650">
                <a:solidFill>
                  <a:srgbClr val="38616B"/>
                </a:solidFill>
              </a:defRPr>
            </a:lvl6pPr>
            <a:lvl7pPr>
              <a:defRPr sz="1650">
                <a:solidFill>
                  <a:srgbClr val="38616B"/>
                </a:solidFill>
              </a:defRPr>
            </a:lvl7pPr>
            <a:lvl8pPr>
              <a:defRPr sz="1650">
                <a:solidFill>
                  <a:srgbClr val="38616B"/>
                </a:solidFill>
              </a:defRPr>
            </a:lvl8pPr>
            <a:lvl9pPr>
              <a:defRPr sz="1650">
                <a:solidFill>
                  <a:srgbClr val="38616B"/>
                </a:solidFill>
              </a:defRPr>
            </a:lvl9pPr>
          </a:lstStyle>
          <a:p xmlns:a="http://schemas.openxmlformats.org/drawingml/2006/main">
            <a:pPr>
              <a:defRPr sz="1650">
                <a:solidFill>
                  <a:srgbClr val="38616B"/>
                </a:solidFill>
              </a:defRPr>
            </a:pPr>
            <a:r>
              <a:rPr sz="1650">
                <a:solidFill>
                  <a:srgbClr val="38616B"/>
                </a:solidFill>
              </a:rPr>
              <a:t>ภาพที่แนะนำ</a:t>
            </a:r>
          </a:p>
          <a:p xmlns:a="http://schemas.openxmlformats.org/drawingml/2006/main">
            <a:pPr>
              <a:defRPr sz="1650">
                <a:solidFill>
                  <a:srgbClr val="38616B"/>
                </a:solidFill>
              </a:defRPr>
            </a:pPr>
            <a:r>
              <a:t/>
            </a:r>
          </a:p>
          <a:p xmlns:a="http://schemas.openxmlformats.org/drawingml/2006/main">
            <a:pPr>
              <a:defRPr sz="1650">
                <a:solidFill>
                  <a:srgbClr val="38616B"/>
                </a:solidFill>
              </a:defRPr>
            </a:pPr>
            <a:r>
              <a:rPr sz="1650">
                <a:solidFill>
                  <a:srgbClr val="38616B"/>
                </a:solidFill>
              </a:rPr>
              <a:t>ภาพหน้าจอบอทที่ใช้สาธิต</a:t>
            </a:r>
          </a:p>
          <a:p xmlns:a="http://schemas.openxmlformats.org/drawingml/2006/main">
            <a:pPr>
              <a:defRPr sz="1650">
                <a:solidFill>
                  <a:srgbClr val="38616B"/>
                </a:solidFill>
              </a:defRPr>
            </a:pPr>
            <a:r>
              <a:rPr sz="1650">
                <a:solidFill>
                  <a:srgbClr val="38616B"/>
                </a:solidFill>
              </a:rPr>
              <a:t>ขณะนำเสนอให้สลับไปยังระบบจริง</a:t>
            </a:r>
          </a:p>
          <a:p xmlns:a="http://schemas.openxmlformats.org/drawingml/2006/main">
            <a:pPr>
              <a:defRPr sz="1650">
                <a:solidFill>
                  <a:srgbClr val="38616B"/>
                </a:solidFill>
              </a:defRPr>
            </a:pPr>
            <a:r>
              <a:rPr sz="1650">
                <a:solidFill>
                  <a:srgbClr val="38616B"/>
                </a:solidFill>
              </a:rPr>
              <a:t>เตรียมวิดีโอการซ้อมจริงไว้สำรอง</a:t>
            </a:r>
          </a:p>
        </p:txBody>
      </p:sp>
    </p:spTree>
    <p:extLst>
      <p:ext uri="{BB962C8B-B14F-4D97-AF65-F5344CB8AC3E}">
        <p14:creationId xmlns:p14="http://schemas.microsoft.com/office/powerpoint/2010/main" val="1195438806"/>
      </p:ext>
    </p:extLst>
  </p:cSld>
</p:sld>
</file>

<file path=ppt/slides/slide10.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A7EA5B3-A992-4DE9-9C86-61F9588D7912}"/>
              </a:ext>
            </a:extLst>
          </p:cNvPr>
          <p:cNvSpPr>
            <a:spLocks xmlns:a="http://schemas.openxmlformats.org/drawingml/2006/main" noGrp="1"/>
          </p:cNvSpPr>
          <p:nvPr/>
        </p:nvSpPr>
        <p:spPr>
          <a:xfrm xmlns:a="http://schemas.openxmlformats.org/drawingml/2006/main">
            <a:off x="666750" y="400050"/>
            <a:ext cx="857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95"/>
                </a:solidFill>
              </a:defRPr>
            </a:defPPr>
            <a:lvl1pPr>
              <a:defRPr sz="1200" b="1">
                <a:solidFill>
                  <a:srgbClr val="087E95"/>
                </a:solidFill>
              </a:defRPr>
            </a:lvl1pPr>
            <a:lvl2pPr>
              <a:defRPr sz="1200" b="1">
                <a:solidFill>
                  <a:srgbClr val="087E95"/>
                </a:solidFill>
              </a:defRPr>
            </a:lvl2pPr>
            <a:lvl3pPr>
              <a:defRPr sz="1200" b="1">
                <a:solidFill>
                  <a:srgbClr val="087E95"/>
                </a:solidFill>
              </a:defRPr>
            </a:lvl3pPr>
            <a:lvl4pPr>
              <a:defRPr sz="1200" b="1">
                <a:solidFill>
                  <a:srgbClr val="087E95"/>
                </a:solidFill>
              </a:defRPr>
            </a:lvl4pPr>
            <a:lvl5pPr>
              <a:defRPr sz="1200" b="1">
                <a:solidFill>
                  <a:srgbClr val="087E95"/>
                </a:solidFill>
              </a:defRPr>
            </a:lvl5pPr>
            <a:lvl6pPr>
              <a:defRPr sz="1200" b="1">
                <a:solidFill>
                  <a:srgbClr val="087E95"/>
                </a:solidFill>
              </a:defRPr>
            </a:lvl6pPr>
            <a:lvl7pPr>
              <a:defRPr sz="1200" b="1">
                <a:solidFill>
                  <a:srgbClr val="087E95"/>
                </a:solidFill>
              </a:defRPr>
            </a:lvl7pPr>
            <a:lvl8pPr>
              <a:defRPr sz="1200" b="1">
                <a:solidFill>
                  <a:srgbClr val="087E95"/>
                </a:solidFill>
              </a:defRPr>
            </a:lvl8pPr>
            <a:lvl9pPr>
              <a:defRPr sz="1200" b="1">
                <a:solidFill>
                  <a:srgbClr val="087E95"/>
                </a:solidFill>
              </a:defRPr>
            </a:lvl9pPr>
          </a:lstStyle>
          <a:p xmlns:a="http://schemas.openxmlformats.org/drawingml/2006/main">
            <a:pPr>
              <a:defRPr sz="1200" b="1">
                <a:solidFill>
                  <a:srgbClr val="087E95"/>
                </a:solidFill>
              </a:defRPr>
            </a:pPr>
            <a:r>
              <a:rPr sz="1200" b="1">
                <a:solidFill>
                  <a:srgbClr val="087E95"/>
                </a:solidFill>
              </a:rPr>
              <a:t>SCOPEBOT   /   10</a:t>
            </a:r>
          </a:p>
        </p:txBody>
      </p:sp>
      <p:sp>
        <p:nvSpPr>
          <p:cNvPr id="3" name="">
            <a:extLst xmlns:a="http://schemas.openxmlformats.org/drawingml/2006/main">
              <a:ext uri="{FF2B5EF4-FFF2-40B4-BE49-F238E27FC236}">
                <a16:creationId xmlns:a16="http://schemas.microsoft.com/office/drawing/2014/main" id="{A65EAA13-8B1E-4296-9C65-688F025FC01E}"/>
              </a:ext>
            </a:extLst>
          </p:cNvPr>
          <p:cNvSpPr>
            <a:spLocks xmlns:a="http://schemas.openxmlformats.org/drawingml/2006/main" noGrp="1"/>
          </p:cNvSpPr>
          <p:nvPr/>
        </p:nvSpPr>
        <p:spPr>
          <a:xfrm xmlns:a="http://schemas.openxmlformats.org/drawingml/2006/main">
            <a:off x="666750" y="10953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42B42"/>
                </a:solidFill>
              </a:defRPr>
            </a:defPPr>
            <a:lvl1pPr>
              <a:defRPr sz="3000" b="1">
                <a:solidFill>
                  <a:srgbClr val="142B42"/>
                </a:solidFill>
              </a:defRPr>
            </a:lvl1pPr>
            <a:lvl2pPr>
              <a:defRPr sz="3000" b="1">
                <a:solidFill>
                  <a:srgbClr val="142B42"/>
                </a:solidFill>
              </a:defRPr>
            </a:lvl2pPr>
            <a:lvl3pPr>
              <a:defRPr sz="3000" b="1">
                <a:solidFill>
                  <a:srgbClr val="142B42"/>
                </a:solidFill>
              </a:defRPr>
            </a:lvl3pPr>
            <a:lvl4pPr>
              <a:defRPr sz="3000" b="1">
                <a:solidFill>
                  <a:srgbClr val="142B42"/>
                </a:solidFill>
              </a:defRPr>
            </a:lvl4pPr>
            <a:lvl5pPr>
              <a:defRPr sz="3000" b="1">
                <a:solidFill>
                  <a:srgbClr val="142B42"/>
                </a:solidFill>
              </a:defRPr>
            </a:lvl5pPr>
            <a:lvl6pPr>
              <a:defRPr sz="3000" b="1">
                <a:solidFill>
                  <a:srgbClr val="142B42"/>
                </a:solidFill>
              </a:defRPr>
            </a:lvl6pPr>
            <a:lvl7pPr>
              <a:defRPr sz="3000" b="1">
                <a:solidFill>
                  <a:srgbClr val="142B42"/>
                </a:solidFill>
              </a:defRPr>
            </a:lvl7pPr>
            <a:lvl8pPr>
              <a:defRPr sz="3000" b="1">
                <a:solidFill>
                  <a:srgbClr val="142B42"/>
                </a:solidFill>
              </a:defRPr>
            </a:lvl8pPr>
            <a:lvl9pPr>
              <a:defRPr sz="3000" b="1">
                <a:solidFill>
                  <a:srgbClr val="142B42"/>
                </a:solidFill>
              </a:defRPr>
            </a:lvl9pPr>
          </a:lstStyle>
          <a:p xmlns:a="http://schemas.openxmlformats.org/drawingml/2006/main">
            <a:pPr>
              <a:defRPr sz="3000" b="1">
                <a:solidFill>
                  <a:srgbClr val="142B42"/>
                </a:solidFill>
              </a:defRPr>
            </a:pPr>
            <a:r>
              <a:rPr sz="3000" b="1">
                <a:solidFill>
                  <a:srgbClr val="142B42"/>
                </a:solidFill>
              </a:rPr>
              <a:t>การทดสอบและการประเมิน</a:t>
            </a:r>
          </a:p>
        </p:txBody>
      </p:sp>
      <p:sp>
        <p:nvSpPr>
          <p:cNvPr id="4" name="">
            <a:extLst xmlns:a="http://schemas.openxmlformats.org/drawingml/2006/main">
              <a:ext uri="{FF2B5EF4-FFF2-40B4-BE49-F238E27FC236}">
                <a16:creationId xmlns:a16="http://schemas.microsoft.com/office/drawing/2014/main" id="{256B3CF4-715A-4A3A-8873-70D4ED942F12}"/>
              </a:ext>
            </a:extLst>
          </p:cNvPr>
          <p:cNvSpPr>
            <a:spLocks xmlns:a="http://schemas.openxmlformats.org/drawingml/2006/main" noGrp="1"/>
          </p:cNvSpPr>
          <p:nvPr/>
        </p:nvSpPr>
        <p:spPr>
          <a:xfrm xmlns:a="http://schemas.openxmlformats.org/drawingml/2006/main">
            <a:off x="714375" y="2238375"/>
            <a:ext cx="619125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94255"/>
                </a:solidFill>
              </a:defRPr>
            </a:defPPr>
            <a:lvl1pPr>
              <a:defRPr sz="1875" b="0">
                <a:solidFill>
                  <a:srgbClr val="294255"/>
                </a:solidFill>
              </a:defRPr>
            </a:lvl1pPr>
            <a:lvl2pPr>
              <a:defRPr sz="1875" b="0">
                <a:solidFill>
                  <a:srgbClr val="294255"/>
                </a:solidFill>
              </a:defRPr>
            </a:lvl2pPr>
            <a:lvl3pPr>
              <a:defRPr sz="1875" b="0">
                <a:solidFill>
                  <a:srgbClr val="294255"/>
                </a:solidFill>
              </a:defRPr>
            </a:lvl3pPr>
            <a:lvl4pPr>
              <a:defRPr sz="1875" b="0">
                <a:solidFill>
                  <a:srgbClr val="294255"/>
                </a:solidFill>
              </a:defRPr>
            </a:lvl4pPr>
            <a:lvl5pPr>
              <a:defRPr sz="1875" b="0">
                <a:solidFill>
                  <a:srgbClr val="294255"/>
                </a:solidFill>
              </a:defRPr>
            </a:lvl5pPr>
            <a:lvl6pPr>
              <a:defRPr sz="1875" b="0">
                <a:solidFill>
                  <a:srgbClr val="294255"/>
                </a:solidFill>
              </a:defRPr>
            </a:lvl6pPr>
            <a:lvl7pPr>
              <a:defRPr sz="1875" b="0">
                <a:solidFill>
                  <a:srgbClr val="294255"/>
                </a:solidFill>
              </a:defRPr>
            </a:lvl7pPr>
            <a:lvl8pPr>
              <a:defRPr sz="1875" b="0">
                <a:solidFill>
                  <a:srgbClr val="294255"/>
                </a:solidFill>
              </a:defRPr>
            </a:lvl8pPr>
            <a:lvl9pPr>
              <a:defRPr sz="1875" b="0">
                <a:solidFill>
                  <a:srgbClr val="294255"/>
                </a:solidFill>
              </a:defRPr>
            </a:lvl9pPr>
          </a:lstStyle>
          <a:p xmlns:a="http://schemas.openxmlformats.org/drawingml/2006/main">
            <a:pPr>
              <a:defRPr sz="1875" b="0">
                <a:solidFill>
                  <a:srgbClr val="294255"/>
                </a:solidFill>
              </a:defRPr>
            </a:pPr>
            <a:r>
              <a:rPr sz="1875" b="0">
                <a:solidFill>
                  <a:srgbClr val="294255"/>
                </a:solidFill>
              </a:rPr>
              <a:t>รายงานทดสอบ backend ผ่าน 139 กรณี</a:t>
            </a:r>
          </a:p>
          <a:p xmlns:a="http://schemas.openxmlformats.org/drawingml/2006/main">
            <a:pPr>
              <a:defRPr sz="1875" b="0">
                <a:solidFill>
                  <a:srgbClr val="294255"/>
                </a:solidFill>
              </a:defRPr>
            </a:pPr>
            <a:r>
              <a:t>ครอบคลุมข้อมูล สิทธิ์ และ RAG</a:t>
            </a:r>
          </a:p>
          <a:p xmlns:a="http://schemas.openxmlformats.org/drawingml/2006/main">
            <a:pPr>
              <a:defRPr sz="1875" b="0">
                <a:solidFill>
                  <a:srgbClr val="294255"/>
                </a:solidFill>
              </a:defRPr>
            </a:pPr>
            <a:r>
              <a:rPr sz="1875" b="0">
                <a:solidFill>
                  <a:srgbClr val="294255"/>
                </a:solidFill>
              </a:rPr>
              <a:t>ใช้โมเดลจำลองใน regression tests</a:t>
            </a:r>
          </a:p>
          <a:p xmlns:a="http://schemas.openxmlformats.org/drawingml/2006/main">
            <a:pPr>
              <a:defRPr sz="1875" b="0">
                <a:solidFill>
                  <a:srgbClr val="294255"/>
                </a:solidFill>
              </a:defRPr>
            </a:pPr>
            <a:r>
              <a:t>คุณภาพโมเดลจริงต้องประเมินเพิ่มเติม</a:t>
            </a:r>
          </a:p>
        </p:txBody>
      </p:sp>
      <p:sp>
        <p:nvSpPr>
          <p:cNvPr id="5" name="">
            <a:extLst xmlns:a="http://schemas.openxmlformats.org/drawingml/2006/main">
              <a:ext uri="{FF2B5EF4-FFF2-40B4-BE49-F238E27FC236}">
                <a16:creationId xmlns:a16="http://schemas.microsoft.com/office/drawing/2014/main" id="{B6D0ED67-FFEE-4A00-B297-C38E96050BA5}"/>
              </a:ext>
            </a:extLst>
          </p:cNvPr>
          <p:cNvSpPr>
            <a:spLocks xmlns:a="http://schemas.openxmlformats.org/drawingml/2006/main" noGrp="1"/>
          </p:cNvSpPr>
          <p:nvPr/>
        </p:nvSpPr>
        <p:spPr>
          <a:xfrm xmlns:a="http://schemas.openxmlformats.org/drawingml/2006/main">
            <a:off x="7477125" y="2333625"/>
            <a:ext cx="3905250" cy="2381250"/>
          </a:xfrm>
          <a:prstGeom xmlns:a="http://schemas.openxmlformats.org/drawingml/2006/main" prst="rect">
            <a:avLst/>
          </a:prstGeom>
          <a:solidFill xmlns:a="http://schemas.openxmlformats.org/drawingml/2006/main">
            <a:srgbClr val="E7F2F5"/>
          </a:solidFill>
          <a:ln xmlns:a="http://schemas.openxmlformats.org/drawingml/2006/main" w="9525">
            <a:solidFill>
              <a:srgbClr val="B8D5DD"/>
            </a:solidFill>
          </a:ln>
        </p:spPr>
        <p:txBody>
          <a:bodyPr xmlns:a="http://schemas.openxmlformats.org/drawingml/2006/main"/>
          <a:lstStyle xmlns:a="http://schemas.openxmlformats.org/drawingml/2006/main">
            <a:defPPr>
              <a:defRPr sz="1650">
                <a:solidFill>
                  <a:srgbClr val="38616B"/>
                </a:solidFill>
              </a:defRPr>
            </a:defPPr>
            <a:lvl1pPr>
              <a:defRPr sz="1650">
                <a:solidFill>
                  <a:srgbClr val="38616B"/>
                </a:solidFill>
              </a:defRPr>
            </a:lvl1pPr>
            <a:lvl2pPr>
              <a:defRPr sz="1650">
                <a:solidFill>
                  <a:srgbClr val="38616B"/>
                </a:solidFill>
              </a:defRPr>
            </a:lvl2pPr>
            <a:lvl3pPr>
              <a:defRPr sz="1650">
                <a:solidFill>
                  <a:srgbClr val="38616B"/>
                </a:solidFill>
              </a:defRPr>
            </a:lvl3pPr>
            <a:lvl4pPr>
              <a:defRPr sz="1650">
                <a:solidFill>
                  <a:srgbClr val="38616B"/>
                </a:solidFill>
              </a:defRPr>
            </a:lvl4pPr>
            <a:lvl5pPr>
              <a:defRPr sz="1650">
                <a:solidFill>
                  <a:srgbClr val="38616B"/>
                </a:solidFill>
              </a:defRPr>
            </a:lvl5pPr>
            <a:lvl6pPr>
              <a:defRPr sz="1650">
                <a:solidFill>
                  <a:srgbClr val="38616B"/>
                </a:solidFill>
              </a:defRPr>
            </a:lvl6pPr>
            <a:lvl7pPr>
              <a:defRPr sz="1650">
                <a:solidFill>
                  <a:srgbClr val="38616B"/>
                </a:solidFill>
              </a:defRPr>
            </a:lvl7pPr>
            <a:lvl8pPr>
              <a:defRPr sz="1650">
                <a:solidFill>
                  <a:srgbClr val="38616B"/>
                </a:solidFill>
              </a:defRPr>
            </a:lvl8pPr>
            <a:lvl9pPr>
              <a:defRPr sz="1650">
                <a:solidFill>
                  <a:srgbClr val="38616B"/>
                </a:solidFill>
              </a:defRPr>
            </a:lvl9pPr>
          </a:lstStyle>
          <a:p xmlns:a="http://schemas.openxmlformats.org/drawingml/2006/main">
            <a:pPr>
              <a:defRPr sz="1650">
                <a:solidFill>
                  <a:srgbClr val="38616B"/>
                </a:solidFill>
              </a:defRPr>
            </a:pPr>
            <a:r>
              <a:rPr sz="1650">
                <a:solidFill>
                  <a:srgbClr val="38616B"/>
                </a:solidFill>
              </a:rPr>
              <a:t>ภาพที่แนะนำ</a:t>
            </a:r>
          </a:p>
          <a:p xmlns:a="http://schemas.openxmlformats.org/drawingml/2006/main">
            <a:pPr>
              <a:defRPr sz="1650">
                <a:solidFill>
                  <a:srgbClr val="38616B"/>
                </a:solidFill>
              </a:defRPr>
            </a:pPr>
            <a:r>
              <a:t/>
            </a:r>
          </a:p>
          <a:p xmlns:a="http://schemas.openxmlformats.org/drawingml/2006/main">
            <a:pPr>
              <a:defRPr sz="1650">
                <a:solidFill>
                  <a:srgbClr val="38616B"/>
                </a:solidFill>
              </a:defRPr>
            </a:pPr>
            <a:r>
              <a:rPr sz="1650">
                <a:solidFill>
                  <a:srgbClr val="38616B"/>
                </a:solidFill>
              </a:rPr>
              <a:t>ตารางกรณีทดสอบและผลที่ยืนยันได้</a:t>
            </a:r>
          </a:p>
          <a:p xmlns:a="http://schemas.openxmlformats.org/drawingml/2006/main">
            <a:pPr>
              <a:defRPr sz="1650">
                <a:solidFill>
                  <a:srgbClr val="38616B"/>
                </a:solidFill>
              </a:defRPr>
            </a:pPr>
            <a:r>
              <a:rPr sz="1650">
                <a:solidFill>
                  <a:srgbClr val="38616B"/>
                </a:solidFill>
              </a:rPr>
              <a:t>แยก regression tests กับการทดสอบโมเดลจริง</a:t>
            </a:r>
          </a:p>
          <a:p xmlns:a="http://schemas.openxmlformats.org/drawingml/2006/main">
            <a:pPr>
              <a:defRPr sz="1650">
                <a:solidFill>
                  <a:srgbClr val="38616B"/>
                </a:solidFill>
              </a:defRPr>
            </a:pPr>
            <a:r>
              <a:rPr sz="1650">
                <a:solidFill>
                  <a:srgbClr val="38616B"/>
                </a:solidFill>
              </a:rPr>
              <a:t>ใช้ผลบันทึกจริง ไม่สร้างกราฟความแม่นยำ</a:t>
            </a:r>
          </a:p>
        </p:txBody>
      </p:sp>
    </p:spTree>
    <p:extLst>
      <p:ext uri="{BB962C8B-B14F-4D97-AF65-F5344CB8AC3E}">
        <p14:creationId xmlns:p14="http://schemas.microsoft.com/office/powerpoint/2010/main" val="560381410"/>
      </p:ext>
    </p:extLst>
  </p:cSld>
</p:sld>
</file>

<file path=ppt/slides/slide1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DB62717-3A95-4D83-B874-4330F4994702}"/>
              </a:ext>
            </a:extLst>
          </p:cNvPr>
          <p:cNvSpPr>
            <a:spLocks xmlns:a="http://schemas.openxmlformats.org/drawingml/2006/main" noGrp="1"/>
          </p:cNvSpPr>
          <p:nvPr/>
        </p:nvSpPr>
        <p:spPr>
          <a:xfrm xmlns:a="http://schemas.openxmlformats.org/drawingml/2006/main">
            <a:off x="666750" y="400050"/>
            <a:ext cx="857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95"/>
                </a:solidFill>
              </a:defRPr>
            </a:defPPr>
            <a:lvl1pPr>
              <a:defRPr sz="1200" b="1">
                <a:solidFill>
                  <a:srgbClr val="087E95"/>
                </a:solidFill>
              </a:defRPr>
            </a:lvl1pPr>
            <a:lvl2pPr>
              <a:defRPr sz="1200" b="1">
                <a:solidFill>
                  <a:srgbClr val="087E95"/>
                </a:solidFill>
              </a:defRPr>
            </a:lvl2pPr>
            <a:lvl3pPr>
              <a:defRPr sz="1200" b="1">
                <a:solidFill>
                  <a:srgbClr val="087E95"/>
                </a:solidFill>
              </a:defRPr>
            </a:lvl3pPr>
            <a:lvl4pPr>
              <a:defRPr sz="1200" b="1">
                <a:solidFill>
                  <a:srgbClr val="087E95"/>
                </a:solidFill>
              </a:defRPr>
            </a:lvl4pPr>
            <a:lvl5pPr>
              <a:defRPr sz="1200" b="1">
                <a:solidFill>
                  <a:srgbClr val="087E95"/>
                </a:solidFill>
              </a:defRPr>
            </a:lvl5pPr>
            <a:lvl6pPr>
              <a:defRPr sz="1200" b="1">
                <a:solidFill>
                  <a:srgbClr val="087E95"/>
                </a:solidFill>
              </a:defRPr>
            </a:lvl6pPr>
            <a:lvl7pPr>
              <a:defRPr sz="1200" b="1">
                <a:solidFill>
                  <a:srgbClr val="087E95"/>
                </a:solidFill>
              </a:defRPr>
            </a:lvl7pPr>
            <a:lvl8pPr>
              <a:defRPr sz="1200" b="1">
                <a:solidFill>
                  <a:srgbClr val="087E95"/>
                </a:solidFill>
              </a:defRPr>
            </a:lvl8pPr>
            <a:lvl9pPr>
              <a:defRPr sz="1200" b="1">
                <a:solidFill>
                  <a:srgbClr val="087E95"/>
                </a:solidFill>
              </a:defRPr>
            </a:lvl9pPr>
          </a:lstStyle>
          <a:p xmlns:a="http://schemas.openxmlformats.org/drawingml/2006/main">
            <a:pPr>
              <a:defRPr sz="1200" b="1">
                <a:solidFill>
                  <a:srgbClr val="087E95"/>
                </a:solidFill>
              </a:defRPr>
            </a:pPr>
            <a:r>
              <a:rPr sz="1200" b="1">
                <a:solidFill>
                  <a:srgbClr val="087E95"/>
                </a:solidFill>
              </a:rPr>
              <a:t>SCOPEBOT   /   11</a:t>
            </a:r>
          </a:p>
        </p:txBody>
      </p:sp>
      <p:sp>
        <p:nvSpPr>
          <p:cNvPr id="3" name="">
            <a:extLst xmlns:a="http://schemas.openxmlformats.org/drawingml/2006/main">
              <a:ext uri="{FF2B5EF4-FFF2-40B4-BE49-F238E27FC236}">
                <a16:creationId xmlns:a16="http://schemas.microsoft.com/office/drawing/2014/main" id="{81CAFA57-2675-47CE-AE3D-C2DBEF304BD1}"/>
              </a:ext>
            </a:extLst>
          </p:cNvPr>
          <p:cNvSpPr>
            <a:spLocks xmlns:a="http://schemas.openxmlformats.org/drawingml/2006/main" noGrp="1"/>
          </p:cNvSpPr>
          <p:nvPr/>
        </p:nvSpPr>
        <p:spPr>
          <a:xfrm xmlns:a="http://schemas.openxmlformats.org/drawingml/2006/main">
            <a:off x="666750" y="10953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42B42"/>
                </a:solidFill>
              </a:defRPr>
            </a:defPPr>
            <a:lvl1pPr>
              <a:defRPr sz="3000" b="1">
                <a:solidFill>
                  <a:srgbClr val="142B42"/>
                </a:solidFill>
              </a:defRPr>
            </a:lvl1pPr>
            <a:lvl2pPr>
              <a:defRPr sz="3000" b="1">
                <a:solidFill>
                  <a:srgbClr val="142B42"/>
                </a:solidFill>
              </a:defRPr>
            </a:lvl2pPr>
            <a:lvl3pPr>
              <a:defRPr sz="3000" b="1">
                <a:solidFill>
                  <a:srgbClr val="142B42"/>
                </a:solidFill>
              </a:defRPr>
            </a:lvl3pPr>
            <a:lvl4pPr>
              <a:defRPr sz="3000" b="1">
                <a:solidFill>
                  <a:srgbClr val="142B42"/>
                </a:solidFill>
              </a:defRPr>
            </a:lvl4pPr>
            <a:lvl5pPr>
              <a:defRPr sz="3000" b="1">
                <a:solidFill>
                  <a:srgbClr val="142B42"/>
                </a:solidFill>
              </a:defRPr>
            </a:lvl5pPr>
            <a:lvl6pPr>
              <a:defRPr sz="3000" b="1">
                <a:solidFill>
                  <a:srgbClr val="142B42"/>
                </a:solidFill>
              </a:defRPr>
            </a:lvl6pPr>
            <a:lvl7pPr>
              <a:defRPr sz="3000" b="1">
                <a:solidFill>
                  <a:srgbClr val="142B42"/>
                </a:solidFill>
              </a:defRPr>
            </a:lvl7pPr>
            <a:lvl8pPr>
              <a:defRPr sz="3000" b="1">
                <a:solidFill>
                  <a:srgbClr val="142B42"/>
                </a:solidFill>
              </a:defRPr>
            </a:lvl8pPr>
            <a:lvl9pPr>
              <a:defRPr sz="3000" b="1">
                <a:solidFill>
                  <a:srgbClr val="142B42"/>
                </a:solidFill>
              </a:defRPr>
            </a:lvl9pPr>
          </a:lstStyle>
          <a:p xmlns:a="http://schemas.openxmlformats.org/drawingml/2006/main">
            <a:pPr>
              <a:defRPr sz="3000" b="1">
                <a:solidFill>
                  <a:srgbClr val="142B42"/>
                </a:solidFill>
              </a:defRPr>
            </a:pPr>
            <a:r>
              <a:rPr sz="3000" b="1">
                <a:solidFill>
                  <a:srgbClr val="142B42"/>
                </a:solidFill>
              </a:rPr>
              <a:t>ข้อจำกัดและการพัฒนาต่อ</a:t>
            </a:r>
          </a:p>
        </p:txBody>
      </p:sp>
      <p:sp>
        <p:nvSpPr>
          <p:cNvPr id="4" name="">
            <a:extLst xmlns:a="http://schemas.openxmlformats.org/drawingml/2006/main">
              <a:ext uri="{FF2B5EF4-FFF2-40B4-BE49-F238E27FC236}">
                <a16:creationId xmlns:a16="http://schemas.microsoft.com/office/drawing/2014/main" id="{EA3750FF-D1D8-414A-B720-3E4B2A653F2F}"/>
              </a:ext>
            </a:extLst>
          </p:cNvPr>
          <p:cNvSpPr>
            <a:spLocks xmlns:a="http://schemas.openxmlformats.org/drawingml/2006/main" noGrp="1"/>
          </p:cNvSpPr>
          <p:nvPr/>
        </p:nvSpPr>
        <p:spPr>
          <a:xfrm xmlns:a="http://schemas.openxmlformats.org/drawingml/2006/main">
            <a:off x="714375" y="2238375"/>
            <a:ext cx="619125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94255"/>
                </a:solidFill>
              </a:defRPr>
            </a:defPPr>
            <a:lvl1pPr>
              <a:defRPr sz="1875" b="0">
                <a:solidFill>
                  <a:srgbClr val="294255"/>
                </a:solidFill>
              </a:defRPr>
            </a:lvl1pPr>
            <a:lvl2pPr>
              <a:defRPr sz="1875" b="0">
                <a:solidFill>
                  <a:srgbClr val="294255"/>
                </a:solidFill>
              </a:defRPr>
            </a:lvl2pPr>
            <a:lvl3pPr>
              <a:defRPr sz="1875" b="0">
                <a:solidFill>
                  <a:srgbClr val="294255"/>
                </a:solidFill>
              </a:defRPr>
            </a:lvl3pPr>
            <a:lvl4pPr>
              <a:defRPr sz="1875" b="0">
                <a:solidFill>
                  <a:srgbClr val="294255"/>
                </a:solidFill>
              </a:defRPr>
            </a:lvl4pPr>
            <a:lvl5pPr>
              <a:defRPr sz="1875" b="0">
                <a:solidFill>
                  <a:srgbClr val="294255"/>
                </a:solidFill>
              </a:defRPr>
            </a:lvl5pPr>
            <a:lvl6pPr>
              <a:defRPr sz="1875" b="0">
                <a:solidFill>
                  <a:srgbClr val="294255"/>
                </a:solidFill>
              </a:defRPr>
            </a:lvl6pPr>
            <a:lvl7pPr>
              <a:defRPr sz="1875" b="0">
                <a:solidFill>
                  <a:srgbClr val="294255"/>
                </a:solidFill>
              </a:defRPr>
            </a:lvl7pPr>
            <a:lvl8pPr>
              <a:defRPr sz="1875" b="0">
                <a:solidFill>
                  <a:srgbClr val="294255"/>
                </a:solidFill>
              </a:defRPr>
            </a:lvl8pPr>
            <a:lvl9pPr>
              <a:defRPr sz="1875" b="0">
                <a:solidFill>
                  <a:srgbClr val="294255"/>
                </a:solidFill>
              </a:defRPr>
            </a:lvl9pPr>
          </a:lstStyle>
          <a:p xmlns:a="http://schemas.openxmlformats.org/drawingml/2006/main">
            <a:pPr>
              <a:defRPr sz="1875" b="0">
                <a:solidFill>
                  <a:srgbClr val="294255"/>
                </a:solidFill>
              </a:defRPr>
            </a:pPr>
            <a:r>
              <a:rPr sz="1875" b="0">
                <a:solidFill>
                  <a:srgbClr val="294255"/>
                </a:solidFill>
              </a:rPr>
              <a:t>เอกสารและโมเดลมีผลต่อคำตอบ</a:t>
            </a:r>
          </a:p>
          <a:p xmlns:a="http://schemas.openxmlformats.org/drawingml/2006/main">
            <a:pPr>
              <a:defRPr sz="1875" b="0">
                <a:solidFill>
                  <a:srgbClr val="294255"/>
                </a:solidFill>
              </a:defRPr>
            </a:pPr>
            <a:r>
              <a:t>ความเร็วขึ้นอยู่กับเครื่องและขนาดงาน</a:t>
            </a:r>
          </a:p>
          <a:p xmlns:a="http://schemas.openxmlformats.org/drawingml/2006/main">
            <a:pPr>
              <a:defRPr sz="1875" b="0">
                <a:solidFill>
                  <a:srgbClr val="294255"/>
                </a:solidFill>
              </a:defRPr>
            </a:pPr>
            <a:r>
              <a:rPr sz="1875" b="0">
                <a:solidFill>
                  <a:srgbClr val="294255"/>
                </a:solidFill>
              </a:rPr>
              <a:t>ประเมินคำถามจริงและ UAT ร่วมกับผู้ใช้</a:t>
            </a:r>
          </a:p>
          <a:p xmlns:a="http://schemas.openxmlformats.org/drawingml/2006/main">
            <a:pPr>
              <a:defRPr sz="1875" b="0">
                <a:solidFill>
                  <a:srgbClr val="294255"/>
                </a:solidFill>
              </a:defRPr>
            </a:pPr>
            <a:r>
              <a:t>เตรียมสำรองข้อมูลและติดตามบริการ</a:t>
            </a:r>
          </a:p>
        </p:txBody>
      </p:sp>
      <p:sp>
        <p:nvSpPr>
          <p:cNvPr id="5" name="">
            <a:extLst xmlns:a="http://schemas.openxmlformats.org/drawingml/2006/main">
              <a:ext uri="{FF2B5EF4-FFF2-40B4-BE49-F238E27FC236}">
                <a16:creationId xmlns:a16="http://schemas.microsoft.com/office/drawing/2014/main" id="{9183EEB3-6654-436D-A38E-E7F8C21170DC}"/>
              </a:ext>
            </a:extLst>
          </p:cNvPr>
          <p:cNvSpPr>
            <a:spLocks xmlns:a="http://schemas.openxmlformats.org/drawingml/2006/main" noGrp="1"/>
          </p:cNvSpPr>
          <p:nvPr/>
        </p:nvSpPr>
        <p:spPr>
          <a:xfrm xmlns:a="http://schemas.openxmlformats.org/drawingml/2006/main">
            <a:off x="7477125" y="2333625"/>
            <a:ext cx="3905250" cy="2381250"/>
          </a:xfrm>
          <a:prstGeom xmlns:a="http://schemas.openxmlformats.org/drawingml/2006/main" prst="rect">
            <a:avLst/>
          </a:prstGeom>
          <a:solidFill xmlns:a="http://schemas.openxmlformats.org/drawingml/2006/main">
            <a:srgbClr val="E7F2F5"/>
          </a:solidFill>
          <a:ln xmlns:a="http://schemas.openxmlformats.org/drawingml/2006/main" w="9525">
            <a:solidFill>
              <a:srgbClr val="B8D5DD"/>
            </a:solidFill>
          </a:ln>
        </p:spPr>
        <p:txBody>
          <a:bodyPr xmlns:a="http://schemas.openxmlformats.org/drawingml/2006/main"/>
          <a:lstStyle xmlns:a="http://schemas.openxmlformats.org/drawingml/2006/main">
            <a:defPPr>
              <a:defRPr sz="1650">
                <a:solidFill>
                  <a:srgbClr val="38616B"/>
                </a:solidFill>
              </a:defRPr>
            </a:defPPr>
            <a:lvl1pPr>
              <a:defRPr sz="1650">
                <a:solidFill>
                  <a:srgbClr val="38616B"/>
                </a:solidFill>
              </a:defRPr>
            </a:lvl1pPr>
            <a:lvl2pPr>
              <a:defRPr sz="1650">
                <a:solidFill>
                  <a:srgbClr val="38616B"/>
                </a:solidFill>
              </a:defRPr>
            </a:lvl2pPr>
            <a:lvl3pPr>
              <a:defRPr sz="1650">
                <a:solidFill>
                  <a:srgbClr val="38616B"/>
                </a:solidFill>
              </a:defRPr>
            </a:lvl3pPr>
            <a:lvl4pPr>
              <a:defRPr sz="1650">
                <a:solidFill>
                  <a:srgbClr val="38616B"/>
                </a:solidFill>
              </a:defRPr>
            </a:lvl4pPr>
            <a:lvl5pPr>
              <a:defRPr sz="1650">
                <a:solidFill>
                  <a:srgbClr val="38616B"/>
                </a:solidFill>
              </a:defRPr>
            </a:lvl5pPr>
            <a:lvl6pPr>
              <a:defRPr sz="1650">
                <a:solidFill>
                  <a:srgbClr val="38616B"/>
                </a:solidFill>
              </a:defRPr>
            </a:lvl6pPr>
            <a:lvl7pPr>
              <a:defRPr sz="1650">
                <a:solidFill>
                  <a:srgbClr val="38616B"/>
                </a:solidFill>
              </a:defRPr>
            </a:lvl7pPr>
            <a:lvl8pPr>
              <a:defRPr sz="1650">
                <a:solidFill>
                  <a:srgbClr val="38616B"/>
                </a:solidFill>
              </a:defRPr>
            </a:lvl8pPr>
            <a:lvl9pPr>
              <a:defRPr sz="1650">
                <a:solidFill>
                  <a:srgbClr val="38616B"/>
                </a:solidFill>
              </a:defRPr>
            </a:lvl9pPr>
          </a:lstStyle>
          <a:p xmlns:a="http://schemas.openxmlformats.org/drawingml/2006/main">
            <a:pPr>
              <a:defRPr sz="1650">
                <a:solidFill>
                  <a:srgbClr val="38616B"/>
                </a:solidFill>
              </a:defRPr>
            </a:pPr>
            <a:r>
              <a:rPr sz="1650">
                <a:solidFill>
                  <a:srgbClr val="38616B"/>
                </a:solidFill>
              </a:rPr>
              <a:t>ภาพที่แนะนำ</a:t>
            </a:r>
          </a:p>
          <a:p xmlns:a="http://schemas.openxmlformats.org/drawingml/2006/main">
            <a:pPr>
              <a:defRPr sz="1650">
                <a:solidFill>
                  <a:srgbClr val="38616B"/>
                </a:solidFill>
              </a:defRPr>
            </a:pPr>
            <a:r>
              <a:t/>
            </a:r>
          </a:p>
          <a:p xmlns:a="http://schemas.openxmlformats.org/drawingml/2006/main">
            <a:pPr>
              <a:defRPr sz="1650">
                <a:solidFill>
                  <a:srgbClr val="38616B"/>
                </a:solidFill>
              </a:defRPr>
            </a:pPr>
            <a:r>
              <a:rPr sz="1650">
                <a:solidFill>
                  <a:srgbClr val="38616B"/>
                </a:solidFill>
              </a:rPr>
              <a:t>แผนพัฒนาต่อ 3 ช่วง</a:t>
            </a:r>
          </a:p>
          <a:p xmlns:a="http://schemas.openxmlformats.org/drawingml/2006/main">
            <a:pPr>
              <a:defRPr sz="1650">
                <a:solidFill>
                  <a:srgbClr val="38616B"/>
                </a:solidFill>
              </a:defRPr>
            </a:pPr>
            <a:r>
              <a:rPr sz="1650">
                <a:solidFill>
                  <a:srgbClr val="38616B"/>
                </a:solidFill>
              </a:rPr>
              <a:t>ประเมินคำตอบ / ทดลองใช้ / เตรียมใช้งาน</a:t>
            </a:r>
          </a:p>
          <a:p xmlns:a="http://schemas.openxmlformats.org/drawingml/2006/main">
            <a:pPr>
              <a:defRPr sz="1650">
                <a:solidFill>
                  <a:srgbClr val="38616B"/>
                </a:solidFill>
              </a:defRPr>
            </a:pPr>
            <a:r>
              <a:rPr sz="1650">
                <a:solidFill>
                  <a:srgbClr val="38616B"/>
                </a:solidFill>
              </a:rPr>
              <a:t>ระบุเป็นแผน ไม่ใส่เครื่องหมายว่าผ่านแล้ว</a:t>
            </a:r>
          </a:p>
        </p:txBody>
      </p:sp>
    </p:spTree>
    <p:extLst>
      <p:ext uri="{BB962C8B-B14F-4D97-AF65-F5344CB8AC3E}">
        <p14:creationId xmlns:p14="http://schemas.microsoft.com/office/powerpoint/2010/main" val="217619157"/>
      </p:ext>
    </p:extLst>
  </p:cSld>
</p:sld>
</file>

<file path=ppt/slides/slide1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66957BF-081C-4871-ACC0-35762224C9AA}"/>
              </a:ext>
            </a:extLst>
          </p:cNvPr>
          <p:cNvSpPr>
            <a:spLocks xmlns:a="http://schemas.openxmlformats.org/drawingml/2006/main" noGrp="1"/>
          </p:cNvSpPr>
          <p:nvPr/>
        </p:nvSpPr>
        <p:spPr>
          <a:xfrm xmlns:a="http://schemas.openxmlformats.org/drawingml/2006/main">
            <a:off x="666750" y="400050"/>
            <a:ext cx="857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95"/>
                </a:solidFill>
              </a:defRPr>
            </a:defPPr>
            <a:lvl1pPr>
              <a:defRPr sz="1200" b="1">
                <a:solidFill>
                  <a:srgbClr val="087E95"/>
                </a:solidFill>
              </a:defRPr>
            </a:lvl1pPr>
            <a:lvl2pPr>
              <a:defRPr sz="1200" b="1">
                <a:solidFill>
                  <a:srgbClr val="087E95"/>
                </a:solidFill>
              </a:defRPr>
            </a:lvl2pPr>
            <a:lvl3pPr>
              <a:defRPr sz="1200" b="1">
                <a:solidFill>
                  <a:srgbClr val="087E95"/>
                </a:solidFill>
              </a:defRPr>
            </a:lvl3pPr>
            <a:lvl4pPr>
              <a:defRPr sz="1200" b="1">
                <a:solidFill>
                  <a:srgbClr val="087E95"/>
                </a:solidFill>
              </a:defRPr>
            </a:lvl4pPr>
            <a:lvl5pPr>
              <a:defRPr sz="1200" b="1">
                <a:solidFill>
                  <a:srgbClr val="087E95"/>
                </a:solidFill>
              </a:defRPr>
            </a:lvl5pPr>
            <a:lvl6pPr>
              <a:defRPr sz="1200" b="1">
                <a:solidFill>
                  <a:srgbClr val="087E95"/>
                </a:solidFill>
              </a:defRPr>
            </a:lvl6pPr>
            <a:lvl7pPr>
              <a:defRPr sz="1200" b="1">
                <a:solidFill>
                  <a:srgbClr val="087E95"/>
                </a:solidFill>
              </a:defRPr>
            </a:lvl7pPr>
            <a:lvl8pPr>
              <a:defRPr sz="1200" b="1">
                <a:solidFill>
                  <a:srgbClr val="087E95"/>
                </a:solidFill>
              </a:defRPr>
            </a:lvl8pPr>
            <a:lvl9pPr>
              <a:defRPr sz="1200" b="1">
                <a:solidFill>
                  <a:srgbClr val="087E95"/>
                </a:solidFill>
              </a:defRPr>
            </a:lvl9pPr>
          </a:lstStyle>
          <a:p xmlns:a="http://schemas.openxmlformats.org/drawingml/2006/main">
            <a:pPr>
              <a:defRPr sz="1200" b="1">
                <a:solidFill>
                  <a:srgbClr val="087E95"/>
                </a:solidFill>
              </a:defRPr>
            </a:pPr>
            <a:r>
              <a:rPr sz="1200" b="1">
                <a:solidFill>
                  <a:srgbClr val="087E95"/>
                </a:solidFill>
              </a:rPr>
              <a:t>SCOPEBOT   /   12</a:t>
            </a:r>
          </a:p>
        </p:txBody>
      </p:sp>
      <p:sp>
        <p:nvSpPr>
          <p:cNvPr id="3" name="">
            <a:extLst xmlns:a="http://schemas.openxmlformats.org/drawingml/2006/main">
              <a:ext uri="{FF2B5EF4-FFF2-40B4-BE49-F238E27FC236}">
                <a16:creationId xmlns:a16="http://schemas.microsoft.com/office/drawing/2014/main" id="{00B70C52-4D63-4128-B582-90C40FD84419}"/>
              </a:ext>
            </a:extLst>
          </p:cNvPr>
          <p:cNvSpPr>
            <a:spLocks xmlns:a="http://schemas.openxmlformats.org/drawingml/2006/main" noGrp="1"/>
          </p:cNvSpPr>
          <p:nvPr/>
        </p:nvSpPr>
        <p:spPr>
          <a:xfrm xmlns:a="http://schemas.openxmlformats.org/drawingml/2006/main">
            <a:off x="666750" y="10953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42B42"/>
                </a:solidFill>
              </a:defRPr>
            </a:defPPr>
            <a:lvl1pPr>
              <a:defRPr sz="3000" b="1">
                <a:solidFill>
                  <a:srgbClr val="142B42"/>
                </a:solidFill>
              </a:defRPr>
            </a:lvl1pPr>
            <a:lvl2pPr>
              <a:defRPr sz="3000" b="1">
                <a:solidFill>
                  <a:srgbClr val="142B42"/>
                </a:solidFill>
              </a:defRPr>
            </a:lvl2pPr>
            <a:lvl3pPr>
              <a:defRPr sz="3000" b="1">
                <a:solidFill>
                  <a:srgbClr val="142B42"/>
                </a:solidFill>
              </a:defRPr>
            </a:lvl3pPr>
            <a:lvl4pPr>
              <a:defRPr sz="3000" b="1">
                <a:solidFill>
                  <a:srgbClr val="142B42"/>
                </a:solidFill>
              </a:defRPr>
            </a:lvl4pPr>
            <a:lvl5pPr>
              <a:defRPr sz="3000" b="1">
                <a:solidFill>
                  <a:srgbClr val="142B42"/>
                </a:solidFill>
              </a:defRPr>
            </a:lvl5pPr>
            <a:lvl6pPr>
              <a:defRPr sz="3000" b="1">
                <a:solidFill>
                  <a:srgbClr val="142B42"/>
                </a:solidFill>
              </a:defRPr>
            </a:lvl6pPr>
            <a:lvl7pPr>
              <a:defRPr sz="3000" b="1">
                <a:solidFill>
                  <a:srgbClr val="142B42"/>
                </a:solidFill>
              </a:defRPr>
            </a:lvl7pPr>
            <a:lvl8pPr>
              <a:defRPr sz="3000" b="1">
                <a:solidFill>
                  <a:srgbClr val="142B42"/>
                </a:solidFill>
              </a:defRPr>
            </a:lvl8pPr>
            <a:lvl9pPr>
              <a:defRPr sz="3000" b="1">
                <a:solidFill>
                  <a:srgbClr val="142B42"/>
                </a:solidFill>
              </a:defRPr>
            </a:lvl9pPr>
          </a:lstStyle>
          <a:p xmlns:a="http://schemas.openxmlformats.org/drawingml/2006/main">
            <a:pPr>
              <a:defRPr sz="3000" b="1">
                <a:solidFill>
                  <a:srgbClr val="142B42"/>
                </a:solidFill>
              </a:defRPr>
            </a:pPr>
            <a:r>
              <a:rPr sz="3000" b="1">
                <a:solidFill>
                  <a:srgbClr val="142B42"/>
                </a:solidFill>
              </a:rPr>
              <a:t>สรุปและคำถาม</a:t>
            </a:r>
          </a:p>
        </p:txBody>
      </p:sp>
      <p:sp>
        <p:nvSpPr>
          <p:cNvPr id="4" name="">
            <a:extLst xmlns:a="http://schemas.openxmlformats.org/drawingml/2006/main">
              <a:ext uri="{FF2B5EF4-FFF2-40B4-BE49-F238E27FC236}">
                <a16:creationId xmlns:a16="http://schemas.microsoft.com/office/drawing/2014/main" id="{E18258B5-05D9-498E-823C-12C4EB5F912E}"/>
              </a:ext>
            </a:extLst>
          </p:cNvPr>
          <p:cNvSpPr>
            <a:spLocks xmlns:a="http://schemas.openxmlformats.org/drawingml/2006/main" noGrp="1"/>
          </p:cNvSpPr>
          <p:nvPr/>
        </p:nvSpPr>
        <p:spPr>
          <a:xfrm xmlns:a="http://schemas.openxmlformats.org/drawingml/2006/main">
            <a:off x="714375" y="2238375"/>
            <a:ext cx="619125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94255"/>
                </a:solidFill>
              </a:defRPr>
            </a:defPPr>
            <a:lvl1pPr>
              <a:defRPr sz="1875" b="0">
                <a:solidFill>
                  <a:srgbClr val="294255"/>
                </a:solidFill>
              </a:defRPr>
            </a:lvl1pPr>
            <a:lvl2pPr>
              <a:defRPr sz="1875" b="0">
                <a:solidFill>
                  <a:srgbClr val="294255"/>
                </a:solidFill>
              </a:defRPr>
            </a:lvl2pPr>
            <a:lvl3pPr>
              <a:defRPr sz="1875" b="0">
                <a:solidFill>
                  <a:srgbClr val="294255"/>
                </a:solidFill>
              </a:defRPr>
            </a:lvl3pPr>
            <a:lvl4pPr>
              <a:defRPr sz="1875" b="0">
                <a:solidFill>
                  <a:srgbClr val="294255"/>
                </a:solidFill>
              </a:defRPr>
            </a:lvl4pPr>
            <a:lvl5pPr>
              <a:defRPr sz="1875" b="0">
                <a:solidFill>
                  <a:srgbClr val="294255"/>
                </a:solidFill>
              </a:defRPr>
            </a:lvl5pPr>
            <a:lvl6pPr>
              <a:defRPr sz="1875" b="0">
                <a:solidFill>
                  <a:srgbClr val="294255"/>
                </a:solidFill>
              </a:defRPr>
            </a:lvl6pPr>
            <a:lvl7pPr>
              <a:defRPr sz="1875" b="0">
                <a:solidFill>
                  <a:srgbClr val="294255"/>
                </a:solidFill>
              </a:defRPr>
            </a:lvl7pPr>
            <a:lvl8pPr>
              <a:defRPr sz="1875" b="0">
                <a:solidFill>
                  <a:srgbClr val="294255"/>
                </a:solidFill>
              </a:defRPr>
            </a:lvl8pPr>
            <a:lvl9pPr>
              <a:defRPr sz="1875" b="0">
                <a:solidFill>
                  <a:srgbClr val="294255"/>
                </a:solidFill>
              </a:defRPr>
            </a:lvl9pPr>
          </a:lstStyle>
          <a:p xmlns:a="http://schemas.openxmlformats.org/drawingml/2006/main">
            <a:pPr>
              <a:defRPr sz="1875" b="0">
                <a:solidFill>
                  <a:srgbClr val="294255"/>
                </a:solidFill>
              </a:defRPr>
            </a:pPr>
            <a:r>
              <a:rPr sz="1875" b="0">
                <a:solidFill>
                  <a:srgbClr val="294255"/>
                </a:solidFill>
              </a:rPr>
              <a:t>เอกสารองค์กรเป็นแหล่งความรู้</a:t>
            </a:r>
          </a:p>
          <a:p xmlns:a="http://schemas.openxmlformats.org/drawingml/2006/main">
            <a:pPr>
              <a:defRPr sz="1875" b="0">
                <a:solidFill>
                  <a:srgbClr val="294255"/>
                </a:solidFill>
              </a:defRPr>
            </a:pPr>
            <a:r>
              <a:t>RAG ช่วยค้นข้อมูลประกอบคำตอบ</a:t>
            </a:r>
          </a:p>
          <a:p xmlns:a="http://schemas.openxmlformats.org/drawingml/2006/main">
            <a:pPr>
              <a:defRPr sz="1875" b="0">
                <a:solidFill>
                  <a:srgbClr val="294255"/>
                </a:solidFill>
              </a:defRPr>
            </a:pPr>
            <a:r>
              <a:rPr sz="1875" b="0">
                <a:solidFill>
                  <a:srgbClr val="294255"/>
                </a:solidFill>
              </a:rPr>
              <a:t>Web และ LINE เป็นช่องทางใช้งาน</a:t>
            </a:r>
          </a:p>
          <a:p xmlns:a="http://schemas.openxmlformats.org/drawingml/2006/main">
            <a:pPr>
              <a:defRPr sz="1875" b="0">
                <a:solidFill>
                  <a:srgbClr val="294255"/>
                </a:solidFill>
              </a:defRPr>
            </a:pPr>
            <a:r>
              <a:t>เจ้าของบอทรับช่วงเมื่อผู้ใช้ต้องการ</a:t>
            </a:r>
          </a:p>
        </p:txBody>
      </p:sp>
      <p:sp>
        <p:nvSpPr>
          <p:cNvPr id="5" name="">
            <a:extLst xmlns:a="http://schemas.openxmlformats.org/drawingml/2006/main">
              <a:ext uri="{FF2B5EF4-FFF2-40B4-BE49-F238E27FC236}">
                <a16:creationId xmlns:a16="http://schemas.microsoft.com/office/drawing/2014/main" id="{F79C26B8-C4B2-4BA1-A8CE-8B08C422D195}"/>
              </a:ext>
            </a:extLst>
          </p:cNvPr>
          <p:cNvSpPr>
            <a:spLocks xmlns:a="http://schemas.openxmlformats.org/drawingml/2006/main" noGrp="1"/>
          </p:cNvSpPr>
          <p:nvPr/>
        </p:nvSpPr>
        <p:spPr>
          <a:xfrm xmlns:a="http://schemas.openxmlformats.org/drawingml/2006/main">
            <a:off x="7477125" y="2333625"/>
            <a:ext cx="3905250" cy="2381250"/>
          </a:xfrm>
          <a:prstGeom xmlns:a="http://schemas.openxmlformats.org/drawingml/2006/main" prst="rect">
            <a:avLst/>
          </a:prstGeom>
          <a:solidFill xmlns:a="http://schemas.openxmlformats.org/drawingml/2006/main">
            <a:srgbClr val="E7F2F5"/>
          </a:solidFill>
          <a:ln xmlns:a="http://schemas.openxmlformats.org/drawingml/2006/main" w="9525">
            <a:solidFill>
              <a:srgbClr val="B8D5DD"/>
            </a:solidFill>
          </a:ln>
        </p:spPr>
        <p:txBody>
          <a:bodyPr xmlns:a="http://schemas.openxmlformats.org/drawingml/2006/main"/>
          <a:lstStyle xmlns:a="http://schemas.openxmlformats.org/drawingml/2006/main">
            <a:defPPr>
              <a:defRPr sz="1650">
                <a:solidFill>
                  <a:srgbClr val="38616B"/>
                </a:solidFill>
              </a:defRPr>
            </a:defPPr>
            <a:lvl1pPr>
              <a:defRPr sz="1650">
                <a:solidFill>
                  <a:srgbClr val="38616B"/>
                </a:solidFill>
              </a:defRPr>
            </a:lvl1pPr>
            <a:lvl2pPr>
              <a:defRPr sz="1650">
                <a:solidFill>
                  <a:srgbClr val="38616B"/>
                </a:solidFill>
              </a:defRPr>
            </a:lvl2pPr>
            <a:lvl3pPr>
              <a:defRPr sz="1650">
                <a:solidFill>
                  <a:srgbClr val="38616B"/>
                </a:solidFill>
              </a:defRPr>
            </a:lvl3pPr>
            <a:lvl4pPr>
              <a:defRPr sz="1650">
                <a:solidFill>
                  <a:srgbClr val="38616B"/>
                </a:solidFill>
              </a:defRPr>
            </a:lvl4pPr>
            <a:lvl5pPr>
              <a:defRPr sz="1650">
                <a:solidFill>
                  <a:srgbClr val="38616B"/>
                </a:solidFill>
              </a:defRPr>
            </a:lvl5pPr>
            <a:lvl6pPr>
              <a:defRPr sz="1650">
                <a:solidFill>
                  <a:srgbClr val="38616B"/>
                </a:solidFill>
              </a:defRPr>
            </a:lvl6pPr>
            <a:lvl7pPr>
              <a:defRPr sz="1650">
                <a:solidFill>
                  <a:srgbClr val="38616B"/>
                </a:solidFill>
              </a:defRPr>
            </a:lvl7pPr>
            <a:lvl8pPr>
              <a:defRPr sz="1650">
                <a:solidFill>
                  <a:srgbClr val="38616B"/>
                </a:solidFill>
              </a:defRPr>
            </a:lvl8pPr>
            <a:lvl9pPr>
              <a:defRPr sz="1650">
                <a:solidFill>
                  <a:srgbClr val="38616B"/>
                </a:solidFill>
              </a:defRPr>
            </a:lvl9pPr>
          </a:lstStyle>
          <a:p xmlns:a="http://schemas.openxmlformats.org/drawingml/2006/main">
            <a:pPr>
              <a:defRPr sz="1650">
                <a:solidFill>
                  <a:srgbClr val="38616B"/>
                </a:solidFill>
              </a:defRPr>
            </a:pPr>
            <a:r>
              <a:rPr sz="1650">
                <a:solidFill>
                  <a:srgbClr val="38616B"/>
                </a:solidFill>
              </a:rPr>
              <a:t>ภาพที่แนะนำ</a:t>
            </a:r>
          </a:p>
          <a:p xmlns:a="http://schemas.openxmlformats.org/drawingml/2006/main">
            <a:pPr>
              <a:defRPr sz="1650">
                <a:solidFill>
                  <a:srgbClr val="38616B"/>
                </a:solidFill>
              </a:defRPr>
            </a:pPr>
            <a:r>
              <a:t/>
            </a:r>
          </a:p>
          <a:p xmlns:a="http://schemas.openxmlformats.org/drawingml/2006/main">
            <a:pPr>
              <a:defRPr sz="1650">
                <a:solidFill>
                  <a:srgbClr val="38616B"/>
                </a:solidFill>
              </a:defRPr>
            </a:pPr>
            <a:r>
              <a:rPr sz="1650">
                <a:solidFill>
                  <a:srgbClr val="38616B"/>
                </a:solidFill>
              </a:rPr>
              <a:t>โลโก้ ScopeBot หรือภาพทีม</a:t>
            </a:r>
          </a:p>
          <a:p xmlns:a="http://schemas.openxmlformats.org/drawingml/2006/main">
            <a:pPr>
              <a:defRPr sz="1650">
                <a:solidFill>
                  <a:srgbClr val="38616B"/>
                </a:solidFill>
              </a:defRPr>
            </a:pPr>
            <a:r>
              <a:rPr sz="1650">
                <a:solidFill>
                  <a:srgbClr val="38616B"/>
                </a:solidFill>
              </a:rPr>
              <a:t>วางด้านขวา เพิ่มชื่อสมาชิกจริงได้</a:t>
            </a:r>
          </a:p>
          <a:p xmlns:a="http://schemas.openxmlformats.org/drawingml/2006/main">
            <a:pPr>
              <a:defRPr sz="1650">
                <a:solidFill>
                  <a:srgbClr val="38616B"/>
                </a:solidFill>
              </a:defRPr>
            </a:pPr>
            <a:r>
              <a:rPr sz="1650">
                <a:solidFill>
                  <a:srgbClr val="38616B"/>
                </a:solidFill>
              </a:rPr>
              <a:t>ตรวจชื่อและช่องทางติดต่อก่อนเผยแพร่</a:t>
            </a:r>
          </a:p>
        </p:txBody>
      </p:sp>
    </p:spTree>
    <p:extLst>
      <p:ext uri="{BB962C8B-B14F-4D97-AF65-F5344CB8AC3E}">
        <p14:creationId xmlns:p14="http://schemas.microsoft.com/office/powerpoint/2010/main" val="1678469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2026-10-28T20:32:24.7940000Z</dcterms:created>
  <dcterms:modified xsi:type="dcterms:W3CDTF">2026-10-28T20:32:24.7940000Z</dcterms:modified>
</coreProperties>
</file>